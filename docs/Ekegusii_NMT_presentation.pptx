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8" d="100"/>
          <a:sy n="98" d="100"/>
        </p:scale>
        <p:origin x="82"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Stock NLLB-200</c:v>
                </c:pt>
              </c:strCache>
            </c:strRef>
          </c:tx>
          <c:spPr>
            <a:solidFill>
              <a:srgbClr val="C8CDD8"/>
            </a:solidFill>
            <a:effectLst/>
          </c:spPr>
          <c:invertIfNegative val="0"/>
          <c:dLbls>
            <c:numFmt formatCode="0.0" sourceLinked="0"/>
            <c:spPr>
              <a:noFill/>
              <a:ln>
                <a:noFill/>
              </a:ln>
              <a:effectLst/>
            </c:spPr>
            <c:txPr>
              <a:bodyPr/>
              <a:lstStyle/>
              <a:p>
                <a:pPr>
                  <a:defRPr sz="900" b="0" i="0" u="none" strike="noStrike">
                    <a:solidFill>
                      <a:srgbClr val="4B556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Real PSAs</c:v>
                </c:pt>
                <c:pt idx="1">
                  <c:v>Scripture</c:v>
                </c:pt>
                <c:pt idx="2">
                  <c:v>Everyday prose</c:v>
                </c:pt>
              </c:strCache>
            </c:strRef>
          </c:cat>
          <c:val>
            <c:numRef>
              <c:f>Sheet1!$B$2:$B$4</c:f>
              <c:numCache>
                <c:formatCode>General</c:formatCode>
                <c:ptCount val="3"/>
                <c:pt idx="0">
                  <c:v>14.56</c:v>
                </c:pt>
                <c:pt idx="1">
                  <c:v>14.88</c:v>
                </c:pt>
                <c:pt idx="2">
                  <c:v>11.41</c:v>
                </c:pt>
              </c:numCache>
            </c:numRef>
          </c:val>
          <c:extLst>
            <c:ext xmlns:c16="http://schemas.microsoft.com/office/drawing/2014/chart" uri="{C3380CC4-5D6E-409C-BE32-E72D297353CC}">
              <c16:uniqueId val="{00000000-8855-46B6-9323-B88522A8B0B0}"/>
            </c:ext>
          </c:extLst>
        </c:ser>
        <c:ser>
          <c:idx val="1"/>
          <c:order val="1"/>
          <c:tx>
            <c:strRef>
              <c:f>Sheet1!$C$1</c:f>
              <c:strCache>
                <c:ptCount val="1"/>
                <c:pt idx="0">
                  <c:v>Stage 1 (language only)</c:v>
                </c:pt>
              </c:strCache>
            </c:strRef>
          </c:tx>
          <c:spPr>
            <a:solidFill>
              <a:srgbClr val="9AA8D8"/>
            </a:solidFill>
            <a:effectLst/>
          </c:spPr>
          <c:invertIfNegative val="0"/>
          <c:dLbls>
            <c:numFmt formatCode="0.0" sourceLinked="0"/>
            <c:spPr>
              <a:noFill/>
              <a:ln>
                <a:noFill/>
              </a:ln>
              <a:effectLst/>
            </c:spPr>
            <c:txPr>
              <a:bodyPr/>
              <a:lstStyle/>
              <a:p>
                <a:pPr>
                  <a:defRPr sz="900" b="0" i="0" u="none" strike="noStrike">
                    <a:solidFill>
                      <a:srgbClr val="4B556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Real PSAs</c:v>
                </c:pt>
                <c:pt idx="1">
                  <c:v>Scripture</c:v>
                </c:pt>
                <c:pt idx="2">
                  <c:v>Everyday prose</c:v>
                </c:pt>
              </c:strCache>
            </c:strRef>
          </c:cat>
          <c:val>
            <c:numRef>
              <c:f>Sheet1!$C$2:$C$4</c:f>
              <c:numCache>
                <c:formatCode>General</c:formatCode>
                <c:ptCount val="3"/>
                <c:pt idx="0">
                  <c:v>23.96</c:v>
                </c:pt>
                <c:pt idx="1">
                  <c:v>49.66</c:v>
                </c:pt>
                <c:pt idx="2">
                  <c:v>28.97</c:v>
                </c:pt>
              </c:numCache>
            </c:numRef>
          </c:val>
          <c:extLst>
            <c:ext xmlns:c16="http://schemas.microsoft.com/office/drawing/2014/chart" uri="{C3380CC4-5D6E-409C-BE32-E72D297353CC}">
              <c16:uniqueId val="{00000001-8855-46B6-9323-B88522A8B0B0}"/>
            </c:ext>
          </c:extLst>
        </c:ser>
        <c:ser>
          <c:idx val="2"/>
          <c:order val="2"/>
          <c:tx>
            <c:strRef>
              <c:f>Sheet1!$D$1</c:f>
              <c:strCache>
                <c:ptCount val="1"/>
                <c:pt idx="0">
                  <c:v>Two-stage curriculum</c:v>
                </c:pt>
              </c:strCache>
            </c:strRef>
          </c:tx>
          <c:spPr>
            <a:solidFill>
              <a:srgbClr val="6C7FC4"/>
            </a:solidFill>
            <a:effectLst/>
          </c:spPr>
          <c:invertIfNegative val="0"/>
          <c:dLbls>
            <c:numFmt formatCode="0.0" sourceLinked="0"/>
            <c:spPr>
              <a:noFill/>
              <a:ln>
                <a:noFill/>
              </a:ln>
              <a:effectLst/>
            </c:spPr>
            <c:txPr>
              <a:bodyPr/>
              <a:lstStyle/>
              <a:p>
                <a:pPr>
                  <a:defRPr sz="900" b="0" i="0" u="none" strike="noStrike">
                    <a:solidFill>
                      <a:srgbClr val="4B556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Real PSAs</c:v>
                </c:pt>
                <c:pt idx="1">
                  <c:v>Scripture</c:v>
                </c:pt>
                <c:pt idx="2">
                  <c:v>Everyday prose</c:v>
                </c:pt>
              </c:strCache>
            </c:strRef>
          </c:cat>
          <c:val>
            <c:numRef>
              <c:f>Sheet1!$D$2:$D$4</c:f>
              <c:numCache>
                <c:formatCode>General</c:formatCode>
                <c:ptCount val="3"/>
                <c:pt idx="0">
                  <c:v>34.93</c:v>
                </c:pt>
                <c:pt idx="1">
                  <c:v>48.95</c:v>
                </c:pt>
                <c:pt idx="2">
                  <c:v>29.37</c:v>
                </c:pt>
              </c:numCache>
            </c:numRef>
          </c:val>
          <c:extLst>
            <c:ext xmlns:c16="http://schemas.microsoft.com/office/drawing/2014/chart" uri="{C3380CC4-5D6E-409C-BE32-E72D297353CC}">
              <c16:uniqueId val="{00000002-8855-46B6-9323-B88522A8B0B0}"/>
            </c:ext>
          </c:extLst>
        </c:ser>
        <c:ser>
          <c:idx val="3"/>
          <c:order val="3"/>
          <c:tx>
            <c:strRef>
              <c:f>Sheet1!$E$1</c:f>
              <c:strCache>
                <c:ptCount val="1"/>
                <c:pt idx="0">
                  <c:v>Single pass (released)</c:v>
                </c:pt>
              </c:strCache>
            </c:strRef>
          </c:tx>
          <c:spPr>
            <a:solidFill>
              <a:srgbClr val="293D94"/>
            </a:solidFill>
            <a:effectLst/>
          </c:spPr>
          <c:invertIfNegative val="0"/>
          <c:dLbls>
            <c:numFmt formatCode="0.0" sourceLinked="0"/>
            <c:spPr>
              <a:noFill/>
              <a:ln>
                <a:noFill/>
              </a:ln>
              <a:effectLst/>
            </c:spPr>
            <c:txPr>
              <a:bodyPr/>
              <a:lstStyle/>
              <a:p>
                <a:pPr>
                  <a:defRPr sz="900" b="0" i="0" u="none" strike="noStrike">
                    <a:solidFill>
                      <a:srgbClr val="4B556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Real PSAs</c:v>
                </c:pt>
                <c:pt idx="1">
                  <c:v>Scripture</c:v>
                </c:pt>
                <c:pt idx="2">
                  <c:v>Everyday prose</c:v>
                </c:pt>
              </c:strCache>
            </c:strRef>
          </c:cat>
          <c:val>
            <c:numRef>
              <c:f>Sheet1!$E$2:$E$4</c:f>
              <c:numCache>
                <c:formatCode>General</c:formatCode>
                <c:ptCount val="3"/>
                <c:pt idx="0">
                  <c:v>40.97</c:v>
                </c:pt>
                <c:pt idx="1">
                  <c:v>49.81</c:v>
                </c:pt>
                <c:pt idx="2">
                  <c:v>32.979999999999997</c:v>
                </c:pt>
              </c:numCache>
            </c:numRef>
          </c:val>
          <c:extLst>
            <c:ext xmlns:c16="http://schemas.microsoft.com/office/drawing/2014/chart" uri="{C3380CC4-5D6E-409C-BE32-E72D297353CC}">
              <c16:uniqueId val="{00000003-8855-46B6-9323-B88522A8B0B0}"/>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4B5563"/>
                </a:solidFill>
                <a:latin typeface="Arial"/>
              </a:defRPr>
            </a:pPr>
            <a:endParaRPr lang="en-US"/>
          </a:p>
        </c:txPr>
        <c:crossAx val="2094734552"/>
        <c:crosses val="autoZero"/>
        <c:auto val="1"/>
        <c:lblAlgn val="ctr"/>
        <c:lblOffset val="100"/>
        <c:noMultiLvlLbl val="1"/>
      </c:catAx>
      <c:valAx>
        <c:axId val="2094734552"/>
        <c:scaling>
          <c:orientation val="minMax"/>
          <c:max val="60"/>
          <c:min val="0"/>
        </c:scaling>
        <c:delete val="0"/>
        <c:axPos val="l"/>
        <c:majorGridlines>
          <c:spPr>
            <a:ln w="9525" cap="flat">
              <a:solidFill>
                <a:srgbClr val="DFE3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A919E"/>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Stock NLLB-200</c:v>
                </c:pt>
              </c:strCache>
            </c:strRef>
          </c:tx>
          <c:spPr>
            <a:solidFill>
              <a:srgbClr val="C8CDD8"/>
            </a:solidFill>
            <a:effectLst/>
          </c:spPr>
          <c:invertIfNegative val="0"/>
          <c:dLbls>
            <c:numFmt formatCode="0.0" sourceLinked="0"/>
            <c:spPr>
              <a:noFill/>
              <a:ln>
                <a:noFill/>
              </a:ln>
              <a:effectLst/>
            </c:spPr>
            <c:txPr>
              <a:bodyPr/>
              <a:lstStyle/>
              <a:p>
                <a:pPr>
                  <a:defRPr sz="900" b="0" i="0" u="none" strike="noStrike">
                    <a:solidFill>
                      <a:srgbClr val="4B556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Real PSAs</c:v>
                </c:pt>
                <c:pt idx="1">
                  <c:v>Scripture</c:v>
                </c:pt>
              </c:strCache>
            </c:strRef>
          </c:cat>
          <c:val>
            <c:numRef>
              <c:f>Sheet1!$B$2:$B$3</c:f>
              <c:numCache>
                <c:formatCode>General</c:formatCode>
                <c:ptCount val="2"/>
                <c:pt idx="0">
                  <c:v>14.13</c:v>
                </c:pt>
                <c:pt idx="1">
                  <c:v>14.65</c:v>
                </c:pt>
              </c:numCache>
            </c:numRef>
          </c:val>
          <c:extLst>
            <c:ext xmlns:c16="http://schemas.microsoft.com/office/drawing/2014/chart" uri="{C3380CC4-5D6E-409C-BE32-E72D297353CC}">
              <c16:uniqueId val="{00000000-5736-4C3B-B4A4-ADF84893408E}"/>
            </c:ext>
          </c:extLst>
        </c:ser>
        <c:ser>
          <c:idx val="1"/>
          <c:order val="1"/>
          <c:tx>
            <c:strRef>
              <c:f>Sheet1!$C$1</c:f>
              <c:strCache>
                <c:ptCount val="1"/>
                <c:pt idx="0">
                  <c:v>Stage 1 (language only)</c:v>
                </c:pt>
              </c:strCache>
            </c:strRef>
          </c:tx>
          <c:spPr>
            <a:solidFill>
              <a:srgbClr val="9AA8D8"/>
            </a:solidFill>
            <a:effectLst/>
          </c:spPr>
          <c:invertIfNegative val="0"/>
          <c:dLbls>
            <c:numFmt formatCode="0.0" sourceLinked="0"/>
            <c:spPr>
              <a:noFill/>
              <a:ln>
                <a:noFill/>
              </a:ln>
              <a:effectLst/>
            </c:spPr>
            <c:txPr>
              <a:bodyPr/>
              <a:lstStyle/>
              <a:p>
                <a:pPr>
                  <a:defRPr sz="900" b="0" i="0" u="none" strike="noStrike">
                    <a:solidFill>
                      <a:srgbClr val="4B556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Real PSAs</c:v>
                </c:pt>
                <c:pt idx="1">
                  <c:v>Scripture</c:v>
                </c:pt>
              </c:strCache>
            </c:strRef>
          </c:cat>
          <c:val>
            <c:numRef>
              <c:f>Sheet1!$C$2:$C$3</c:f>
              <c:numCache>
                <c:formatCode>General</c:formatCode>
                <c:ptCount val="2"/>
                <c:pt idx="0">
                  <c:v>24.49</c:v>
                </c:pt>
                <c:pt idx="1">
                  <c:v>49.11</c:v>
                </c:pt>
              </c:numCache>
            </c:numRef>
          </c:val>
          <c:extLst>
            <c:ext xmlns:c16="http://schemas.microsoft.com/office/drawing/2014/chart" uri="{C3380CC4-5D6E-409C-BE32-E72D297353CC}">
              <c16:uniqueId val="{00000001-5736-4C3B-B4A4-ADF84893408E}"/>
            </c:ext>
          </c:extLst>
        </c:ser>
        <c:ser>
          <c:idx val="2"/>
          <c:order val="2"/>
          <c:tx>
            <c:strRef>
              <c:f>Sheet1!$D$1</c:f>
              <c:strCache>
                <c:ptCount val="1"/>
                <c:pt idx="0">
                  <c:v>Two-stage curriculum</c:v>
                </c:pt>
              </c:strCache>
            </c:strRef>
          </c:tx>
          <c:spPr>
            <a:solidFill>
              <a:srgbClr val="6C7FC4"/>
            </a:solidFill>
            <a:effectLst/>
          </c:spPr>
          <c:invertIfNegative val="0"/>
          <c:dLbls>
            <c:numFmt formatCode="0.0" sourceLinked="0"/>
            <c:spPr>
              <a:noFill/>
              <a:ln>
                <a:noFill/>
              </a:ln>
              <a:effectLst/>
            </c:spPr>
            <c:txPr>
              <a:bodyPr/>
              <a:lstStyle/>
              <a:p>
                <a:pPr>
                  <a:defRPr sz="900" b="0" i="0" u="none" strike="noStrike">
                    <a:solidFill>
                      <a:srgbClr val="4B556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Real PSAs</c:v>
                </c:pt>
                <c:pt idx="1">
                  <c:v>Scripture</c:v>
                </c:pt>
              </c:strCache>
            </c:strRef>
          </c:cat>
          <c:val>
            <c:numRef>
              <c:f>Sheet1!$D$2:$D$3</c:f>
              <c:numCache>
                <c:formatCode>General</c:formatCode>
                <c:ptCount val="2"/>
                <c:pt idx="0">
                  <c:v>34.5</c:v>
                </c:pt>
                <c:pt idx="1">
                  <c:v>48.8</c:v>
                </c:pt>
              </c:numCache>
            </c:numRef>
          </c:val>
          <c:extLst>
            <c:ext xmlns:c16="http://schemas.microsoft.com/office/drawing/2014/chart" uri="{C3380CC4-5D6E-409C-BE32-E72D297353CC}">
              <c16:uniqueId val="{00000002-5736-4C3B-B4A4-ADF84893408E}"/>
            </c:ext>
          </c:extLst>
        </c:ser>
        <c:ser>
          <c:idx val="3"/>
          <c:order val="3"/>
          <c:tx>
            <c:strRef>
              <c:f>Sheet1!$E$1</c:f>
              <c:strCache>
                <c:ptCount val="1"/>
                <c:pt idx="0">
                  <c:v>Single pass (released)</c:v>
                </c:pt>
              </c:strCache>
            </c:strRef>
          </c:tx>
          <c:spPr>
            <a:solidFill>
              <a:srgbClr val="293D94"/>
            </a:solidFill>
            <a:effectLst/>
          </c:spPr>
          <c:invertIfNegative val="0"/>
          <c:dLbls>
            <c:numFmt formatCode="0.0" sourceLinked="0"/>
            <c:spPr>
              <a:noFill/>
              <a:ln>
                <a:noFill/>
              </a:ln>
              <a:effectLst/>
            </c:spPr>
            <c:txPr>
              <a:bodyPr/>
              <a:lstStyle/>
              <a:p>
                <a:pPr>
                  <a:defRPr sz="900" b="0" i="0" u="none" strike="noStrike">
                    <a:solidFill>
                      <a:srgbClr val="4B556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Real PSAs</c:v>
                </c:pt>
                <c:pt idx="1">
                  <c:v>Scripture</c:v>
                </c:pt>
              </c:strCache>
            </c:strRef>
          </c:cat>
          <c:val>
            <c:numRef>
              <c:f>Sheet1!$E$2:$E$3</c:f>
              <c:numCache>
                <c:formatCode>General</c:formatCode>
                <c:ptCount val="2"/>
                <c:pt idx="0">
                  <c:v>39.61</c:v>
                </c:pt>
                <c:pt idx="1">
                  <c:v>49.3</c:v>
                </c:pt>
              </c:numCache>
            </c:numRef>
          </c:val>
          <c:extLst>
            <c:ext xmlns:c16="http://schemas.microsoft.com/office/drawing/2014/chart" uri="{C3380CC4-5D6E-409C-BE32-E72D297353CC}">
              <c16:uniqueId val="{00000003-5736-4C3B-B4A4-ADF84893408E}"/>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4B5563"/>
                </a:solidFill>
                <a:latin typeface="Arial"/>
              </a:defRPr>
            </a:pPr>
            <a:endParaRPr lang="en-US"/>
          </a:p>
        </c:txPr>
        <c:crossAx val="2094734552"/>
        <c:crosses val="autoZero"/>
        <c:auto val="1"/>
        <c:lblAlgn val="ctr"/>
        <c:lblOffset val="100"/>
        <c:noMultiLvlLbl val="1"/>
      </c:catAx>
      <c:valAx>
        <c:axId val="2094734552"/>
        <c:scaling>
          <c:orientation val="minMax"/>
          <c:max val="60"/>
          <c:min val="0"/>
        </c:scaling>
        <c:delete val="0"/>
        <c:axPos val="l"/>
        <c:majorGridlines>
          <c:spPr>
            <a:ln w="9525" cap="flat">
              <a:solidFill>
                <a:srgbClr val="DFE3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A919E"/>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14461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Ekegusii, also called Kisii, is spoken by about 2.7 million people in south-western Kenya. NLLB-200 covers 200 languages and Ekegusii is not one of them. This project adds it and adapts the model to the register of public service announcements.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to land: this is not 'the translation is poor'. The language is absent from the model's vocabulary. Nothing can be generated at all until the vocabulary is extended.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4 is the one that produced the interesting result, and it is the one that did not go as planned.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how much data: 62,669 unique parallel sentence pairs. Not 80,000 - that figure counts the PSA data four times. Storybooks are in the repository but reached the corpus after training, so do not claim them.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slow down on. It is the honest statement of what the model cannot be expected to do well, and it was known before any GPU time was spent.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Kikuyu: it is the nearest Kenyan Bantu language in NLLB. Not the nearest genetically — Ekegusii is in a different subgroup — but the nearest available, and the honest framing is 'best available proxy'.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that all three runs share initialisation, data, hyperparameters and seed. Only the ordering differs.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the question 'why not BLEU'. The answer is morphology. Also mention COMET was not used because it has no Ekegusii coverage — its encoder has never seen the language, so its scores would be meaningless here.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GPU was shared. A large part of the engineering effort went into surviving that: waiting for memory, recovering from OOM, and checkpointing so an interrupted run was not a lost day.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within a panel, not across. The released model is the darkest bar and it is highest everywhere. Kiswahili has no everyday-prose column because the Lughayangu corpus is English-Ekegusii only - say that before someone asks.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this table aloud. It is here so the panel can check any number they want, and so the report can quote it. Point at the released column and move 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bury this. It is the most defensible finding in the project, because it is the one the experiment was designed to be able to disprove. The released model is the control.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about the Kiswahili direction: 39.61 released against 34.50 curriculum, same story.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human-evaluation gap out loud before anyone asks. The demo's correction form is the mechanism for closing it.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 demo already open in a browser tab before this slide. Do not start it live.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control point. It is the methodological contribution and the thing that distinguishes this from a fine-tuning exercise.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93D94"/>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40080" y="566928"/>
            <a:ext cx="1115568" cy="566928"/>
          </a:xfrm>
          <a:prstGeom prst="rect">
            <a:avLst/>
          </a:prstGeom>
        </p:spPr>
      </p:pic>
      <p:sp>
        <p:nvSpPr>
          <p:cNvPr id="3" name="Shape 0"/>
          <p:cNvSpPr/>
          <p:nvPr/>
        </p:nvSpPr>
        <p:spPr>
          <a:xfrm>
            <a:off x="640080" y="502920"/>
            <a:ext cx="1225296" cy="694944"/>
          </a:xfrm>
          <a:prstGeom prst="rect">
            <a:avLst/>
          </a:prstGeom>
          <a:solidFill>
            <a:srgbClr val="FFFFFF"/>
          </a:solidFill>
          <a:ln w="12700">
            <a:solidFill>
              <a:srgbClr val="FFFFFF"/>
            </a:solidFill>
            <a:prstDash val="solid"/>
          </a:ln>
        </p:spPr>
      </p:sp>
      <p:pic>
        <p:nvPicPr>
          <p:cNvPr id="4" name="Image 1" descr="preencoded.png"/>
          <p:cNvPicPr>
            <a:picLocks noChangeAspect="1"/>
          </p:cNvPicPr>
          <p:nvPr/>
        </p:nvPicPr>
        <p:blipFill>
          <a:blip r:embed="rId3"/>
          <a:stretch>
            <a:fillRect/>
          </a:stretch>
        </p:blipFill>
        <p:spPr>
          <a:xfrm>
            <a:off x="694944" y="566928"/>
            <a:ext cx="1115568" cy="566928"/>
          </a:xfrm>
          <a:prstGeom prst="rect">
            <a:avLst/>
          </a:prstGeom>
        </p:spPr>
      </p:pic>
      <p:sp>
        <p:nvSpPr>
          <p:cNvPr id="5" name="Text 1"/>
          <p:cNvSpPr/>
          <p:nvPr/>
        </p:nvSpPr>
        <p:spPr>
          <a:xfrm>
            <a:off x="640080" y="1783080"/>
            <a:ext cx="9692640" cy="1737360"/>
          </a:xfrm>
          <a:prstGeom prst="rect">
            <a:avLst/>
          </a:prstGeom>
          <a:noFill/>
          <a:ln/>
        </p:spPr>
        <p:txBody>
          <a:bodyPr wrap="square" lIns="0" tIns="0" rIns="0" bIns="0" rtlCol="0" anchor="ctr"/>
          <a:lstStyle/>
          <a:p>
            <a:pPr marL="0" indent="0">
              <a:lnSpc>
                <a:spcPct val="106000"/>
              </a:lnSpc>
              <a:buNone/>
            </a:pPr>
            <a:r>
              <a:rPr lang="en-US" sz="4000" b="1" dirty="0">
                <a:solidFill>
                  <a:srgbClr val="FFFFFF"/>
                </a:solidFill>
                <a:latin typeface="Cambria" pitchFamily="34" charset="0"/>
                <a:ea typeface="Cambria" pitchFamily="34" charset="-122"/>
                <a:cs typeface="Cambria" pitchFamily="34" charset="-120"/>
              </a:rPr>
              <a:t>Teaching a Translation Model a Language It Never Knew</a:t>
            </a:r>
            <a:endParaRPr lang="en-US" sz="4000" dirty="0"/>
          </a:p>
        </p:txBody>
      </p:sp>
      <p:sp>
        <p:nvSpPr>
          <p:cNvPr id="6" name="Text 2"/>
          <p:cNvSpPr/>
          <p:nvPr/>
        </p:nvSpPr>
        <p:spPr>
          <a:xfrm>
            <a:off x="640080" y="3611880"/>
            <a:ext cx="9326880" cy="731520"/>
          </a:xfrm>
          <a:prstGeom prst="rect">
            <a:avLst/>
          </a:prstGeom>
          <a:noFill/>
          <a:ln/>
        </p:spPr>
        <p:txBody>
          <a:bodyPr wrap="square" lIns="0" tIns="0" rIns="0" bIns="0" rtlCol="0" anchor="ctr"/>
          <a:lstStyle/>
          <a:p>
            <a:pPr marL="0" indent="0">
              <a:lnSpc>
                <a:spcPct val="110000"/>
              </a:lnSpc>
              <a:buNone/>
            </a:pPr>
            <a:r>
              <a:rPr lang="en-US" sz="1700" dirty="0">
                <a:solidFill>
                  <a:srgbClr val="C9D2F0"/>
                </a:solidFill>
                <a:latin typeface="Calibri" pitchFamily="34" charset="0"/>
                <a:ea typeface="Calibri" pitchFamily="34" charset="-122"/>
                <a:cs typeface="Calibri" pitchFamily="34" charset="-120"/>
              </a:rPr>
              <a:t>Fine-tuning NLLB-200 to add Ekegusii and adapt it to Kenyan public service announcements</a:t>
            </a:r>
            <a:endParaRPr lang="en-US" sz="1700" dirty="0"/>
          </a:p>
        </p:txBody>
      </p:sp>
      <p:sp>
        <p:nvSpPr>
          <p:cNvPr id="7" name="Shape 3"/>
          <p:cNvSpPr/>
          <p:nvPr/>
        </p:nvSpPr>
        <p:spPr>
          <a:xfrm>
            <a:off x="640080" y="4617720"/>
            <a:ext cx="1371600" cy="50292"/>
          </a:xfrm>
          <a:prstGeom prst="rect">
            <a:avLst/>
          </a:prstGeom>
          <a:solidFill>
            <a:srgbClr val="FFCA08"/>
          </a:solidFill>
          <a:ln w="12700">
            <a:solidFill>
              <a:srgbClr val="FFCA08"/>
            </a:solidFill>
            <a:prstDash val="solid"/>
          </a:ln>
        </p:spPr>
      </p:sp>
      <p:sp>
        <p:nvSpPr>
          <p:cNvPr id="8" name="Text 4"/>
          <p:cNvSpPr/>
          <p:nvPr/>
        </p:nvSpPr>
        <p:spPr>
          <a:xfrm>
            <a:off x="640080" y="4882896"/>
            <a:ext cx="10881360" cy="310896"/>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Weldesenbet Zeray  ·  Samuel Abrha  ·  Hetal Kumbharana  ·  Halima Mohammed  ·  Peter Kidiga  ·  Mitchelle Moraa</a:t>
            </a:r>
            <a:endParaRPr lang="en-US" sz="1350" dirty="0"/>
          </a:p>
        </p:txBody>
      </p:sp>
      <p:sp>
        <p:nvSpPr>
          <p:cNvPr id="9" name="Text 5"/>
          <p:cNvSpPr/>
          <p:nvPr/>
        </p:nvSpPr>
        <p:spPr>
          <a:xfrm>
            <a:off x="640080" y="5212080"/>
            <a:ext cx="10881360" cy="274320"/>
          </a:xfrm>
          <a:prstGeom prst="rect">
            <a:avLst/>
          </a:prstGeom>
          <a:noFill/>
          <a:ln/>
        </p:spPr>
        <p:txBody>
          <a:bodyPr wrap="square" lIns="0" tIns="0" rIns="0" bIns="0" rtlCol="0" anchor="ctr"/>
          <a:lstStyle/>
          <a:p>
            <a:pPr marL="0" indent="0">
              <a:buNone/>
            </a:pPr>
            <a:r>
              <a:rPr lang="en-US" sz="1300" dirty="0">
                <a:solidFill>
                  <a:srgbClr val="C9D2F0"/>
                </a:solidFill>
                <a:latin typeface="Calibri" pitchFamily="34" charset="0"/>
                <a:ea typeface="Calibri" pitchFamily="34" charset="-122"/>
                <a:cs typeface="Calibri" pitchFamily="34" charset="-120"/>
              </a:rPr>
              <a:t>Supervisor: Prof. Edward Ombui</a:t>
            </a:r>
            <a:endParaRPr lang="en-US" sz="1300" dirty="0"/>
          </a:p>
        </p:txBody>
      </p:sp>
      <p:sp>
        <p:nvSpPr>
          <p:cNvPr id="10" name="Text 6"/>
          <p:cNvSpPr/>
          <p:nvPr/>
        </p:nvSpPr>
        <p:spPr>
          <a:xfrm>
            <a:off x="640080" y="5504688"/>
            <a:ext cx="10881360" cy="274320"/>
          </a:xfrm>
          <a:prstGeom prst="rect">
            <a:avLst/>
          </a:prstGeom>
          <a:noFill/>
          <a:ln/>
        </p:spPr>
        <p:txBody>
          <a:bodyPr wrap="square" lIns="0" tIns="0" rIns="0" bIns="0" rtlCol="0" anchor="ctr"/>
          <a:lstStyle/>
          <a:p>
            <a:pPr marL="0" indent="0">
              <a:buNone/>
            </a:pPr>
            <a:r>
              <a:rPr lang="en-US" sz="1200" dirty="0">
                <a:solidFill>
                  <a:srgbClr val="9AA8D8"/>
                </a:solidFill>
                <a:latin typeface="Calibri" pitchFamily="34" charset="0"/>
                <a:ea typeface="Calibri" pitchFamily="34" charset="-122"/>
                <a:cs typeface="Calibri" pitchFamily="34" charset="-120"/>
              </a:rPr>
              <a:t>Natural Language Processing · School of Science and Technology ·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marL="0" indent="0">
              <a:buNone/>
            </a:pPr>
            <a:r>
              <a:rPr lang="en-US" sz="1200" b="1" kern="0" spc="240" dirty="0">
                <a:solidFill>
                  <a:srgbClr val="293D94"/>
                </a:solidFill>
                <a:latin typeface="Calibri" pitchFamily="34" charset="0"/>
                <a:ea typeface="Calibri" pitchFamily="34" charset="-122"/>
                <a:cs typeface="Calibri" pitchFamily="34" charset="-120"/>
              </a:rPr>
              <a:t>THE GAP</a:t>
            </a:r>
            <a:endParaRPr lang="en-US" sz="1200" dirty="0"/>
          </a:p>
        </p:txBody>
      </p:sp>
      <p:sp>
        <p:nvSpPr>
          <p:cNvPr id="3" name="Text 1"/>
          <p:cNvSpPr/>
          <p:nvPr/>
        </p:nvSpPr>
        <p:spPr>
          <a:xfrm>
            <a:off x="640080" y="658368"/>
            <a:ext cx="10881360" cy="658368"/>
          </a:xfrm>
          <a:prstGeom prst="rect">
            <a:avLst/>
          </a:prstGeom>
          <a:noFill/>
          <a:ln/>
        </p:spPr>
        <p:txBody>
          <a:bodyPr wrap="square" lIns="0" tIns="0" rIns="0" bIns="0" rtlCol="0" anchor="t"/>
          <a:lstStyle/>
          <a:p>
            <a:pPr marL="0" indent="0">
              <a:buNone/>
            </a:pPr>
            <a:r>
              <a:rPr lang="en-US" sz="3000" b="1" dirty="0">
                <a:solidFill>
                  <a:srgbClr val="16181D"/>
                </a:solidFill>
                <a:latin typeface="Cambria" pitchFamily="34" charset="0"/>
                <a:ea typeface="Cambria" pitchFamily="34" charset="-122"/>
                <a:cs typeface="Cambria" pitchFamily="34" charset="-120"/>
              </a:rPr>
              <a:t>A model for 200 languages, and Ekegusii is not one of them</a:t>
            </a:r>
            <a:endParaRPr lang="en-US" sz="3000" dirty="0"/>
          </a:p>
        </p:txBody>
      </p:sp>
      <p:sp>
        <p:nvSpPr>
          <p:cNvPr id="4" name="Text 2"/>
          <p:cNvSpPr/>
          <p:nvPr/>
        </p:nvSpPr>
        <p:spPr>
          <a:xfrm>
            <a:off x="640080" y="1691640"/>
            <a:ext cx="2743200" cy="658368"/>
          </a:xfrm>
          <a:prstGeom prst="rect">
            <a:avLst/>
          </a:prstGeom>
          <a:noFill/>
          <a:ln/>
        </p:spPr>
        <p:txBody>
          <a:bodyPr wrap="square" lIns="0" tIns="0" rIns="0" bIns="0" rtlCol="0" anchor="ctr"/>
          <a:lstStyle/>
          <a:p>
            <a:pPr marL="0" indent="0">
              <a:buNone/>
            </a:pPr>
            <a:r>
              <a:rPr lang="en-US" sz="4600" b="1" dirty="0">
                <a:solidFill>
                  <a:srgbClr val="293D94"/>
                </a:solidFill>
                <a:latin typeface="Calibri" pitchFamily="34" charset="0"/>
                <a:ea typeface="Calibri" pitchFamily="34" charset="-122"/>
                <a:cs typeface="Calibri" pitchFamily="34" charset="-120"/>
              </a:rPr>
              <a:t>200</a:t>
            </a:r>
            <a:endParaRPr lang="en-US" sz="4600" dirty="0"/>
          </a:p>
        </p:txBody>
      </p:sp>
      <p:sp>
        <p:nvSpPr>
          <p:cNvPr id="5" name="Text 3"/>
          <p:cNvSpPr/>
          <p:nvPr/>
        </p:nvSpPr>
        <p:spPr>
          <a:xfrm>
            <a:off x="640080" y="2313432"/>
            <a:ext cx="2743200" cy="457200"/>
          </a:xfrm>
          <a:prstGeom prst="rect">
            <a:avLst/>
          </a:prstGeom>
          <a:noFill/>
          <a:ln/>
        </p:spPr>
        <p:txBody>
          <a:bodyPr wrap="square" lIns="0" tIns="0" rIns="0" bIns="0" rtlCol="0" anchor="t"/>
          <a:lstStyle/>
          <a:p>
            <a:pPr marL="0" indent="0">
              <a:lnSpc>
                <a:spcPct val="105000"/>
              </a:lnSpc>
              <a:buNone/>
            </a:pPr>
            <a:r>
              <a:rPr lang="en-US" sz="1150" dirty="0">
                <a:solidFill>
                  <a:srgbClr val="4B5563"/>
                </a:solidFill>
                <a:latin typeface="Calibri" pitchFamily="34" charset="0"/>
                <a:ea typeface="Calibri" pitchFamily="34" charset="-122"/>
                <a:cs typeface="Calibri" pitchFamily="34" charset="-120"/>
              </a:rPr>
              <a:t>languages supported by NLLB-200</a:t>
            </a:r>
            <a:endParaRPr lang="en-US" sz="1150" dirty="0"/>
          </a:p>
        </p:txBody>
      </p:sp>
      <p:sp>
        <p:nvSpPr>
          <p:cNvPr id="6" name="Text 4"/>
          <p:cNvSpPr/>
          <p:nvPr/>
        </p:nvSpPr>
        <p:spPr>
          <a:xfrm>
            <a:off x="3749040" y="1691640"/>
            <a:ext cx="2743200" cy="658368"/>
          </a:xfrm>
          <a:prstGeom prst="rect">
            <a:avLst/>
          </a:prstGeom>
          <a:noFill/>
          <a:ln/>
        </p:spPr>
        <p:txBody>
          <a:bodyPr wrap="square" lIns="0" tIns="0" rIns="0" bIns="0" rtlCol="0" anchor="ctr"/>
          <a:lstStyle/>
          <a:p>
            <a:pPr marL="0" indent="0">
              <a:buNone/>
            </a:pPr>
            <a:r>
              <a:rPr lang="en-US" sz="4600" b="1" dirty="0">
                <a:solidFill>
                  <a:srgbClr val="B23B3A"/>
                </a:solidFill>
                <a:latin typeface="Calibri" pitchFamily="34" charset="0"/>
                <a:ea typeface="Calibri" pitchFamily="34" charset="-122"/>
                <a:cs typeface="Calibri" pitchFamily="34" charset="-120"/>
              </a:rPr>
              <a:t>0</a:t>
            </a:r>
            <a:endParaRPr lang="en-US" sz="4600" dirty="0"/>
          </a:p>
        </p:txBody>
      </p:sp>
      <p:sp>
        <p:nvSpPr>
          <p:cNvPr id="7" name="Text 5"/>
          <p:cNvSpPr/>
          <p:nvPr/>
        </p:nvSpPr>
        <p:spPr>
          <a:xfrm>
            <a:off x="3749040" y="2313432"/>
            <a:ext cx="2743200" cy="457200"/>
          </a:xfrm>
          <a:prstGeom prst="rect">
            <a:avLst/>
          </a:prstGeom>
          <a:noFill/>
          <a:ln/>
        </p:spPr>
        <p:txBody>
          <a:bodyPr wrap="square" lIns="0" tIns="0" rIns="0" bIns="0" rtlCol="0" anchor="t"/>
          <a:lstStyle/>
          <a:p>
            <a:pPr marL="0" indent="0">
              <a:lnSpc>
                <a:spcPct val="105000"/>
              </a:lnSpc>
              <a:buNone/>
            </a:pPr>
            <a:r>
              <a:rPr lang="en-US" sz="1150" dirty="0">
                <a:solidFill>
                  <a:srgbClr val="4B5563"/>
                </a:solidFill>
                <a:latin typeface="Calibri" pitchFamily="34" charset="0"/>
                <a:ea typeface="Calibri" pitchFamily="34" charset="-122"/>
                <a:cs typeface="Calibri" pitchFamily="34" charset="-120"/>
              </a:rPr>
              <a:t>of them are Ekegusii</a:t>
            </a:r>
            <a:endParaRPr lang="en-US" sz="1150" dirty="0"/>
          </a:p>
        </p:txBody>
      </p:sp>
      <p:sp>
        <p:nvSpPr>
          <p:cNvPr id="8" name="Text 6"/>
          <p:cNvSpPr/>
          <p:nvPr/>
        </p:nvSpPr>
        <p:spPr>
          <a:xfrm>
            <a:off x="6858000" y="1691640"/>
            <a:ext cx="3291840" cy="658368"/>
          </a:xfrm>
          <a:prstGeom prst="rect">
            <a:avLst/>
          </a:prstGeom>
          <a:noFill/>
          <a:ln/>
        </p:spPr>
        <p:txBody>
          <a:bodyPr wrap="square" lIns="0" tIns="0" rIns="0" bIns="0" rtlCol="0" anchor="ctr"/>
          <a:lstStyle/>
          <a:p>
            <a:pPr marL="0" indent="0">
              <a:buNone/>
            </a:pPr>
            <a:r>
              <a:rPr lang="en-US" sz="4600" b="1" dirty="0">
                <a:solidFill>
                  <a:srgbClr val="293D94"/>
                </a:solidFill>
                <a:latin typeface="Calibri" pitchFamily="34" charset="0"/>
                <a:ea typeface="Calibri" pitchFamily="34" charset="-122"/>
                <a:cs typeface="Calibri" pitchFamily="34" charset="-120"/>
              </a:rPr>
              <a:t>2.7</a:t>
            </a:r>
            <a:r>
              <a:rPr lang="en-US" sz="1700" b="1" dirty="0">
                <a:solidFill>
                  <a:srgbClr val="293D94"/>
                </a:solidFill>
                <a:latin typeface="Calibri" pitchFamily="34" charset="0"/>
                <a:ea typeface="Calibri" pitchFamily="34" charset="-122"/>
                <a:cs typeface="Calibri" pitchFamily="34" charset="-120"/>
              </a:rPr>
              <a:t> million</a:t>
            </a:r>
            <a:endParaRPr lang="en-US" sz="4600" dirty="0"/>
          </a:p>
        </p:txBody>
      </p:sp>
      <p:sp>
        <p:nvSpPr>
          <p:cNvPr id="9" name="Text 7"/>
          <p:cNvSpPr/>
          <p:nvPr/>
        </p:nvSpPr>
        <p:spPr>
          <a:xfrm>
            <a:off x="6858000" y="2313432"/>
            <a:ext cx="3291840" cy="457200"/>
          </a:xfrm>
          <a:prstGeom prst="rect">
            <a:avLst/>
          </a:prstGeom>
          <a:noFill/>
          <a:ln/>
        </p:spPr>
        <p:txBody>
          <a:bodyPr wrap="square" lIns="0" tIns="0" rIns="0" bIns="0" rtlCol="0" anchor="t"/>
          <a:lstStyle/>
          <a:p>
            <a:pPr marL="0" indent="0">
              <a:lnSpc>
                <a:spcPct val="105000"/>
              </a:lnSpc>
              <a:buNone/>
            </a:pPr>
            <a:r>
              <a:rPr lang="en-US" sz="1150" dirty="0">
                <a:solidFill>
                  <a:srgbClr val="4B5563"/>
                </a:solidFill>
                <a:latin typeface="Calibri" pitchFamily="34" charset="0"/>
                <a:ea typeface="Calibri" pitchFamily="34" charset="-122"/>
                <a:cs typeface="Calibri" pitchFamily="34" charset="-120"/>
              </a:rPr>
              <a:t>Ekegusii speakers in Kenya</a:t>
            </a:r>
            <a:endParaRPr lang="en-US" sz="1150" dirty="0"/>
          </a:p>
        </p:txBody>
      </p:sp>
      <p:sp>
        <p:nvSpPr>
          <p:cNvPr id="10" name="Shape 8"/>
          <p:cNvSpPr/>
          <p:nvPr/>
        </p:nvSpPr>
        <p:spPr>
          <a:xfrm>
            <a:off x="640080" y="3200400"/>
            <a:ext cx="10881360" cy="1143000"/>
          </a:xfrm>
          <a:prstGeom prst="roundRect">
            <a:avLst>
              <a:gd name="adj" fmla="val 7200"/>
            </a:avLst>
          </a:prstGeom>
          <a:solidFill>
            <a:srgbClr val="F1F3F9"/>
          </a:solidFill>
          <a:ln w="12700">
            <a:solidFill>
              <a:srgbClr val="F1F3F9"/>
            </a:solidFill>
            <a:prstDash val="solid"/>
          </a:ln>
        </p:spPr>
      </p:sp>
      <p:sp>
        <p:nvSpPr>
          <p:cNvPr id="11" name="Shape 9"/>
          <p:cNvSpPr/>
          <p:nvPr/>
        </p:nvSpPr>
        <p:spPr>
          <a:xfrm>
            <a:off x="877824" y="3438144"/>
            <a:ext cx="402336" cy="402336"/>
          </a:xfrm>
          <a:prstGeom prst="ellipse">
            <a:avLst/>
          </a:prstGeom>
          <a:solidFill>
            <a:srgbClr val="FFCA08"/>
          </a:solidFill>
          <a:ln w="12700">
            <a:solidFill>
              <a:srgbClr val="FFCA08"/>
            </a:solidFill>
            <a:prstDash val="solid"/>
          </a:ln>
        </p:spPr>
      </p:sp>
      <p:sp>
        <p:nvSpPr>
          <p:cNvPr id="12" name="Text 10"/>
          <p:cNvSpPr/>
          <p:nvPr/>
        </p:nvSpPr>
        <p:spPr>
          <a:xfrm>
            <a:off x="877824" y="3438144"/>
            <a:ext cx="402336" cy="402336"/>
          </a:xfrm>
          <a:prstGeom prst="rect">
            <a:avLst/>
          </a:prstGeom>
          <a:noFill/>
          <a:ln/>
        </p:spPr>
        <p:txBody>
          <a:bodyPr wrap="square" lIns="0" tIns="0" rIns="0" bIns="0" rtlCol="0" anchor="ctr"/>
          <a:lstStyle/>
          <a:p>
            <a:pPr marL="0" indent="0" algn="ctr">
              <a:buNone/>
            </a:pPr>
            <a:r>
              <a:rPr lang="en-US" sz="1300" b="1" dirty="0">
                <a:solidFill>
                  <a:srgbClr val="16181D"/>
                </a:solidFill>
                <a:latin typeface="Calibri" pitchFamily="34" charset="0"/>
                <a:ea typeface="Calibri" pitchFamily="34" charset="-122"/>
                <a:cs typeface="Calibri" pitchFamily="34" charset="-120"/>
              </a:rPr>
              <a:t>!</a:t>
            </a:r>
            <a:endParaRPr lang="en-US" sz="1300" dirty="0"/>
          </a:p>
        </p:txBody>
      </p:sp>
      <p:sp>
        <p:nvSpPr>
          <p:cNvPr id="13" name="Text 11"/>
          <p:cNvSpPr/>
          <p:nvPr/>
        </p:nvSpPr>
        <p:spPr>
          <a:xfrm>
            <a:off x="1426464" y="3419856"/>
            <a:ext cx="9820656" cy="292608"/>
          </a:xfrm>
          <a:prstGeom prst="rect">
            <a:avLst/>
          </a:prstGeom>
          <a:noFill/>
          <a:ln/>
        </p:spPr>
        <p:txBody>
          <a:bodyPr wrap="square" lIns="0" tIns="0" rIns="0" bIns="0" rtlCol="0" anchor="ctr"/>
          <a:lstStyle/>
          <a:p>
            <a:pPr marL="0" indent="0">
              <a:buNone/>
            </a:pPr>
            <a:r>
              <a:rPr lang="en-US" sz="1500" b="1" dirty="0">
                <a:solidFill>
                  <a:srgbClr val="16181D"/>
                </a:solidFill>
                <a:latin typeface="Calibri" pitchFamily="34" charset="0"/>
                <a:ea typeface="Calibri" pitchFamily="34" charset="-122"/>
                <a:cs typeface="Calibri" pitchFamily="34" charset="-120"/>
              </a:rPr>
              <a:t>This is not a quality problem: it is an absence</a:t>
            </a:r>
            <a:endParaRPr lang="en-US" sz="1500" dirty="0"/>
          </a:p>
        </p:txBody>
      </p:sp>
      <p:sp>
        <p:nvSpPr>
          <p:cNvPr id="14" name="Text 12"/>
          <p:cNvSpPr/>
          <p:nvPr/>
        </p:nvSpPr>
        <p:spPr>
          <a:xfrm>
            <a:off x="1426464" y="3749040"/>
            <a:ext cx="9820656" cy="393192"/>
          </a:xfrm>
          <a:prstGeom prst="rect">
            <a:avLst/>
          </a:prstGeom>
          <a:noFill/>
          <a:ln/>
        </p:spPr>
        <p:txBody>
          <a:bodyPr wrap="square" lIns="0" tIns="0" rIns="0" bIns="0" rtlCol="0" anchor="t"/>
          <a:lstStyle/>
          <a:p>
            <a:pPr marL="0" indent="0">
              <a:lnSpc>
                <a:spcPct val="112000"/>
              </a:lnSpc>
              <a:buNone/>
            </a:pPr>
            <a:r>
              <a:rPr lang="en-US" sz="1250" dirty="0">
                <a:solidFill>
                  <a:srgbClr val="4B5563"/>
                </a:solidFill>
                <a:latin typeface="Calibri" pitchFamily="34" charset="0"/>
                <a:ea typeface="Calibri" pitchFamily="34" charset="-122"/>
                <a:cs typeface="Calibri" pitchFamily="34" charset="-120"/>
              </a:rPr>
              <a:t>The model has no token for Ekegusii, so it cannot be asked for it at all. Ask NLLB for the nearest language it does know, Kikuyu, and you score 14.6 chrF2++, the floor this project has to beat.</a:t>
            </a:r>
            <a:endParaRPr lang="en-US" sz="1250" dirty="0"/>
          </a:p>
        </p:txBody>
      </p:sp>
      <p:sp>
        <p:nvSpPr>
          <p:cNvPr id="15" name="Shape 13"/>
          <p:cNvSpPr/>
          <p:nvPr/>
        </p:nvSpPr>
        <p:spPr>
          <a:xfrm>
            <a:off x="640080" y="4572000"/>
            <a:ext cx="10881360" cy="1325880"/>
          </a:xfrm>
          <a:prstGeom prst="roundRect">
            <a:avLst>
              <a:gd name="adj" fmla="val 6207"/>
            </a:avLst>
          </a:prstGeom>
          <a:solidFill>
            <a:srgbClr val="FFF7DE"/>
          </a:solidFill>
          <a:ln w="12700">
            <a:solidFill>
              <a:srgbClr val="FFF7DE"/>
            </a:solidFill>
            <a:prstDash val="solid"/>
          </a:ln>
        </p:spPr>
      </p:sp>
      <p:sp>
        <p:nvSpPr>
          <p:cNvPr id="16" name="Text 14"/>
          <p:cNvSpPr/>
          <p:nvPr/>
        </p:nvSpPr>
        <p:spPr>
          <a:xfrm>
            <a:off x="914400" y="4791456"/>
            <a:ext cx="10332720" cy="292608"/>
          </a:xfrm>
          <a:prstGeom prst="rect">
            <a:avLst/>
          </a:prstGeom>
          <a:noFill/>
          <a:ln/>
        </p:spPr>
        <p:txBody>
          <a:bodyPr wrap="square" lIns="0" tIns="0" rIns="0" bIns="0" rtlCol="0" anchor="ctr"/>
          <a:lstStyle/>
          <a:p>
            <a:pPr marL="0" indent="0">
              <a:buNone/>
            </a:pPr>
            <a:r>
              <a:rPr lang="en-US" sz="1500" b="1" dirty="0">
                <a:solidFill>
                  <a:srgbClr val="16181D"/>
                </a:solidFill>
                <a:latin typeface="Calibri" pitchFamily="34" charset="0"/>
                <a:ea typeface="Calibri" pitchFamily="34" charset="-122"/>
                <a:cs typeface="Calibri" pitchFamily="34" charset="-120"/>
              </a:rPr>
              <a:t>Why public service announcements</a:t>
            </a:r>
            <a:endParaRPr lang="en-US" sz="1500" dirty="0"/>
          </a:p>
        </p:txBody>
      </p:sp>
      <p:sp>
        <p:nvSpPr>
          <p:cNvPr id="17" name="Text 15"/>
          <p:cNvSpPr/>
          <p:nvPr/>
        </p:nvSpPr>
        <p:spPr>
          <a:xfrm>
            <a:off x="914400" y="5120640"/>
            <a:ext cx="10332720" cy="576072"/>
          </a:xfrm>
          <a:prstGeom prst="rect">
            <a:avLst/>
          </a:prstGeom>
          <a:noFill/>
          <a:ln/>
        </p:spPr>
        <p:txBody>
          <a:bodyPr wrap="square" lIns="0" tIns="0" rIns="0" bIns="0" rtlCol="0" anchor="t"/>
          <a:lstStyle/>
          <a:p>
            <a:pPr marL="0" indent="0">
              <a:lnSpc>
                <a:spcPct val="112000"/>
              </a:lnSpc>
              <a:buNone/>
            </a:pPr>
            <a:r>
              <a:rPr lang="en-US" sz="1250" dirty="0">
                <a:solidFill>
                  <a:srgbClr val="4B5563"/>
                </a:solidFill>
                <a:latin typeface="Calibri" pitchFamily="34" charset="0"/>
                <a:ea typeface="Calibri" pitchFamily="34" charset="-122"/>
                <a:cs typeface="Calibri" pitchFamily="34" charset="-120"/>
              </a:rPr>
              <a:t>Cholera advisories, HELB loan deadlines, KRA filing dates, NTSA road-safety notices. These are issued in English and Kiswahili. A Kenyan who reads Ekegusii most comfortably receives health and legal information in a second or third language, or not at all.</a:t>
            </a:r>
            <a:endParaRPr lang="en-US" sz="1250" dirty="0"/>
          </a:p>
        </p:txBody>
      </p:sp>
      <p:sp>
        <p:nvSpPr>
          <p:cNvPr id="18" name="Text 16"/>
          <p:cNvSpPr/>
          <p:nvPr/>
        </p:nvSpPr>
        <p:spPr>
          <a:xfrm>
            <a:off x="640080" y="6419088"/>
            <a:ext cx="5486400" cy="256032"/>
          </a:xfrm>
          <a:prstGeom prst="rect">
            <a:avLst/>
          </a:prstGeom>
          <a:noFill/>
          <a:ln/>
        </p:spPr>
        <p:txBody>
          <a:bodyPr wrap="square" lIns="0" tIns="0" rIns="0" bIns="0" rtlCol="0" anchor="ctr"/>
          <a:lstStyle/>
          <a:p>
            <a:pPr marL="0" indent="0">
              <a:buNone/>
            </a:pPr>
            <a:r>
              <a:rPr lang="en-US" sz="950" dirty="0">
                <a:solidFill>
                  <a:srgbClr val="8A919E"/>
                </a:solidFill>
                <a:latin typeface="Calibri" pitchFamily="34" charset="0"/>
                <a:ea typeface="Calibri" pitchFamily="34" charset="-122"/>
                <a:cs typeface="Calibri" pitchFamily="34" charset="-120"/>
              </a:rPr>
              <a:t>Ekegusii NMT · USIU-Africa · 2026</a:t>
            </a:r>
            <a:endParaRPr lang="en-US" sz="950" dirty="0"/>
          </a:p>
        </p:txBody>
      </p:sp>
      <p:sp>
        <p:nvSpPr>
          <p:cNvPr id="19" name="Text 17"/>
          <p:cNvSpPr/>
          <p:nvPr/>
        </p:nvSpPr>
        <p:spPr>
          <a:xfrm>
            <a:off x="10972800" y="6419088"/>
            <a:ext cx="548640" cy="256032"/>
          </a:xfrm>
          <a:prstGeom prst="rect">
            <a:avLst/>
          </a:prstGeom>
          <a:noFill/>
          <a:ln/>
        </p:spPr>
        <p:txBody>
          <a:bodyPr wrap="square" lIns="0" tIns="0" rIns="0" bIns="0" rtlCol="0" anchor="ctr"/>
          <a:lstStyle/>
          <a:p>
            <a:pPr marL="0" indent="0" algn="r">
              <a:buNone/>
            </a:pPr>
            <a:r>
              <a:rPr lang="en-US" sz="950" dirty="0">
                <a:solidFill>
                  <a:srgbClr val="8A919E"/>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marL="0" indent="0">
              <a:buNone/>
            </a:pPr>
            <a:r>
              <a:rPr lang="en-US" sz="1200" b="1" kern="0" spc="240" dirty="0">
                <a:solidFill>
                  <a:srgbClr val="293D94"/>
                </a:solidFill>
                <a:latin typeface="Calibri" pitchFamily="34" charset="0"/>
                <a:ea typeface="Calibri" pitchFamily="34" charset="-122"/>
                <a:cs typeface="Calibri" pitchFamily="34" charset="-120"/>
              </a:rPr>
              <a:t>OBJECTIVES</a:t>
            </a:r>
            <a:endParaRPr lang="en-US" sz="1200" dirty="0"/>
          </a:p>
        </p:txBody>
      </p:sp>
      <p:sp>
        <p:nvSpPr>
          <p:cNvPr id="3" name="Text 1"/>
          <p:cNvSpPr/>
          <p:nvPr/>
        </p:nvSpPr>
        <p:spPr>
          <a:xfrm>
            <a:off x="640080" y="658368"/>
            <a:ext cx="10881360" cy="658368"/>
          </a:xfrm>
          <a:prstGeom prst="rect">
            <a:avLst/>
          </a:prstGeom>
          <a:noFill/>
          <a:ln/>
        </p:spPr>
        <p:txBody>
          <a:bodyPr wrap="square" lIns="0" tIns="0" rIns="0" bIns="0" rtlCol="0" anchor="t"/>
          <a:lstStyle/>
          <a:p>
            <a:pPr marL="0" indent="0">
              <a:buNone/>
            </a:pPr>
            <a:r>
              <a:rPr lang="en-US" sz="3000" b="1" dirty="0">
                <a:solidFill>
                  <a:srgbClr val="16181D"/>
                </a:solidFill>
                <a:latin typeface="Cambria" pitchFamily="34" charset="0"/>
                <a:ea typeface="Cambria" pitchFamily="34" charset="-122"/>
                <a:cs typeface="Cambria" pitchFamily="34" charset="-120"/>
              </a:rPr>
              <a:t>What the project set out to do</a:t>
            </a:r>
            <a:endParaRPr lang="en-US" sz="3000" dirty="0"/>
          </a:p>
        </p:txBody>
      </p:sp>
      <p:sp>
        <p:nvSpPr>
          <p:cNvPr id="4" name="Shape 2"/>
          <p:cNvSpPr/>
          <p:nvPr/>
        </p:nvSpPr>
        <p:spPr>
          <a:xfrm>
            <a:off x="640080" y="1691640"/>
            <a:ext cx="5303520" cy="1298448"/>
          </a:xfrm>
          <a:prstGeom prst="roundRect">
            <a:avLst>
              <a:gd name="adj" fmla="val 6338"/>
            </a:avLst>
          </a:prstGeom>
          <a:solidFill>
            <a:srgbClr val="F1F3F9"/>
          </a:solidFill>
          <a:ln w="12700">
            <a:solidFill>
              <a:srgbClr val="F1F3F9"/>
            </a:solidFill>
            <a:prstDash val="solid"/>
          </a:ln>
        </p:spPr>
      </p:sp>
      <p:sp>
        <p:nvSpPr>
          <p:cNvPr id="5" name="Shape 3"/>
          <p:cNvSpPr/>
          <p:nvPr/>
        </p:nvSpPr>
        <p:spPr>
          <a:xfrm>
            <a:off x="877824" y="1929384"/>
            <a:ext cx="402336" cy="402336"/>
          </a:xfrm>
          <a:prstGeom prst="ellipse">
            <a:avLst/>
          </a:prstGeom>
          <a:solidFill>
            <a:srgbClr val="293D94"/>
          </a:solidFill>
          <a:ln w="12700">
            <a:solidFill>
              <a:srgbClr val="293D94"/>
            </a:solidFill>
            <a:prstDash val="solid"/>
          </a:ln>
        </p:spPr>
      </p:sp>
      <p:sp>
        <p:nvSpPr>
          <p:cNvPr id="6" name="Text 4"/>
          <p:cNvSpPr/>
          <p:nvPr/>
        </p:nvSpPr>
        <p:spPr>
          <a:xfrm>
            <a:off x="877824" y="1929384"/>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426464" y="1911096"/>
            <a:ext cx="4242816" cy="292608"/>
          </a:xfrm>
          <a:prstGeom prst="rect">
            <a:avLst/>
          </a:prstGeom>
          <a:noFill/>
          <a:ln/>
        </p:spPr>
        <p:txBody>
          <a:bodyPr wrap="square" lIns="0" tIns="0" rIns="0" bIns="0" rtlCol="0" anchor="ctr"/>
          <a:lstStyle/>
          <a:p>
            <a:pPr marL="0" indent="0">
              <a:buNone/>
            </a:pPr>
            <a:r>
              <a:rPr lang="en-US" sz="1500" b="1" dirty="0">
                <a:solidFill>
                  <a:srgbClr val="16181D"/>
                </a:solidFill>
                <a:latin typeface="Calibri" pitchFamily="34" charset="0"/>
                <a:ea typeface="Calibri" pitchFamily="34" charset="-122"/>
                <a:cs typeface="Calibri" pitchFamily="34" charset="-120"/>
              </a:rPr>
              <a:t>Add Ekegusii by transfer learning</a:t>
            </a:r>
            <a:endParaRPr lang="en-US" sz="1500" dirty="0"/>
          </a:p>
        </p:txBody>
      </p:sp>
      <p:sp>
        <p:nvSpPr>
          <p:cNvPr id="8" name="Text 6"/>
          <p:cNvSpPr/>
          <p:nvPr/>
        </p:nvSpPr>
        <p:spPr>
          <a:xfrm>
            <a:off x="1426464" y="2240280"/>
            <a:ext cx="4242816" cy="548640"/>
          </a:xfrm>
          <a:prstGeom prst="rect">
            <a:avLst/>
          </a:prstGeom>
          <a:noFill/>
          <a:ln/>
        </p:spPr>
        <p:txBody>
          <a:bodyPr wrap="square" lIns="0" tIns="0" rIns="0" bIns="0" rtlCol="0" anchor="t"/>
          <a:lstStyle/>
          <a:p>
            <a:pPr marL="0" indent="0">
              <a:lnSpc>
                <a:spcPct val="112000"/>
              </a:lnSpc>
              <a:buNone/>
            </a:pPr>
            <a:r>
              <a:rPr lang="en-US" sz="1250" dirty="0">
                <a:solidFill>
                  <a:srgbClr val="4B5563"/>
                </a:solidFill>
                <a:latin typeface="Calibri" pitchFamily="34" charset="0"/>
                <a:ea typeface="Calibri" pitchFamily="34" charset="-122"/>
                <a:cs typeface="Calibri" pitchFamily="34" charset="-120"/>
              </a:rPr>
              <a:t>Extend the tokenizer with guz_Latn and transfer what NLLB already knows about related Bantu languages into it, rather than initialising from noise.</a:t>
            </a:r>
            <a:endParaRPr lang="en-US" sz="1250" dirty="0"/>
          </a:p>
        </p:txBody>
      </p:sp>
      <p:sp>
        <p:nvSpPr>
          <p:cNvPr id="9" name="Shape 7"/>
          <p:cNvSpPr/>
          <p:nvPr/>
        </p:nvSpPr>
        <p:spPr>
          <a:xfrm>
            <a:off x="6217920" y="1691640"/>
            <a:ext cx="5303520" cy="1298448"/>
          </a:xfrm>
          <a:prstGeom prst="roundRect">
            <a:avLst>
              <a:gd name="adj" fmla="val 6338"/>
            </a:avLst>
          </a:prstGeom>
          <a:solidFill>
            <a:srgbClr val="F1F3F9"/>
          </a:solidFill>
          <a:ln w="12700">
            <a:solidFill>
              <a:srgbClr val="F1F3F9"/>
            </a:solidFill>
            <a:prstDash val="solid"/>
          </a:ln>
        </p:spPr>
      </p:sp>
      <p:sp>
        <p:nvSpPr>
          <p:cNvPr id="10" name="Shape 8"/>
          <p:cNvSpPr/>
          <p:nvPr/>
        </p:nvSpPr>
        <p:spPr>
          <a:xfrm>
            <a:off x="6455664" y="1929384"/>
            <a:ext cx="402336" cy="402336"/>
          </a:xfrm>
          <a:prstGeom prst="ellipse">
            <a:avLst/>
          </a:prstGeom>
          <a:solidFill>
            <a:srgbClr val="293D94"/>
          </a:solidFill>
          <a:ln w="12700">
            <a:solidFill>
              <a:srgbClr val="293D94"/>
            </a:solidFill>
            <a:prstDash val="solid"/>
          </a:ln>
        </p:spPr>
      </p:sp>
      <p:sp>
        <p:nvSpPr>
          <p:cNvPr id="11" name="Text 9"/>
          <p:cNvSpPr/>
          <p:nvPr/>
        </p:nvSpPr>
        <p:spPr>
          <a:xfrm>
            <a:off x="6455664" y="1929384"/>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7004304" y="1911096"/>
            <a:ext cx="4242816" cy="292608"/>
          </a:xfrm>
          <a:prstGeom prst="rect">
            <a:avLst/>
          </a:prstGeom>
          <a:noFill/>
          <a:ln/>
        </p:spPr>
        <p:txBody>
          <a:bodyPr wrap="square" lIns="0" tIns="0" rIns="0" bIns="0" rtlCol="0" anchor="ctr"/>
          <a:lstStyle/>
          <a:p>
            <a:pPr marL="0" indent="0">
              <a:buNone/>
            </a:pPr>
            <a:r>
              <a:rPr lang="en-US" sz="1500" b="1" dirty="0">
                <a:solidFill>
                  <a:srgbClr val="16181D"/>
                </a:solidFill>
                <a:latin typeface="Calibri" pitchFamily="34" charset="0"/>
                <a:ea typeface="Calibri" pitchFamily="34" charset="-122"/>
                <a:cs typeface="Calibri" pitchFamily="34" charset="-120"/>
              </a:rPr>
              <a:t>Build a parallel corpus</a:t>
            </a:r>
            <a:endParaRPr lang="en-US" sz="1500" dirty="0"/>
          </a:p>
        </p:txBody>
      </p:sp>
      <p:sp>
        <p:nvSpPr>
          <p:cNvPr id="13" name="Text 11"/>
          <p:cNvSpPr/>
          <p:nvPr/>
        </p:nvSpPr>
        <p:spPr>
          <a:xfrm>
            <a:off x="7004304" y="2240280"/>
            <a:ext cx="4242816" cy="548640"/>
          </a:xfrm>
          <a:prstGeom prst="rect">
            <a:avLst/>
          </a:prstGeom>
          <a:noFill/>
          <a:ln/>
        </p:spPr>
        <p:txBody>
          <a:bodyPr wrap="square" lIns="0" tIns="0" rIns="0" bIns="0" rtlCol="0" anchor="t"/>
          <a:lstStyle/>
          <a:p>
            <a:pPr marL="0" indent="0">
              <a:lnSpc>
                <a:spcPct val="112000"/>
              </a:lnSpc>
              <a:buNone/>
            </a:pPr>
            <a:r>
              <a:rPr lang="en-US" sz="1250" dirty="0">
                <a:solidFill>
                  <a:srgbClr val="4B5563"/>
                </a:solidFill>
                <a:latin typeface="Calibri" pitchFamily="34" charset="0"/>
                <a:ea typeface="Calibri" pitchFamily="34" charset="-122"/>
                <a:cs typeface="Calibri" pitchFamily="34" charset="-120"/>
              </a:rPr>
              <a:t>No Ekegusii MT corpus existed. Align scripture, storybooks and contemporary sentences into English–Ekegusii–Kiswahili triples.</a:t>
            </a:r>
            <a:endParaRPr lang="en-US" sz="1250" dirty="0"/>
          </a:p>
        </p:txBody>
      </p:sp>
      <p:sp>
        <p:nvSpPr>
          <p:cNvPr id="14" name="Shape 12"/>
          <p:cNvSpPr/>
          <p:nvPr/>
        </p:nvSpPr>
        <p:spPr>
          <a:xfrm>
            <a:off x="640080" y="3172968"/>
            <a:ext cx="5303520" cy="1298448"/>
          </a:xfrm>
          <a:prstGeom prst="roundRect">
            <a:avLst>
              <a:gd name="adj" fmla="val 6338"/>
            </a:avLst>
          </a:prstGeom>
          <a:solidFill>
            <a:srgbClr val="F1F3F9"/>
          </a:solidFill>
          <a:ln w="12700">
            <a:solidFill>
              <a:srgbClr val="F1F3F9"/>
            </a:solidFill>
            <a:prstDash val="solid"/>
          </a:ln>
        </p:spPr>
      </p:sp>
      <p:sp>
        <p:nvSpPr>
          <p:cNvPr id="15" name="Shape 13"/>
          <p:cNvSpPr/>
          <p:nvPr/>
        </p:nvSpPr>
        <p:spPr>
          <a:xfrm>
            <a:off x="877824" y="3410712"/>
            <a:ext cx="402336" cy="402336"/>
          </a:xfrm>
          <a:prstGeom prst="ellipse">
            <a:avLst/>
          </a:prstGeom>
          <a:solidFill>
            <a:srgbClr val="293D94"/>
          </a:solidFill>
          <a:ln w="12700">
            <a:solidFill>
              <a:srgbClr val="293D94"/>
            </a:solidFill>
            <a:prstDash val="solid"/>
          </a:ln>
        </p:spPr>
      </p:sp>
      <p:sp>
        <p:nvSpPr>
          <p:cNvPr id="16" name="Text 14"/>
          <p:cNvSpPr/>
          <p:nvPr/>
        </p:nvSpPr>
        <p:spPr>
          <a:xfrm>
            <a:off x="877824" y="3410712"/>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1426464" y="3392424"/>
            <a:ext cx="4242816" cy="292608"/>
          </a:xfrm>
          <a:prstGeom prst="rect">
            <a:avLst/>
          </a:prstGeom>
          <a:noFill/>
          <a:ln/>
        </p:spPr>
        <p:txBody>
          <a:bodyPr wrap="square" lIns="0" tIns="0" rIns="0" bIns="0" rtlCol="0" anchor="ctr"/>
          <a:lstStyle/>
          <a:p>
            <a:pPr marL="0" indent="0">
              <a:buNone/>
            </a:pPr>
            <a:r>
              <a:rPr lang="en-US" sz="1500" b="1" dirty="0">
                <a:solidFill>
                  <a:srgbClr val="16181D"/>
                </a:solidFill>
                <a:latin typeface="Calibri" pitchFamily="34" charset="0"/>
                <a:ea typeface="Calibri" pitchFamily="34" charset="-122"/>
                <a:cs typeface="Calibri" pitchFamily="34" charset="-120"/>
              </a:rPr>
              <a:t>Adapt to PSA register</a:t>
            </a:r>
            <a:endParaRPr lang="en-US" sz="1500" dirty="0"/>
          </a:p>
        </p:txBody>
      </p:sp>
      <p:sp>
        <p:nvSpPr>
          <p:cNvPr id="18" name="Text 16"/>
          <p:cNvSpPr/>
          <p:nvPr/>
        </p:nvSpPr>
        <p:spPr>
          <a:xfrm>
            <a:off x="1426464" y="3721608"/>
            <a:ext cx="4242816" cy="548640"/>
          </a:xfrm>
          <a:prstGeom prst="rect">
            <a:avLst/>
          </a:prstGeom>
          <a:noFill/>
          <a:ln/>
        </p:spPr>
        <p:txBody>
          <a:bodyPr wrap="square" lIns="0" tIns="0" rIns="0" bIns="0" rtlCol="0" anchor="t"/>
          <a:lstStyle/>
          <a:p>
            <a:pPr marL="0" indent="0">
              <a:lnSpc>
                <a:spcPct val="112000"/>
              </a:lnSpc>
              <a:buNone/>
            </a:pPr>
            <a:r>
              <a:rPr lang="en-US" sz="1250" dirty="0">
                <a:solidFill>
                  <a:srgbClr val="4B5563"/>
                </a:solidFill>
                <a:latin typeface="Calibri" pitchFamily="34" charset="0"/>
                <a:ea typeface="Calibri" pitchFamily="34" charset="-122"/>
                <a:cs typeface="Calibri" pitchFamily="34" charset="-120"/>
              </a:rPr>
              <a:t>Scripture teaches the language but not the voice of a government notice. Use real Kenyan PSAs to close that gap.</a:t>
            </a:r>
            <a:endParaRPr lang="en-US" sz="1250" dirty="0"/>
          </a:p>
        </p:txBody>
      </p:sp>
      <p:sp>
        <p:nvSpPr>
          <p:cNvPr id="19" name="Shape 17"/>
          <p:cNvSpPr/>
          <p:nvPr/>
        </p:nvSpPr>
        <p:spPr>
          <a:xfrm>
            <a:off x="6217920" y="3172968"/>
            <a:ext cx="5303520" cy="1298448"/>
          </a:xfrm>
          <a:prstGeom prst="roundRect">
            <a:avLst>
              <a:gd name="adj" fmla="val 6338"/>
            </a:avLst>
          </a:prstGeom>
          <a:solidFill>
            <a:srgbClr val="F1F3F9"/>
          </a:solidFill>
          <a:ln w="12700">
            <a:solidFill>
              <a:srgbClr val="F1F3F9"/>
            </a:solidFill>
            <a:prstDash val="solid"/>
          </a:ln>
        </p:spPr>
      </p:sp>
      <p:sp>
        <p:nvSpPr>
          <p:cNvPr id="20" name="Shape 18"/>
          <p:cNvSpPr/>
          <p:nvPr/>
        </p:nvSpPr>
        <p:spPr>
          <a:xfrm>
            <a:off x="6455664" y="3410712"/>
            <a:ext cx="402336" cy="402336"/>
          </a:xfrm>
          <a:prstGeom prst="ellipse">
            <a:avLst/>
          </a:prstGeom>
          <a:solidFill>
            <a:srgbClr val="293D94"/>
          </a:solidFill>
          <a:ln w="12700">
            <a:solidFill>
              <a:srgbClr val="293D94"/>
            </a:solidFill>
            <a:prstDash val="solid"/>
          </a:ln>
        </p:spPr>
      </p:sp>
      <p:sp>
        <p:nvSpPr>
          <p:cNvPr id="21" name="Text 19"/>
          <p:cNvSpPr/>
          <p:nvPr/>
        </p:nvSpPr>
        <p:spPr>
          <a:xfrm>
            <a:off x="6455664" y="3410712"/>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7004304" y="3392424"/>
            <a:ext cx="4242816" cy="292608"/>
          </a:xfrm>
          <a:prstGeom prst="rect">
            <a:avLst/>
          </a:prstGeom>
          <a:noFill/>
          <a:ln/>
        </p:spPr>
        <p:txBody>
          <a:bodyPr wrap="square" lIns="0" tIns="0" rIns="0" bIns="0" rtlCol="0" anchor="ctr"/>
          <a:lstStyle/>
          <a:p>
            <a:pPr marL="0" indent="0">
              <a:buNone/>
            </a:pPr>
            <a:r>
              <a:rPr lang="en-US" sz="1500" b="1" dirty="0">
                <a:solidFill>
                  <a:srgbClr val="16181D"/>
                </a:solidFill>
                <a:latin typeface="Calibri" pitchFamily="34" charset="0"/>
                <a:ea typeface="Calibri" pitchFamily="34" charset="-122"/>
                <a:cs typeface="Calibri" pitchFamily="34" charset="-120"/>
              </a:rPr>
              <a:t>Test a curriculum hypothesis</a:t>
            </a:r>
            <a:endParaRPr lang="en-US" sz="1500" dirty="0"/>
          </a:p>
        </p:txBody>
      </p:sp>
      <p:sp>
        <p:nvSpPr>
          <p:cNvPr id="23" name="Text 21"/>
          <p:cNvSpPr/>
          <p:nvPr/>
        </p:nvSpPr>
        <p:spPr>
          <a:xfrm>
            <a:off x="7004304" y="3721608"/>
            <a:ext cx="4242816" cy="548640"/>
          </a:xfrm>
          <a:prstGeom prst="rect">
            <a:avLst/>
          </a:prstGeom>
          <a:noFill/>
          <a:ln/>
        </p:spPr>
        <p:txBody>
          <a:bodyPr wrap="square" lIns="0" tIns="0" rIns="0" bIns="0" rtlCol="0" anchor="t"/>
          <a:lstStyle/>
          <a:p>
            <a:pPr marL="0" indent="0">
              <a:lnSpc>
                <a:spcPct val="112000"/>
              </a:lnSpc>
              <a:buNone/>
            </a:pPr>
            <a:r>
              <a:rPr lang="en-US" sz="1250" dirty="0">
                <a:solidFill>
                  <a:srgbClr val="4B5563"/>
                </a:solidFill>
                <a:latin typeface="Calibri" pitchFamily="34" charset="0"/>
                <a:ea typeface="Calibri" pitchFamily="34" charset="-122"/>
                <a:cs typeface="Calibri" pitchFamily="34" charset="-120"/>
              </a:rPr>
              <a:t>Does learning the language first, then the register, beat training on everything at once? Run the control that can falsify it.</a:t>
            </a:r>
            <a:endParaRPr lang="en-US" sz="1250" dirty="0"/>
          </a:p>
        </p:txBody>
      </p:sp>
      <p:sp>
        <p:nvSpPr>
          <p:cNvPr id="24" name="Text 22"/>
          <p:cNvSpPr/>
          <p:nvPr/>
        </p:nvSpPr>
        <p:spPr>
          <a:xfrm>
            <a:off x="640080" y="6419088"/>
            <a:ext cx="5486400" cy="256032"/>
          </a:xfrm>
          <a:prstGeom prst="rect">
            <a:avLst/>
          </a:prstGeom>
          <a:noFill/>
          <a:ln/>
        </p:spPr>
        <p:txBody>
          <a:bodyPr wrap="square" lIns="0" tIns="0" rIns="0" bIns="0" rtlCol="0" anchor="ctr"/>
          <a:lstStyle/>
          <a:p>
            <a:pPr marL="0" indent="0">
              <a:buNone/>
            </a:pPr>
            <a:r>
              <a:rPr lang="en-US" sz="950" dirty="0">
                <a:solidFill>
                  <a:srgbClr val="8A919E"/>
                </a:solidFill>
                <a:latin typeface="Calibri" pitchFamily="34" charset="0"/>
                <a:ea typeface="Calibri" pitchFamily="34" charset="-122"/>
                <a:cs typeface="Calibri" pitchFamily="34" charset="-120"/>
              </a:rPr>
              <a:t>Ekegusii NMT · USIU-Africa · 2026</a:t>
            </a:r>
            <a:endParaRPr lang="en-US" sz="950" dirty="0"/>
          </a:p>
        </p:txBody>
      </p:sp>
      <p:sp>
        <p:nvSpPr>
          <p:cNvPr id="25" name="Text 23"/>
          <p:cNvSpPr/>
          <p:nvPr/>
        </p:nvSpPr>
        <p:spPr>
          <a:xfrm>
            <a:off x="10972800" y="6419088"/>
            <a:ext cx="548640" cy="256032"/>
          </a:xfrm>
          <a:prstGeom prst="rect">
            <a:avLst/>
          </a:prstGeom>
          <a:noFill/>
          <a:ln/>
        </p:spPr>
        <p:txBody>
          <a:bodyPr wrap="square" lIns="0" tIns="0" rIns="0" bIns="0" rtlCol="0" anchor="ctr"/>
          <a:lstStyle/>
          <a:p>
            <a:pPr marL="0" indent="0" algn="r">
              <a:buNone/>
            </a:pPr>
            <a:r>
              <a:rPr lang="en-US" sz="950" dirty="0">
                <a:solidFill>
                  <a:srgbClr val="8A919E"/>
                </a:solidFill>
                <a:latin typeface="Calibri" pitchFamily="34" charset="0"/>
                <a:ea typeface="Calibri" pitchFamily="34" charset="-122"/>
                <a:cs typeface="Calibri"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marL="0" indent="0">
              <a:buNone/>
            </a:pPr>
            <a:r>
              <a:rPr lang="en-US" sz="1200" b="1" kern="0" spc="240" dirty="0">
                <a:solidFill>
                  <a:srgbClr val="293D94"/>
                </a:solidFill>
                <a:latin typeface="Calibri" pitchFamily="34" charset="0"/>
                <a:ea typeface="Calibri" pitchFamily="34" charset="-122"/>
                <a:cs typeface="Calibri" pitchFamily="34" charset="-120"/>
              </a:rPr>
              <a:t>DATA</a:t>
            </a:r>
            <a:endParaRPr lang="en-US" sz="1200" dirty="0"/>
          </a:p>
        </p:txBody>
      </p:sp>
      <p:sp>
        <p:nvSpPr>
          <p:cNvPr id="3" name="Text 1"/>
          <p:cNvSpPr/>
          <p:nvPr/>
        </p:nvSpPr>
        <p:spPr>
          <a:xfrm>
            <a:off x="640080" y="658368"/>
            <a:ext cx="10881360" cy="658368"/>
          </a:xfrm>
          <a:prstGeom prst="rect">
            <a:avLst/>
          </a:prstGeom>
          <a:noFill/>
          <a:ln/>
        </p:spPr>
        <p:txBody>
          <a:bodyPr wrap="square" lIns="0" tIns="0" rIns="0" bIns="0" rtlCol="0" anchor="t"/>
          <a:lstStyle/>
          <a:p>
            <a:pPr marL="0" indent="0">
              <a:buNone/>
            </a:pPr>
            <a:r>
              <a:rPr lang="en-US" sz="3000" b="1" dirty="0">
                <a:solidFill>
                  <a:srgbClr val="16181D"/>
                </a:solidFill>
                <a:latin typeface="Cambria" pitchFamily="34" charset="0"/>
                <a:ea typeface="Cambria" pitchFamily="34" charset="-122"/>
                <a:cs typeface="Cambria" pitchFamily="34" charset="-120"/>
              </a:rPr>
              <a:t>What the model actually trained on</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2305881487"/>
              </p:ext>
            </p:extLst>
          </p:nvPr>
        </p:nvGraphicFramePr>
        <p:xfrm>
          <a:off x="640080" y="1554480"/>
          <a:ext cx="6858000" cy="2560320"/>
        </p:xfrm>
        <a:graphic>
          <a:graphicData uri="http://schemas.openxmlformats.org/drawingml/2006/table">
            <a:tbl>
              <a:tblPr/>
              <a:tblGrid>
                <a:gridCol w="274320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tblGrid>
              <a:tr h="320040">
                <a:tc>
                  <a:txBody>
                    <a:bodyPr/>
                    <a:lstStyle/>
                    <a:p>
                      <a:pPr marL="0" indent="0">
                        <a:buNone/>
                      </a:pPr>
                      <a:r>
                        <a:rPr lang="en-US" sz="1150" b="1" dirty="0">
                          <a:solidFill>
                            <a:srgbClr val="16181D"/>
                          </a:solidFill>
                          <a:latin typeface="Calibri" pitchFamily="34" charset="0"/>
                          <a:ea typeface="Calibri" pitchFamily="34" charset="-122"/>
                          <a:cs typeface="Calibri" pitchFamily="34" charset="-120"/>
                        </a:rPr>
                        <a:t>Source</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r>
                        <a:rPr lang="en-US" sz="1150" b="1" dirty="0">
                          <a:solidFill>
                            <a:srgbClr val="16181D"/>
                          </a:solidFill>
                          <a:latin typeface="Calibri" pitchFamily="34" charset="0"/>
                          <a:ea typeface="Calibri" pitchFamily="34" charset="-122"/>
                          <a:cs typeface="Calibri" pitchFamily="34" charset="-120"/>
                        </a:rPr>
                        <a:t>Direction</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150" b="1" dirty="0">
                          <a:solidFill>
                            <a:srgbClr val="16181D"/>
                          </a:solidFill>
                          <a:latin typeface="Calibri" pitchFamily="34" charset="0"/>
                          <a:ea typeface="Calibri" pitchFamily="34" charset="-122"/>
                          <a:cs typeface="Calibri" pitchFamily="34" charset="-120"/>
                        </a:rPr>
                        <a:t>Pairs</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20040">
                <a:tc>
                  <a:txBody>
                    <a:bodyPr/>
                    <a:lstStyle/>
                    <a:p>
                      <a:pPr marL="0" indent="0">
                        <a:buNone/>
                      </a:pPr>
                      <a:r>
                        <a:rPr lang="en-US" sz="1150" dirty="0">
                          <a:solidFill>
                            <a:srgbClr val="16181D"/>
                          </a:solidFill>
                          <a:latin typeface="Calibri" pitchFamily="34" charset="0"/>
                          <a:ea typeface="Calibri" pitchFamily="34" charset="-122"/>
                          <a:cs typeface="Calibri" pitchFamily="34" charset="-120"/>
                        </a:rPr>
                        <a:t>Ekegusii Bible</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r>
                        <a:rPr lang="en-US" sz="1150" dirty="0">
                          <a:solidFill>
                            <a:srgbClr val="16181D"/>
                          </a:solidFill>
                          <a:latin typeface="Calibri" pitchFamily="34" charset="0"/>
                          <a:ea typeface="Calibri" pitchFamily="34" charset="-122"/>
                          <a:cs typeface="Calibri" pitchFamily="34" charset="-120"/>
                        </a:rPr>
                        <a:t>English to Ekegusii</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6181D"/>
                          </a:solidFill>
                          <a:latin typeface="Calibri" pitchFamily="34" charset="0"/>
                          <a:ea typeface="Calibri" pitchFamily="34" charset="-122"/>
                          <a:cs typeface="Calibri" pitchFamily="34" charset="-120"/>
                        </a:rPr>
                        <a:t>28,439</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0040">
                <a:tc>
                  <a:txBody>
                    <a:bodyPr/>
                    <a:lstStyle/>
                    <a:p>
                      <a:pPr marL="0" indent="0">
                        <a:buNone/>
                      </a:pPr>
                      <a:r>
                        <a:rPr lang="en-US" sz="1150" dirty="0">
                          <a:solidFill>
                            <a:srgbClr val="16181D"/>
                          </a:solidFill>
                          <a:latin typeface="Calibri" pitchFamily="34" charset="0"/>
                          <a:ea typeface="Calibri" pitchFamily="34" charset="-122"/>
                          <a:cs typeface="Calibri" pitchFamily="34" charset="-120"/>
                        </a:rPr>
                        <a:t>Ekegusii Bible</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r>
                        <a:rPr lang="en-US" sz="1150" dirty="0">
                          <a:solidFill>
                            <a:srgbClr val="16181D"/>
                          </a:solidFill>
                          <a:latin typeface="Calibri" pitchFamily="34" charset="0"/>
                          <a:ea typeface="Calibri" pitchFamily="34" charset="-122"/>
                          <a:cs typeface="Calibri" pitchFamily="34" charset="-120"/>
                        </a:rPr>
                        <a:t>Kiswahili to Ekegusii</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6181D"/>
                          </a:solidFill>
                          <a:latin typeface="Calibri" pitchFamily="34" charset="0"/>
                          <a:ea typeface="Calibri" pitchFamily="34" charset="-122"/>
                          <a:cs typeface="Calibri" pitchFamily="34" charset="-120"/>
                        </a:rPr>
                        <a:t>28,482</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0040">
                <a:tc>
                  <a:txBody>
                    <a:bodyPr/>
                    <a:lstStyle/>
                    <a:p>
                      <a:pPr marL="0" indent="0">
                        <a:buNone/>
                      </a:pPr>
                      <a:r>
                        <a:rPr lang="en-US" sz="1150" dirty="0">
                          <a:solidFill>
                            <a:srgbClr val="16181D"/>
                          </a:solidFill>
                          <a:latin typeface="Calibri" pitchFamily="34" charset="0"/>
                          <a:ea typeface="Calibri" pitchFamily="34" charset="-122"/>
                          <a:cs typeface="Calibri" pitchFamily="34" charset="-120"/>
                        </a:rPr>
                        <a:t>Lughayangu everyday sentences</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r>
                        <a:rPr lang="en-US" sz="1150" dirty="0">
                          <a:solidFill>
                            <a:srgbClr val="16181D"/>
                          </a:solidFill>
                          <a:latin typeface="Calibri" pitchFamily="34" charset="0"/>
                          <a:ea typeface="Calibri" pitchFamily="34" charset="-122"/>
                          <a:cs typeface="Calibri" pitchFamily="34" charset="-120"/>
                        </a:rPr>
                        <a:t>English to Ekegusii</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6181D"/>
                          </a:solidFill>
                          <a:latin typeface="Calibri" pitchFamily="34" charset="0"/>
                          <a:ea typeface="Calibri" pitchFamily="34" charset="-122"/>
                          <a:cs typeface="Calibri" pitchFamily="34" charset="-120"/>
                        </a:rPr>
                        <a:t>111</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0040">
                <a:tc>
                  <a:txBody>
                    <a:bodyPr/>
                    <a:lstStyle/>
                    <a:p>
                      <a:pPr marL="0" indent="0">
                        <a:buNone/>
                      </a:pPr>
                      <a:r>
                        <a:rPr lang="en-US" sz="1150" dirty="0">
                          <a:solidFill>
                            <a:srgbClr val="16181D"/>
                          </a:solidFill>
                          <a:latin typeface="Calibri" pitchFamily="34" charset="0"/>
                          <a:ea typeface="Calibri" pitchFamily="34" charset="-122"/>
                          <a:cs typeface="Calibri" pitchFamily="34" charset="-120"/>
                        </a:rPr>
                        <a:t>Duplicates removed</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6181D"/>
                          </a:solidFill>
                          <a:latin typeface="Calibri" pitchFamily="34" charset="0"/>
                          <a:ea typeface="Calibri" pitchFamily="34" charset="-122"/>
                          <a:cs typeface="Calibri" pitchFamily="34" charset="-120"/>
                        </a:rPr>
                        <a:t>-55</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20040">
                <a:tc>
                  <a:txBody>
                    <a:bodyPr/>
                    <a:lstStyle/>
                    <a:p>
                      <a:pPr marL="0" indent="0">
                        <a:buNone/>
                      </a:pPr>
                      <a:r>
                        <a:rPr lang="en-US" sz="1150" dirty="0">
                          <a:solidFill>
                            <a:srgbClr val="16181D"/>
                          </a:solidFill>
                          <a:latin typeface="Calibri" pitchFamily="34" charset="0"/>
                          <a:ea typeface="Calibri" pitchFamily="34" charset="-122"/>
                          <a:cs typeface="Calibri" pitchFamily="34" charset="-120"/>
                        </a:rPr>
                        <a:t>Kenyan PSAs</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r>
                        <a:rPr lang="en-US" sz="1150" dirty="0">
                          <a:solidFill>
                            <a:srgbClr val="16181D"/>
                          </a:solidFill>
                          <a:latin typeface="Calibri" pitchFamily="34" charset="0"/>
                          <a:ea typeface="Calibri" pitchFamily="34" charset="-122"/>
                          <a:cs typeface="Calibri" pitchFamily="34" charset="-120"/>
                        </a:rPr>
                        <a:t>English to Ekegusii</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6181D"/>
                          </a:solidFill>
                          <a:latin typeface="Calibri" pitchFamily="34" charset="0"/>
                          <a:ea typeface="Calibri" pitchFamily="34" charset="-122"/>
                          <a:cs typeface="Calibri" pitchFamily="34" charset="-120"/>
                        </a:rPr>
                        <a:t>3,509</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0040">
                <a:tc>
                  <a:txBody>
                    <a:bodyPr/>
                    <a:lstStyle/>
                    <a:p>
                      <a:pPr marL="0" indent="0">
                        <a:buNone/>
                      </a:pPr>
                      <a:r>
                        <a:rPr lang="en-US" sz="1150" dirty="0">
                          <a:solidFill>
                            <a:srgbClr val="16181D"/>
                          </a:solidFill>
                          <a:latin typeface="Calibri" pitchFamily="34" charset="0"/>
                          <a:ea typeface="Calibri" pitchFamily="34" charset="-122"/>
                          <a:cs typeface="Calibri" pitchFamily="34" charset="-120"/>
                        </a:rPr>
                        <a:t>Kenyan PSAs</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r>
                        <a:rPr lang="en-US" sz="1150" dirty="0">
                          <a:solidFill>
                            <a:srgbClr val="16181D"/>
                          </a:solidFill>
                          <a:latin typeface="Calibri" pitchFamily="34" charset="0"/>
                          <a:ea typeface="Calibri" pitchFamily="34" charset="-122"/>
                          <a:cs typeface="Calibri" pitchFamily="34" charset="-120"/>
                        </a:rPr>
                        <a:t>Kiswahili to Ekegusii</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6181D"/>
                          </a:solidFill>
                          <a:latin typeface="Calibri" pitchFamily="34" charset="0"/>
                          <a:ea typeface="Calibri" pitchFamily="34" charset="-122"/>
                          <a:cs typeface="Calibri" pitchFamily="34" charset="-120"/>
                        </a:rPr>
                        <a:t>2,183</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20040">
                <a:tc>
                  <a:txBody>
                    <a:bodyPr/>
                    <a:lstStyle/>
                    <a:p>
                      <a:pPr marL="0" indent="0">
                        <a:buNone/>
                      </a:pPr>
                      <a:r>
                        <a:rPr lang="en-US" sz="1150" b="1" dirty="0">
                          <a:solidFill>
                            <a:srgbClr val="16181D"/>
                          </a:solidFill>
                          <a:latin typeface="Calibri" pitchFamily="34" charset="0"/>
                          <a:ea typeface="Calibri" pitchFamily="34" charset="-122"/>
                          <a:cs typeface="Calibri" pitchFamily="34" charset="-120"/>
                        </a:rPr>
                        <a:t>Total unique training pairs</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150" b="1" dirty="0">
                          <a:solidFill>
                            <a:srgbClr val="16181D"/>
                          </a:solidFill>
                          <a:latin typeface="Calibri" pitchFamily="34" charset="0"/>
                          <a:ea typeface="Calibri" pitchFamily="34" charset="-122"/>
                          <a:cs typeface="Calibri" pitchFamily="34" charset="-120"/>
                        </a:rPr>
                        <a:t>62,669</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4" name="Shape 2"/>
          <p:cNvSpPr/>
          <p:nvPr/>
        </p:nvSpPr>
        <p:spPr>
          <a:xfrm>
            <a:off x="7772400" y="1627632"/>
            <a:ext cx="3749040" cy="1508760"/>
          </a:xfrm>
          <a:prstGeom prst="roundRect">
            <a:avLst>
              <a:gd name="adj" fmla="val 5455"/>
            </a:avLst>
          </a:prstGeom>
          <a:solidFill>
            <a:srgbClr val="FFF7DE"/>
          </a:solidFill>
          <a:ln w="12700">
            <a:solidFill>
              <a:srgbClr val="FFF7DE"/>
            </a:solidFill>
            <a:prstDash val="solid"/>
          </a:ln>
        </p:spPr>
      </p:sp>
      <p:sp>
        <p:nvSpPr>
          <p:cNvPr id="6" name="Shape 3"/>
          <p:cNvSpPr/>
          <p:nvPr/>
        </p:nvSpPr>
        <p:spPr>
          <a:xfrm>
            <a:off x="8010144" y="1865376"/>
            <a:ext cx="402336" cy="402336"/>
          </a:xfrm>
          <a:prstGeom prst="ellipse">
            <a:avLst/>
          </a:prstGeom>
          <a:solidFill>
            <a:srgbClr val="FFCA08"/>
          </a:solidFill>
          <a:ln w="12700">
            <a:solidFill>
              <a:srgbClr val="FFCA08"/>
            </a:solidFill>
            <a:prstDash val="solid"/>
          </a:ln>
        </p:spPr>
      </p:sp>
      <p:sp>
        <p:nvSpPr>
          <p:cNvPr id="7" name="Text 4"/>
          <p:cNvSpPr/>
          <p:nvPr/>
        </p:nvSpPr>
        <p:spPr>
          <a:xfrm>
            <a:off x="8010144" y="1865376"/>
            <a:ext cx="402336" cy="402336"/>
          </a:xfrm>
          <a:prstGeom prst="rect">
            <a:avLst/>
          </a:prstGeom>
          <a:noFill/>
          <a:ln/>
        </p:spPr>
        <p:txBody>
          <a:bodyPr wrap="square" lIns="0" tIns="0" rIns="0" bIns="0" rtlCol="0" anchor="ctr"/>
          <a:lstStyle/>
          <a:p>
            <a:pPr marL="0" indent="0" algn="ctr">
              <a:buNone/>
            </a:pPr>
            <a:r>
              <a:rPr lang="en-US" sz="1300" b="1" dirty="0">
                <a:solidFill>
                  <a:srgbClr val="16181D"/>
                </a:solidFill>
                <a:latin typeface="Calibri" pitchFamily="34" charset="0"/>
                <a:ea typeface="Calibri" pitchFamily="34" charset="-122"/>
                <a:cs typeface="Calibri" pitchFamily="34" charset="-120"/>
              </a:rPr>
              <a:t>x4</a:t>
            </a:r>
            <a:endParaRPr lang="en-US" sz="1300" dirty="0"/>
          </a:p>
        </p:txBody>
      </p:sp>
      <p:sp>
        <p:nvSpPr>
          <p:cNvPr id="8" name="Text 5"/>
          <p:cNvSpPr/>
          <p:nvPr/>
        </p:nvSpPr>
        <p:spPr>
          <a:xfrm>
            <a:off x="8558784" y="1847088"/>
            <a:ext cx="2688336" cy="292608"/>
          </a:xfrm>
          <a:prstGeom prst="rect">
            <a:avLst/>
          </a:prstGeom>
          <a:noFill/>
          <a:ln/>
        </p:spPr>
        <p:txBody>
          <a:bodyPr wrap="square" lIns="0" tIns="0" rIns="0" bIns="0" rtlCol="0" anchor="ctr"/>
          <a:lstStyle/>
          <a:p>
            <a:pPr marL="0" indent="0">
              <a:buNone/>
            </a:pPr>
            <a:r>
              <a:rPr lang="en-US" sz="1500" b="1" dirty="0">
                <a:solidFill>
                  <a:srgbClr val="16181D"/>
                </a:solidFill>
                <a:latin typeface="Calibri" pitchFamily="34" charset="0"/>
                <a:ea typeface="Calibri" pitchFamily="34" charset="-122"/>
                <a:cs typeface="Calibri" pitchFamily="34" charset="-120"/>
              </a:rPr>
              <a:t>Why 79,745 examples, not 62,669</a:t>
            </a:r>
            <a:endParaRPr lang="en-US" sz="1500" dirty="0"/>
          </a:p>
        </p:txBody>
      </p:sp>
      <p:sp>
        <p:nvSpPr>
          <p:cNvPr id="9" name="Text 6"/>
          <p:cNvSpPr/>
          <p:nvPr/>
        </p:nvSpPr>
        <p:spPr>
          <a:xfrm>
            <a:off x="8558784" y="2176272"/>
            <a:ext cx="2688336" cy="758952"/>
          </a:xfrm>
          <a:prstGeom prst="rect">
            <a:avLst/>
          </a:prstGeom>
          <a:noFill/>
          <a:ln/>
        </p:spPr>
        <p:txBody>
          <a:bodyPr wrap="square" lIns="0" tIns="0" rIns="0" bIns="0" rtlCol="0" anchor="t"/>
          <a:lstStyle/>
          <a:p>
            <a:pPr marL="0" indent="0">
              <a:lnSpc>
                <a:spcPct val="112000"/>
              </a:lnSpc>
              <a:buNone/>
            </a:pPr>
            <a:r>
              <a:rPr lang="en-US" sz="1250" dirty="0">
                <a:solidFill>
                  <a:srgbClr val="4B5563"/>
                </a:solidFill>
                <a:latin typeface="Calibri" pitchFamily="34" charset="0"/>
                <a:ea typeface="Calibri" pitchFamily="34" charset="-122"/>
                <a:cs typeface="Calibri" pitchFamily="34" charset="-120"/>
              </a:rPr>
              <a:t>The 5,692 PSA pairs are repeated four times per epoch so the domain is not swamped by scripture. Unique pairs stay 62,669.</a:t>
            </a:r>
            <a:endParaRPr lang="en-US" sz="1250" dirty="0"/>
          </a:p>
        </p:txBody>
      </p:sp>
      <p:sp>
        <p:nvSpPr>
          <p:cNvPr id="10" name="Shape 7"/>
          <p:cNvSpPr/>
          <p:nvPr/>
        </p:nvSpPr>
        <p:spPr>
          <a:xfrm>
            <a:off x="7772400" y="3291840"/>
            <a:ext cx="3749040" cy="1810512"/>
          </a:xfrm>
          <a:prstGeom prst="roundRect">
            <a:avLst>
              <a:gd name="adj" fmla="val 4545"/>
            </a:avLst>
          </a:prstGeom>
          <a:solidFill>
            <a:srgbClr val="F1F3F9"/>
          </a:solidFill>
          <a:ln w="12700">
            <a:solidFill>
              <a:srgbClr val="F1F3F9"/>
            </a:solidFill>
            <a:prstDash val="solid"/>
          </a:ln>
        </p:spPr>
      </p:sp>
      <p:sp>
        <p:nvSpPr>
          <p:cNvPr id="11" name="Shape 8"/>
          <p:cNvSpPr/>
          <p:nvPr/>
        </p:nvSpPr>
        <p:spPr>
          <a:xfrm>
            <a:off x="8010144" y="3529584"/>
            <a:ext cx="402336" cy="402336"/>
          </a:xfrm>
          <a:prstGeom prst="ellipse">
            <a:avLst/>
          </a:prstGeom>
          <a:solidFill>
            <a:srgbClr val="293D94"/>
          </a:solidFill>
          <a:ln w="12700">
            <a:solidFill>
              <a:srgbClr val="293D94"/>
            </a:solidFill>
            <a:prstDash val="solid"/>
          </a:ln>
        </p:spPr>
      </p:sp>
      <p:sp>
        <p:nvSpPr>
          <p:cNvPr id="12" name="Text 9"/>
          <p:cNvSpPr/>
          <p:nvPr/>
        </p:nvSpPr>
        <p:spPr>
          <a:xfrm>
            <a:off x="8010144" y="3529584"/>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a:t>
            </a:r>
            <a:endParaRPr lang="en-US" sz="1300" dirty="0"/>
          </a:p>
        </p:txBody>
      </p:sp>
      <p:sp>
        <p:nvSpPr>
          <p:cNvPr id="13" name="Text 10"/>
          <p:cNvSpPr/>
          <p:nvPr/>
        </p:nvSpPr>
        <p:spPr>
          <a:xfrm>
            <a:off x="8558784" y="3511296"/>
            <a:ext cx="2688336" cy="292608"/>
          </a:xfrm>
          <a:prstGeom prst="rect">
            <a:avLst/>
          </a:prstGeom>
          <a:noFill/>
          <a:ln/>
        </p:spPr>
        <p:txBody>
          <a:bodyPr wrap="square" lIns="0" tIns="0" rIns="0" bIns="0" rtlCol="0" anchor="ctr"/>
          <a:lstStyle/>
          <a:p>
            <a:pPr marL="0" indent="0">
              <a:buNone/>
            </a:pPr>
            <a:r>
              <a:rPr lang="en-US" sz="1500" b="1" dirty="0">
                <a:solidFill>
                  <a:srgbClr val="16181D"/>
                </a:solidFill>
                <a:latin typeface="Calibri" pitchFamily="34" charset="0"/>
                <a:ea typeface="Calibri" pitchFamily="34" charset="-122"/>
                <a:cs typeface="Calibri" pitchFamily="34" charset="-120"/>
              </a:rPr>
              <a:t>Two sources contributed nothing</a:t>
            </a:r>
            <a:endParaRPr lang="en-US" sz="1500" dirty="0"/>
          </a:p>
        </p:txBody>
      </p:sp>
      <p:sp>
        <p:nvSpPr>
          <p:cNvPr id="14" name="Text 11"/>
          <p:cNvSpPr/>
          <p:nvPr/>
        </p:nvSpPr>
        <p:spPr>
          <a:xfrm>
            <a:off x="8558784" y="3840480"/>
            <a:ext cx="2688336" cy="1060704"/>
          </a:xfrm>
          <a:prstGeom prst="rect">
            <a:avLst/>
          </a:prstGeom>
          <a:noFill/>
          <a:ln/>
        </p:spPr>
        <p:txBody>
          <a:bodyPr wrap="square" lIns="0" tIns="0" rIns="0" bIns="0" rtlCol="0" anchor="t"/>
          <a:lstStyle/>
          <a:p>
            <a:pPr marL="0" indent="0">
              <a:lnSpc>
                <a:spcPct val="112000"/>
              </a:lnSpc>
              <a:buNone/>
            </a:pPr>
            <a:r>
              <a:rPr lang="en-US" sz="1250" dirty="0">
                <a:solidFill>
                  <a:srgbClr val="4B5563"/>
                </a:solidFill>
                <a:latin typeface="Calibri" pitchFamily="34" charset="0"/>
                <a:ea typeface="Calibri" pitchFamily="34" charset="-122"/>
                <a:cs typeface="Calibri" pitchFamily="34" charset="-120"/>
              </a:rPr>
              <a:t>4laws gave 27,575 pairs, every one a duplicate of the eBible text.</a:t>
            </a:r>
            <a:endParaRPr lang="en-US" sz="1250" dirty="0"/>
          </a:p>
        </p:txBody>
      </p:sp>
      <p:sp>
        <p:nvSpPr>
          <p:cNvPr id="15" name="Shape 12"/>
          <p:cNvSpPr/>
          <p:nvPr/>
        </p:nvSpPr>
        <p:spPr>
          <a:xfrm>
            <a:off x="640080" y="4114800"/>
            <a:ext cx="6858000" cy="1737360"/>
          </a:xfrm>
          <a:prstGeom prst="roundRect">
            <a:avLst>
              <a:gd name="adj" fmla="val 4737"/>
            </a:avLst>
          </a:prstGeom>
          <a:solidFill>
            <a:srgbClr val="F1F3F9"/>
          </a:solidFill>
          <a:ln w="12700">
            <a:solidFill>
              <a:srgbClr val="F1F3F9"/>
            </a:solidFill>
            <a:prstDash val="solid"/>
          </a:ln>
        </p:spPr>
      </p:sp>
      <p:sp>
        <p:nvSpPr>
          <p:cNvPr id="16" name="Shape 13"/>
          <p:cNvSpPr/>
          <p:nvPr/>
        </p:nvSpPr>
        <p:spPr>
          <a:xfrm>
            <a:off x="877824" y="4352544"/>
            <a:ext cx="402336" cy="402336"/>
          </a:xfrm>
          <a:prstGeom prst="ellipse">
            <a:avLst/>
          </a:prstGeom>
          <a:solidFill>
            <a:srgbClr val="293D94"/>
          </a:solidFill>
          <a:ln w="12700">
            <a:solidFill>
              <a:srgbClr val="293D94"/>
            </a:solidFill>
            <a:prstDash val="solid"/>
          </a:ln>
        </p:spPr>
      </p:sp>
      <p:sp>
        <p:nvSpPr>
          <p:cNvPr id="17" name="Text 14"/>
          <p:cNvSpPr/>
          <p:nvPr/>
        </p:nvSpPr>
        <p:spPr>
          <a:xfrm>
            <a:off x="877824" y="4352544"/>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8" name="Text 15"/>
          <p:cNvSpPr/>
          <p:nvPr/>
        </p:nvSpPr>
        <p:spPr>
          <a:xfrm>
            <a:off x="1426464" y="4334256"/>
            <a:ext cx="5797296" cy="292608"/>
          </a:xfrm>
          <a:prstGeom prst="rect">
            <a:avLst/>
          </a:prstGeom>
          <a:noFill/>
          <a:ln/>
        </p:spPr>
        <p:txBody>
          <a:bodyPr wrap="square" lIns="0" tIns="0" rIns="0" bIns="0" rtlCol="0" anchor="ctr"/>
          <a:lstStyle/>
          <a:p>
            <a:pPr marL="0" indent="0">
              <a:buNone/>
            </a:pPr>
            <a:r>
              <a:rPr lang="en-US" sz="1500" b="1" dirty="0">
                <a:solidFill>
                  <a:srgbClr val="16181D"/>
                </a:solidFill>
                <a:latin typeface="Calibri" pitchFamily="34" charset="0"/>
                <a:ea typeface="Calibri" pitchFamily="34" charset="-122"/>
                <a:cs typeface="Calibri" pitchFamily="34" charset="-120"/>
              </a:rPr>
              <a:t>Held out and never trained on</a:t>
            </a:r>
            <a:endParaRPr lang="en-US" sz="1500" dirty="0"/>
          </a:p>
        </p:txBody>
      </p:sp>
      <p:sp>
        <p:nvSpPr>
          <p:cNvPr id="19" name="Text 16"/>
          <p:cNvSpPr/>
          <p:nvPr/>
        </p:nvSpPr>
        <p:spPr>
          <a:xfrm>
            <a:off x="1426464" y="4663440"/>
            <a:ext cx="5797296" cy="987552"/>
          </a:xfrm>
          <a:prstGeom prst="rect">
            <a:avLst/>
          </a:prstGeom>
          <a:noFill/>
          <a:ln/>
        </p:spPr>
        <p:txBody>
          <a:bodyPr wrap="square" lIns="0" tIns="0" rIns="0" bIns="0" rtlCol="0" anchor="t"/>
          <a:lstStyle/>
          <a:p>
            <a:pPr marL="0" indent="0">
              <a:lnSpc>
                <a:spcPct val="112000"/>
              </a:lnSpc>
              <a:buNone/>
            </a:pPr>
            <a:r>
              <a:rPr lang="en-US" sz="1250" dirty="0">
                <a:solidFill>
                  <a:srgbClr val="4B5563"/>
                </a:solidFill>
                <a:latin typeface="Calibri" pitchFamily="34" charset="0"/>
                <a:ea typeface="Calibri" pitchFamily="34" charset="-122"/>
                <a:cs typeface="Calibri" pitchFamily="34" charset="-120"/>
              </a:rPr>
              <a:t>2,993 scripture pairs, 200 everyday sentences and 944 PSA pairs. The PSA held-out set is what every headline number is measured on.</a:t>
            </a:r>
            <a:endParaRPr lang="en-US" sz="1250" dirty="0"/>
          </a:p>
        </p:txBody>
      </p:sp>
      <p:sp>
        <p:nvSpPr>
          <p:cNvPr id="20" name="Text 17"/>
          <p:cNvSpPr/>
          <p:nvPr/>
        </p:nvSpPr>
        <p:spPr>
          <a:xfrm>
            <a:off x="640080" y="6419088"/>
            <a:ext cx="5486400" cy="256032"/>
          </a:xfrm>
          <a:prstGeom prst="rect">
            <a:avLst/>
          </a:prstGeom>
          <a:noFill/>
          <a:ln/>
        </p:spPr>
        <p:txBody>
          <a:bodyPr wrap="square" lIns="0" tIns="0" rIns="0" bIns="0" rtlCol="0" anchor="ctr"/>
          <a:lstStyle/>
          <a:p>
            <a:pPr marL="0" indent="0">
              <a:buNone/>
            </a:pPr>
            <a:r>
              <a:rPr lang="en-US" sz="950" dirty="0">
                <a:solidFill>
                  <a:srgbClr val="8A919E"/>
                </a:solidFill>
                <a:latin typeface="Calibri" pitchFamily="34" charset="0"/>
                <a:ea typeface="Calibri" pitchFamily="34" charset="-122"/>
                <a:cs typeface="Calibri" pitchFamily="34" charset="-120"/>
              </a:rPr>
              <a:t>Ekegusii NMT · USIU-Africa · 2026</a:t>
            </a:r>
            <a:endParaRPr lang="en-US" sz="950" dirty="0"/>
          </a:p>
        </p:txBody>
      </p:sp>
      <p:sp>
        <p:nvSpPr>
          <p:cNvPr id="21" name="Text 18"/>
          <p:cNvSpPr/>
          <p:nvPr/>
        </p:nvSpPr>
        <p:spPr>
          <a:xfrm>
            <a:off x="10972800" y="6419088"/>
            <a:ext cx="548640" cy="256032"/>
          </a:xfrm>
          <a:prstGeom prst="rect">
            <a:avLst/>
          </a:prstGeom>
          <a:noFill/>
          <a:ln/>
        </p:spPr>
        <p:txBody>
          <a:bodyPr wrap="square" lIns="0" tIns="0" rIns="0" bIns="0" rtlCol="0" anchor="ctr"/>
          <a:lstStyle/>
          <a:p>
            <a:pPr marL="0" indent="0" algn="r">
              <a:buNone/>
            </a:pPr>
            <a:r>
              <a:rPr lang="en-US" sz="950" dirty="0">
                <a:solidFill>
                  <a:srgbClr val="8A919E"/>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marL="0" indent="0">
              <a:buNone/>
            </a:pPr>
            <a:r>
              <a:rPr lang="en-US" sz="1200" b="1" kern="0" spc="240" dirty="0">
                <a:solidFill>
                  <a:srgbClr val="293D94"/>
                </a:solidFill>
                <a:latin typeface="Calibri" pitchFamily="34" charset="0"/>
                <a:ea typeface="Calibri" pitchFamily="34" charset="-122"/>
                <a:cs typeface="Calibri" pitchFamily="34" charset="-120"/>
              </a:rPr>
              <a:t>THE CORE RISK</a:t>
            </a:r>
            <a:endParaRPr lang="en-US" sz="1200" dirty="0"/>
          </a:p>
        </p:txBody>
      </p:sp>
      <p:sp>
        <p:nvSpPr>
          <p:cNvPr id="3" name="Text 1"/>
          <p:cNvSpPr/>
          <p:nvPr/>
        </p:nvSpPr>
        <p:spPr>
          <a:xfrm>
            <a:off x="640080" y="658368"/>
            <a:ext cx="10881360" cy="658368"/>
          </a:xfrm>
          <a:prstGeom prst="rect">
            <a:avLst/>
          </a:prstGeom>
          <a:noFill/>
          <a:ln/>
        </p:spPr>
        <p:txBody>
          <a:bodyPr wrap="square" lIns="0" tIns="0" rIns="0" bIns="0" rtlCol="0" anchor="t"/>
          <a:lstStyle/>
          <a:p>
            <a:pPr marL="0" indent="0">
              <a:buNone/>
            </a:pPr>
            <a:r>
              <a:rPr lang="en-US" sz="3000" b="1" dirty="0">
                <a:solidFill>
                  <a:srgbClr val="16181D"/>
                </a:solidFill>
                <a:latin typeface="Cambria" pitchFamily="34" charset="0"/>
                <a:ea typeface="Cambria" pitchFamily="34" charset="-122"/>
                <a:cs typeface="Cambria" pitchFamily="34" charset="-120"/>
              </a:rPr>
              <a:t>Scripture teaches the language, not the vocabulary</a:t>
            </a:r>
            <a:endParaRPr lang="en-US" sz="3000" dirty="0"/>
          </a:p>
        </p:txBody>
      </p:sp>
      <p:sp>
        <p:nvSpPr>
          <p:cNvPr id="4" name="Text 2"/>
          <p:cNvSpPr/>
          <p:nvPr/>
        </p:nvSpPr>
        <p:spPr>
          <a:xfrm>
            <a:off x="640080" y="1645920"/>
            <a:ext cx="2926080" cy="868680"/>
          </a:xfrm>
          <a:prstGeom prst="rect">
            <a:avLst/>
          </a:prstGeom>
          <a:noFill/>
          <a:ln/>
        </p:spPr>
        <p:txBody>
          <a:bodyPr wrap="square" lIns="0" tIns="0" rIns="0" bIns="0" rtlCol="0" anchor="ctr"/>
          <a:lstStyle/>
          <a:p>
            <a:pPr marL="0" indent="0">
              <a:buNone/>
            </a:pPr>
            <a:r>
              <a:rPr lang="en-US" sz="6200" b="1" dirty="0">
                <a:solidFill>
                  <a:srgbClr val="B23B3A"/>
                </a:solidFill>
                <a:latin typeface="Calibri" pitchFamily="34" charset="0"/>
                <a:ea typeface="Calibri" pitchFamily="34" charset="-122"/>
                <a:cs typeface="Calibri" pitchFamily="34" charset="-120"/>
              </a:rPr>
              <a:t>53.6%</a:t>
            </a:r>
            <a:endParaRPr lang="en-US" sz="6200" dirty="0"/>
          </a:p>
        </p:txBody>
      </p:sp>
      <p:sp>
        <p:nvSpPr>
          <p:cNvPr id="5" name="Text 3"/>
          <p:cNvSpPr/>
          <p:nvPr/>
        </p:nvSpPr>
        <p:spPr>
          <a:xfrm>
            <a:off x="640080" y="2514600"/>
            <a:ext cx="3108960" cy="914400"/>
          </a:xfrm>
          <a:prstGeom prst="rect">
            <a:avLst/>
          </a:prstGeom>
          <a:noFill/>
          <a:ln/>
        </p:spPr>
        <p:txBody>
          <a:bodyPr wrap="square" lIns="0" tIns="0" rIns="0" bIns="0" rtlCol="0" anchor="ctr"/>
          <a:lstStyle/>
          <a:p>
            <a:pPr marL="0" indent="0">
              <a:lnSpc>
                <a:spcPct val="115000"/>
              </a:lnSpc>
              <a:buNone/>
            </a:pPr>
            <a:r>
              <a:rPr lang="en-US" sz="1300" dirty="0">
                <a:solidFill>
                  <a:srgbClr val="4B5563"/>
                </a:solidFill>
                <a:latin typeface="Calibri" pitchFamily="34" charset="0"/>
                <a:ea typeface="Calibri" pitchFamily="34" charset="-122"/>
                <a:cs typeface="Calibri" pitchFamily="34" charset="-120"/>
              </a:rPr>
              <a:t>of English content-word types in the PSA corpus never appear in the aligned training data</a:t>
            </a:r>
            <a:endParaRPr lang="en-US" sz="1300" dirty="0"/>
          </a:p>
        </p:txBody>
      </p:sp>
      <p:sp>
        <p:nvSpPr>
          <p:cNvPr id="6" name="Text 4"/>
          <p:cNvSpPr/>
          <p:nvPr/>
        </p:nvSpPr>
        <p:spPr>
          <a:xfrm>
            <a:off x="640080" y="3429000"/>
            <a:ext cx="3108960" cy="274320"/>
          </a:xfrm>
          <a:prstGeom prst="rect">
            <a:avLst/>
          </a:prstGeom>
          <a:noFill/>
          <a:ln/>
        </p:spPr>
        <p:txBody>
          <a:bodyPr wrap="square" lIns="0" tIns="0" rIns="0" bIns="0" rtlCol="0" anchor="ctr"/>
          <a:lstStyle/>
          <a:p>
            <a:pPr marL="0" indent="0">
              <a:buNone/>
            </a:pPr>
            <a:r>
              <a:rPr lang="en-US" sz="1200" i="1" dirty="0">
                <a:solidFill>
                  <a:srgbClr val="8A919E"/>
                </a:solidFill>
                <a:latin typeface="Calibri" pitchFamily="34" charset="0"/>
                <a:ea typeface="Calibri" pitchFamily="34" charset="-122"/>
                <a:cs typeface="Calibri" pitchFamily="34" charset="-120"/>
              </a:rPr>
              <a:t>42.3% of tokens</a:t>
            </a:r>
            <a:endParaRPr lang="en-US" sz="1200" dirty="0"/>
          </a:p>
        </p:txBody>
      </p:sp>
      <p:sp>
        <p:nvSpPr>
          <p:cNvPr id="7" name="Shape 5"/>
          <p:cNvSpPr/>
          <p:nvPr/>
        </p:nvSpPr>
        <p:spPr>
          <a:xfrm>
            <a:off x="4206240" y="1645920"/>
            <a:ext cx="7315200" cy="1325880"/>
          </a:xfrm>
          <a:prstGeom prst="roundRect">
            <a:avLst>
              <a:gd name="adj" fmla="val 6207"/>
            </a:avLst>
          </a:prstGeom>
          <a:solidFill>
            <a:srgbClr val="FFF7DE"/>
          </a:solidFill>
          <a:ln w="12700">
            <a:solidFill>
              <a:srgbClr val="FFF7DE"/>
            </a:solidFill>
            <a:prstDash val="solid"/>
          </a:ln>
        </p:spPr>
      </p:sp>
      <p:sp>
        <p:nvSpPr>
          <p:cNvPr id="8" name="Text 6"/>
          <p:cNvSpPr/>
          <p:nvPr/>
        </p:nvSpPr>
        <p:spPr>
          <a:xfrm>
            <a:off x="4480560" y="1865376"/>
            <a:ext cx="6766560" cy="292608"/>
          </a:xfrm>
          <a:prstGeom prst="rect">
            <a:avLst/>
          </a:prstGeom>
          <a:noFill/>
          <a:ln/>
        </p:spPr>
        <p:txBody>
          <a:bodyPr wrap="square" lIns="0" tIns="0" rIns="0" bIns="0" rtlCol="0" anchor="ctr"/>
          <a:lstStyle/>
          <a:p>
            <a:pPr marL="0" indent="0">
              <a:buNone/>
            </a:pPr>
            <a:r>
              <a:rPr lang="en-US" sz="1500" b="1" dirty="0">
                <a:solidFill>
                  <a:srgbClr val="16181D"/>
                </a:solidFill>
                <a:latin typeface="Calibri" pitchFamily="34" charset="0"/>
                <a:ea typeface="Calibri" pitchFamily="34" charset="-122"/>
                <a:cs typeface="Calibri" pitchFamily="34" charset="-120"/>
              </a:rPr>
              <a:t>Words the Bible has no reason to contain</a:t>
            </a:r>
            <a:endParaRPr lang="en-US" sz="1500" dirty="0"/>
          </a:p>
        </p:txBody>
      </p:sp>
      <p:sp>
        <p:nvSpPr>
          <p:cNvPr id="9" name="Text 7"/>
          <p:cNvSpPr/>
          <p:nvPr/>
        </p:nvSpPr>
        <p:spPr>
          <a:xfrm>
            <a:off x="4480560" y="2194560"/>
            <a:ext cx="6766560" cy="576072"/>
          </a:xfrm>
          <a:prstGeom prst="rect">
            <a:avLst/>
          </a:prstGeom>
          <a:noFill/>
          <a:ln/>
        </p:spPr>
        <p:txBody>
          <a:bodyPr wrap="square" lIns="0" tIns="0" rIns="0" bIns="0" rtlCol="0" anchor="t"/>
          <a:lstStyle/>
          <a:p>
            <a:pPr marL="0" indent="0">
              <a:lnSpc>
                <a:spcPct val="112000"/>
              </a:lnSpc>
              <a:buNone/>
            </a:pPr>
            <a:r>
              <a:rPr lang="en-US" sz="1250" dirty="0">
                <a:solidFill>
                  <a:srgbClr val="4B5563"/>
                </a:solidFill>
                <a:latin typeface="Calibri" pitchFamily="34" charset="0"/>
                <a:ea typeface="Calibri" pitchFamily="34" charset="-122"/>
                <a:cs typeface="Calibri" pitchFamily="34" charset="-120"/>
              </a:rPr>
              <a:t>portal · bursary · HELB · KUCCPS · iTax · NTSA · Huduma Centre · county government · e-citizen · registration deadline</a:t>
            </a:r>
            <a:endParaRPr lang="en-US" sz="1250" dirty="0"/>
          </a:p>
        </p:txBody>
      </p:sp>
      <p:sp>
        <p:nvSpPr>
          <p:cNvPr id="10" name="Shape 8"/>
          <p:cNvSpPr/>
          <p:nvPr/>
        </p:nvSpPr>
        <p:spPr>
          <a:xfrm>
            <a:off x="4206240" y="3154680"/>
            <a:ext cx="7315200" cy="1234440"/>
          </a:xfrm>
          <a:prstGeom prst="roundRect">
            <a:avLst>
              <a:gd name="adj" fmla="val 6667"/>
            </a:avLst>
          </a:prstGeom>
          <a:solidFill>
            <a:srgbClr val="F1F3F9"/>
          </a:solidFill>
          <a:ln w="12700">
            <a:solidFill>
              <a:srgbClr val="F1F3F9"/>
            </a:solidFill>
            <a:prstDash val="solid"/>
          </a:ln>
        </p:spPr>
      </p:sp>
      <p:sp>
        <p:nvSpPr>
          <p:cNvPr id="11" name="Text 9"/>
          <p:cNvSpPr/>
          <p:nvPr/>
        </p:nvSpPr>
        <p:spPr>
          <a:xfrm>
            <a:off x="4480560" y="3374136"/>
            <a:ext cx="6766560" cy="292608"/>
          </a:xfrm>
          <a:prstGeom prst="rect">
            <a:avLst/>
          </a:prstGeom>
          <a:noFill/>
          <a:ln/>
        </p:spPr>
        <p:txBody>
          <a:bodyPr wrap="square" lIns="0" tIns="0" rIns="0" bIns="0" rtlCol="0" anchor="ctr"/>
          <a:lstStyle/>
          <a:p>
            <a:pPr marL="0" indent="0">
              <a:buNone/>
            </a:pPr>
            <a:r>
              <a:rPr lang="en-US" sz="1500" b="1" dirty="0">
                <a:solidFill>
                  <a:srgbClr val="16181D"/>
                </a:solidFill>
                <a:latin typeface="Calibri" pitchFamily="34" charset="0"/>
                <a:ea typeface="Calibri" pitchFamily="34" charset="-122"/>
                <a:cs typeface="Calibri" pitchFamily="34" charset="-120"/>
              </a:rPr>
              <a:t>Why this drives the whole design</a:t>
            </a:r>
            <a:endParaRPr lang="en-US" sz="1500" dirty="0"/>
          </a:p>
        </p:txBody>
      </p:sp>
      <p:sp>
        <p:nvSpPr>
          <p:cNvPr id="12" name="Text 10"/>
          <p:cNvSpPr/>
          <p:nvPr/>
        </p:nvSpPr>
        <p:spPr>
          <a:xfrm>
            <a:off x="4480560" y="3703320"/>
            <a:ext cx="6766560" cy="484632"/>
          </a:xfrm>
          <a:prstGeom prst="rect">
            <a:avLst/>
          </a:prstGeom>
          <a:noFill/>
          <a:ln/>
        </p:spPr>
        <p:txBody>
          <a:bodyPr wrap="square" lIns="0" tIns="0" rIns="0" bIns="0" rtlCol="0" anchor="t"/>
          <a:lstStyle/>
          <a:p>
            <a:pPr marL="0" indent="0">
              <a:lnSpc>
                <a:spcPct val="112000"/>
              </a:lnSpc>
              <a:buNone/>
            </a:pPr>
            <a:r>
              <a:rPr lang="en-US" sz="1250" dirty="0">
                <a:solidFill>
                  <a:srgbClr val="4B5563"/>
                </a:solidFill>
                <a:latin typeface="Calibri" pitchFamily="34" charset="0"/>
                <a:ea typeface="Calibri" pitchFamily="34" charset="-122"/>
                <a:cs typeface="Calibri" pitchFamily="34" charset="-120"/>
              </a:rPr>
              <a:t>A model trained only on scripture will translate a cholera advisory as though it were a psalm. The register gap, not the language gap, is what the second phase of training exists to close.</a:t>
            </a:r>
            <a:endParaRPr lang="en-US" sz="1250" dirty="0"/>
          </a:p>
        </p:txBody>
      </p:sp>
      <p:sp>
        <p:nvSpPr>
          <p:cNvPr id="13" name="Shape 11"/>
          <p:cNvSpPr/>
          <p:nvPr/>
        </p:nvSpPr>
        <p:spPr>
          <a:xfrm>
            <a:off x="640080" y="4617720"/>
            <a:ext cx="10881360" cy="1234440"/>
          </a:xfrm>
          <a:prstGeom prst="roundRect">
            <a:avLst>
              <a:gd name="adj" fmla="val 6667"/>
            </a:avLst>
          </a:prstGeom>
          <a:solidFill>
            <a:srgbClr val="F1F3F9"/>
          </a:solidFill>
          <a:ln w="12700">
            <a:solidFill>
              <a:srgbClr val="F1F3F9"/>
            </a:solidFill>
            <a:prstDash val="solid"/>
          </a:ln>
        </p:spPr>
      </p:sp>
      <p:sp>
        <p:nvSpPr>
          <p:cNvPr id="14" name="Shape 12"/>
          <p:cNvSpPr/>
          <p:nvPr/>
        </p:nvSpPr>
        <p:spPr>
          <a:xfrm>
            <a:off x="877824" y="4855464"/>
            <a:ext cx="402336" cy="402336"/>
          </a:xfrm>
          <a:prstGeom prst="ellipse">
            <a:avLst/>
          </a:prstGeom>
          <a:solidFill>
            <a:srgbClr val="293D94"/>
          </a:solidFill>
          <a:ln w="12700">
            <a:solidFill>
              <a:srgbClr val="293D94"/>
            </a:solidFill>
            <a:prstDash val="solid"/>
          </a:ln>
        </p:spPr>
      </p:sp>
      <p:sp>
        <p:nvSpPr>
          <p:cNvPr id="15" name="Text 13"/>
          <p:cNvSpPr/>
          <p:nvPr/>
        </p:nvSpPr>
        <p:spPr>
          <a:xfrm>
            <a:off x="877824" y="4855464"/>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6" name="Text 14"/>
          <p:cNvSpPr/>
          <p:nvPr/>
        </p:nvSpPr>
        <p:spPr>
          <a:xfrm>
            <a:off x="1426464" y="4837176"/>
            <a:ext cx="9820656" cy="292608"/>
          </a:xfrm>
          <a:prstGeom prst="rect">
            <a:avLst/>
          </a:prstGeom>
          <a:noFill/>
          <a:ln/>
        </p:spPr>
        <p:txBody>
          <a:bodyPr wrap="square" lIns="0" tIns="0" rIns="0" bIns="0" rtlCol="0" anchor="ctr"/>
          <a:lstStyle/>
          <a:p>
            <a:pPr marL="0" indent="0">
              <a:buNone/>
            </a:pPr>
            <a:r>
              <a:rPr lang="en-US" sz="1500" b="1" dirty="0">
                <a:solidFill>
                  <a:srgbClr val="16181D"/>
                </a:solidFill>
                <a:latin typeface="Calibri" pitchFamily="34" charset="0"/>
                <a:ea typeface="Calibri" pitchFamily="34" charset="-122"/>
                <a:cs typeface="Calibri" pitchFamily="34" charset="-120"/>
              </a:rPr>
              <a:t>Measured before training, not discovered afterwards</a:t>
            </a:r>
            <a:endParaRPr lang="en-US" sz="1500" dirty="0"/>
          </a:p>
        </p:txBody>
      </p:sp>
      <p:sp>
        <p:nvSpPr>
          <p:cNvPr id="17" name="Text 15"/>
          <p:cNvSpPr/>
          <p:nvPr/>
        </p:nvSpPr>
        <p:spPr>
          <a:xfrm>
            <a:off x="1426464" y="5166360"/>
            <a:ext cx="9820656" cy="484632"/>
          </a:xfrm>
          <a:prstGeom prst="rect">
            <a:avLst/>
          </a:prstGeom>
          <a:noFill/>
          <a:ln/>
        </p:spPr>
        <p:txBody>
          <a:bodyPr wrap="square" lIns="0" tIns="0" rIns="0" bIns="0" rtlCol="0" anchor="t"/>
          <a:lstStyle/>
          <a:p>
            <a:pPr marL="0" indent="0">
              <a:lnSpc>
                <a:spcPct val="112000"/>
              </a:lnSpc>
              <a:buNone/>
            </a:pPr>
            <a:r>
              <a:rPr lang="en-US" sz="1250" dirty="0">
                <a:solidFill>
                  <a:srgbClr val="4B5563"/>
                </a:solidFill>
                <a:latin typeface="Calibri" pitchFamily="34" charset="0"/>
                <a:ea typeface="Calibri" pitchFamily="34" charset="-122"/>
                <a:cs typeface="Calibri" pitchFamily="34" charset="-120"/>
              </a:rPr>
              <a:t>The exploratory analysis quantified this gap first. It set the expectation that institutional vocabulary would remain the model's weakest point, which the final error analysis confirmed.</a:t>
            </a:r>
            <a:endParaRPr lang="en-US" sz="1250" dirty="0"/>
          </a:p>
        </p:txBody>
      </p:sp>
      <p:sp>
        <p:nvSpPr>
          <p:cNvPr id="18" name="Text 16"/>
          <p:cNvSpPr/>
          <p:nvPr/>
        </p:nvSpPr>
        <p:spPr>
          <a:xfrm>
            <a:off x="640080" y="6419088"/>
            <a:ext cx="5486400" cy="256032"/>
          </a:xfrm>
          <a:prstGeom prst="rect">
            <a:avLst/>
          </a:prstGeom>
          <a:noFill/>
          <a:ln/>
        </p:spPr>
        <p:txBody>
          <a:bodyPr wrap="square" lIns="0" tIns="0" rIns="0" bIns="0" rtlCol="0" anchor="ctr"/>
          <a:lstStyle/>
          <a:p>
            <a:pPr marL="0" indent="0">
              <a:buNone/>
            </a:pPr>
            <a:r>
              <a:rPr lang="en-US" sz="950" dirty="0">
                <a:solidFill>
                  <a:srgbClr val="8A919E"/>
                </a:solidFill>
                <a:latin typeface="Calibri" pitchFamily="34" charset="0"/>
                <a:ea typeface="Calibri" pitchFamily="34" charset="-122"/>
                <a:cs typeface="Calibri" pitchFamily="34" charset="-120"/>
              </a:rPr>
              <a:t>Ekegusii NMT · USIU-Africa · 2026</a:t>
            </a:r>
            <a:endParaRPr lang="en-US" sz="950" dirty="0"/>
          </a:p>
        </p:txBody>
      </p:sp>
      <p:sp>
        <p:nvSpPr>
          <p:cNvPr id="19" name="Text 17"/>
          <p:cNvSpPr/>
          <p:nvPr/>
        </p:nvSpPr>
        <p:spPr>
          <a:xfrm>
            <a:off x="10972800" y="6419088"/>
            <a:ext cx="548640" cy="256032"/>
          </a:xfrm>
          <a:prstGeom prst="rect">
            <a:avLst/>
          </a:prstGeom>
          <a:noFill/>
          <a:ln/>
        </p:spPr>
        <p:txBody>
          <a:bodyPr wrap="square" lIns="0" tIns="0" rIns="0" bIns="0" rtlCol="0" anchor="ctr"/>
          <a:lstStyle/>
          <a:p>
            <a:pPr marL="0" indent="0" algn="r">
              <a:buNone/>
            </a:pPr>
            <a:r>
              <a:rPr lang="en-US" sz="950" dirty="0">
                <a:solidFill>
                  <a:srgbClr val="8A919E"/>
                </a:solidFill>
                <a:latin typeface="Calibri" pitchFamily="34" charset="0"/>
                <a:ea typeface="Calibri" pitchFamily="34" charset="-122"/>
                <a:cs typeface="Calibri" pitchFamily="34" charset="-120"/>
              </a:rPr>
              <a:t>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marL="0" indent="0">
              <a:buNone/>
            </a:pPr>
            <a:r>
              <a:rPr lang="en-US" sz="1200" b="1" kern="0" spc="240" dirty="0">
                <a:solidFill>
                  <a:srgbClr val="293D94"/>
                </a:solidFill>
                <a:latin typeface="Calibri" pitchFamily="34" charset="0"/>
                <a:ea typeface="Calibri" pitchFamily="34" charset="-122"/>
                <a:cs typeface="Calibri" pitchFamily="34" charset="-120"/>
              </a:rPr>
              <a:t>METHOD · STEP ONE</a:t>
            </a:r>
            <a:endParaRPr lang="en-US" sz="1200" dirty="0"/>
          </a:p>
        </p:txBody>
      </p:sp>
      <p:sp>
        <p:nvSpPr>
          <p:cNvPr id="3" name="Text 1"/>
          <p:cNvSpPr/>
          <p:nvPr/>
        </p:nvSpPr>
        <p:spPr>
          <a:xfrm>
            <a:off x="640080" y="658368"/>
            <a:ext cx="10881360" cy="658368"/>
          </a:xfrm>
          <a:prstGeom prst="rect">
            <a:avLst/>
          </a:prstGeom>
          <a:noFill/>
          <a:ln/>
        </p:spPr>
        <p:txBody>
          <a:bodyPr wrap="square" lIns="0" tIns="0" rIns="0" bIns="0" rtlCol="0" anchor="t"/>
          <a:lstStyle/>
          <a:p>
            <a:pPr marL="0" indent="0">
              <a:buNone/>
            </a:pPr>
            <a:r>
              <a:rPr lang="en-US" sz="3000" b="1" dirty="0">
                <a:solidFill>
                  <a:srgbClr val="16181D"/>
                </a:solidFill>
                <a:latin typeface="Cambria" pitchFamily="34" charset="0"/>
                <a:ea typeface="Cambria" pitchFamily="34" charset="-122"/>
                <a:cs typeface="Cambria" pitchFamily="34" charset="-120"/>
              </a:rPr>
              <a:t>Adding a language to a frozen vocabulary</a:t>
            </a:r>
            <a:endParaRPr lang="en-US" sz="3000" dirty="0"/>
          </a:p>
        </p:txBody>
      </p:sp>
      <p:sp>
        <p:nvSpPr>
          <p:cNvPr id="4" name="Shape 2"/>
          <p:cNvSpPr/>
          <p:nvPr/>
        </p:nvSpPr>
        <p:spPr>
          <a:xfrm>
            <a:off x="640080" y="1645920"/>
            <a:ext cx="3444240" cy="1920240"/>
          </a:xfrm>
          <a:prstGeom prst="roundRect">
            <a:avLst>
              <a:gd name="adj" fmla="val 4286"/>
            </a:avLst>
          </a:prstGeom>
          <a:solidFill>
            <a:srgbClr val="F1F3F9"/>
          </a:solidFill>
          <a:ln w="12700">
            <a:solidFill>
              <a:srgbClr val="F1F3F9"/>
            </a:solidFill>
            <a:prstDash val="solid"/>
          </a:ln>
        </p:spPr>
      </p:sp>
      <p:sp>
        <p:nvSpPr>
          <p:cNvPr id="5" name="Shape 3"/>
          <p:cNvSpPr/>
          <p:nvPr/>
        </p:nvSpPr>
        <p:spPr>
          <a:xfrm>
            <a:off x="877824" y="1883664"/>
            <a:ext cx="402336" cy="402336"/>
          </a:xfrm>
          <a:prstGeom prst="ellipse">
            <a:avLst/>
          </a:prstGeom>
          <a:solidFill>
            <a:srgbClr val="293D94"/>
          </a:solidFill>
          <a:ln w="12700">
            <a:solidFill>
              <a:srgbClr val="293D94"/>
            </a:solidFill>
            <a:prstDash val="solid"/>
          </a:ln>
        </p:spPr>
      </p:sp>
      <p:sp>
        <p:nvSpPr>
          <p:cNvPr id="6" name="Text 4"/>
          <p:cNvSpPr/>
          <p:nvPr/>
        </p:nvSpPr>
        <p:spPr>
          <a:xfrm>
            <a:off x="877824" y="1883664"/>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426464" y="1865376"/>
            <a:ext cx="2383536" cy="292608"/>
          </a:xfrm>
          <a:prstGeom prst="rect">
            <a:avLst/>
          </a:prstGeom>
          <a:noFill/>
          <a:ln/>
        </p:spPr>
        <p:txBody>
          <a:bodyPr wrap="square" lIns="0" tIns="0" rIns="0" bIns="0" rtlCol="0" anchor="ctr"/>
          <a:lstStyle/>
          <a:p>
            <a:pPr marL="0" indent="0">
              <a:buNone/>
            </a:pPr>
            <a:r>
              <a:rPr lang="en-US" sz="1500" b="1" dirty="0">
                <a:solidFill>
                  <a:srgbClr val="16181D"/>
                </a:solidFill>
                <a:latin typeface="Calibri" pitchFamily="34" charset="0"/>
                <a:ea typeface="Calibri" pitchFamily="34" charset="-122"/>
                <a:cs typeface="Calibri" pitchFamily="34" charset="-120"/>
              </a:rPr>
              <a:t>Add the token</a:t>
            </a:r>
            <a:endParaRPr lang="en-US" sz="1500" dirty="0"/>
          </a:p>
        </p:txBody>
      </p:sp>
      <p:sp>
        <p:nvSpPr>
          <p:cNvPr id="8" name="Text 6"/>
          <p:cNvSpPr/>
          <p:nvPr/>
        </p:nvSpPr>
        <p:spPr>
          <a:xfrm>
            <a:off x="1426464" y="2194560"/>
            <a:ext cx="2383536" cy="1170432"/>
          </a:xfrm>
          <a:prstGeom prst="rect">
            <a:avLst/>
          </a:prstGeom>
          <a:noFill/>
          <a:ln/>
        </p:spPr>
        <p:txBody>
          <a:bodyPr wrap="square" lIns="0" tIns="0" rIns="0" bIns="0" rtlCol="0" anchor="t"/>
          <a:lstStyle/>
          <a:p>
            <a:pPr marL="0" indent="0">
              <a:lnSpc>
                <a:spcPct val="112000"/>
              </a:lnSpc>
              <a:buNone/>
            </a:pPr>
            <a:r>
              <a:rPr lang="en-US" sz="1250" dirty="0">
                <a:solidFill>
                  <a:srgbClr val="4B5563"/>
                </a:solidFill>
                <a:latin typeface="Calibri" pitchFamily="34" charset="0"/>
                <a:ea typeface="Calibri" pitchFamily="34" charset="-122"/>
                <a:cs typeface="Calibri" pitchFamily="34" charset="-120"/>
              </a:rPr>
              <a:t>guz_Latn is appended to the tokenizer as a special token and the embedding matrix is resized.</a:t>
            </a:r>
            <a:endParaRPr lang="en-US" sz="1250" dirty="0"/>
          </a:p>
        </p:txBody>
      </p:sp>
      <p:sp>
        <p:nvSpPr>
          <p:cNvPr id="9" name="Shape 7"/>
          <p:cNvSpPr/>
          <p:nvPr/>
        </p:nvSpPr>
        <p:spPr>
          <a:xfrm>
            <a:off x="4358640" y="1645920"/>
            <a:ext cx="3444240" cy="1920240"/>
          </a:xfrm>
          <a:prstGeom prst="roundRect">
            <a:avLst>
              <a:gd name="adj" fmla="val 4286"/>
            </a:avLst>
          </a:prstGeom>
          <a:solidFill>
            <a:srgbClr val="FFF7DE"/>
          </a:solidFill>
          <a:ln w="12700">
            <a:solidFill>
              <a:srgbClr val="FFF7DE"/>
            </a:solidFill>
            <a:prstDash val="solid"/>
          </a:ln>
        </p:spPr>
      </p:sp>
      <p:sp>
        <p:nvSpPr>
          <p:cNvPr id="10" name="Shape 8"/>
          <p:cNvSpPr/>
          <p:nvPr/>
        </p:nvSpPr>
        <p:spPr>
          <a:xfrm>
            <a:off x="4596384" y="1883664"/>
            <a:ext cx="402336" cy="402336"/>
          </a:xfrm>
          <a:prstGeom prst="ellipse">
            <a:avLst/>
          </a:prstGeom>
          <a:solidFill>
            <a:srgbClr val="FFCA08"/>
          </a:solidFill>
          <a:ln w="12700">
            <a:solidFill>
              <a:srgbClr val="FFCA08"/>
            </a:solidFill>
            <a:prstDash val="solid"/>
          </a:ln>
        </p:spPr>
      </p:sp>
      <p:sp>
        <p:nvSpPr>
          <p:cNvPr id="11" name="Text 9"/>
          <p:cNvSpPr/>
          <p:nvPr/>
        </p:nvSpPr>
        <p:spPr>
          <a:xfrm>
            <a:off x="4596384" y="1883664"/>
            <a:ext cx="402336" cy="402336"/>
          </a:xfrm>
          <a:prstGeom prst="rect">
            <a:avLst/>
          </a:prstGeom>
          <a:noFill/>
          <a:ln/>
        </p:spPr>
        <p:txBody>
          <a:bodyPr wrap="square" lIns="0" tIns="0" rIns="0" bIns="0" rtlCol="0" anchor="ctr"/>
          <a:lstStyle/>
          <a:p>
            <a:pPr marL="0" indent="0" algn="ctr">
              <a:buNone/>
            </a:pPr>
            <a:r>
              <a:rPr lang="en-US" sz="1300" b="1" dirty="0">
                <a:solidFill>
                  <a:srgbClr val="16181D"/>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5145024" y="1865376"/>
            <a:ext cx="2383536" cy="292608"/>
          </a:xfrm>
          <a:prstGeom prst="rect">
            <a:avLst/>
          </a:prstGeom>
          <a:noFill/>
          <a:ln/>
        </p:spPr>
        <p:txBody>
          <a:bodyPr wrap="square" lIns="0" tIns="0" rIns="0" bIns="0" rtlCol="0" anchor="ctr"/>
          <a:lstStyle/>
          <a:p>
            <a:pPr marL="0" indent="0">
              <a:buNone/>
            </a:pPr>
            <a:r>
              <a:rPr lang="en-US" sz="1500" b="1" dirty="0">
                <a:solidFill>
                  <a:srgbClr val="16181D"/>
                </a:solidFill>
                <a:latin typeface="Calibri" pitchFamily="34" charset="0"/>
                <a:ea typeface="Calibri" pitchFamily="34" charset="-122"/>
                <a:cs typeface="Calibri" pitchFamily="34" charset="-120"/>
              </a:rPr>
              <a:t>Seed it, don't randomise it</a:t>
            </a:r>
            <a:endParaRPr lang="en-US" sz="1500" dirty="0"/>
          </a:p>
        </p:txBody>
      </p:sp>
      <p:sp>
        <p:nvSpPr>
          <p:cNvPr id="13" name="Text 11"/>
          <p:cNvSpPr/>
          <p:nvPr/>
        </p:nvSpPr>
        <p:spPr>
          <a:xfrm>
            <a:off x="5145024" y="2194560"/>
            <a:ext cx="2383536" cy="1170432"/>
          </a:xfrm>
          <a:prstGeom prst="rect">
            <a:avLst/>
          </a:prstGeom>
          <a:noFill/>
          <a:ln/>
        </p:spPr>
        <p:txBody>
          <a:bodyPr wrap="square" lIns="0" tIns="0" rIns="0" bIns="0" rtlCol="0" anchor="t"/>
          <a:lstStyle/>
          <a:p>
            <a:pPr marL="0" indent="0">
              <a:lnSpc>
                <a:spcPct val="112000"/>
              </a:lnSpc>
              <a:buNone/>
            </a:pPr>
            <a:r>
              <a:rPr lang="en-US" sz="1250" dirty="0">
                <a:solidFill>
                  <a:srgbClr val="4B5563"/>
                </a:solidFill>
                <a:latin typeface="Calibri" pitchFamily="34" charset="0"/>
                <a:ea typeface="Calibri" pitchFamily="34" charset="-122"/>
                <a:cs typeface="Calibri" pitchFamily="34" charset="-120"/>
              </a:rPr>
              <a:t>The new row is copied from kik_Latn (Kikuyu), the closest Kenyan Bantu language NLLB supports, plus 1% noise so the two can diverge during training.</a:t>
            </a:r>
            <a:endParaRPr lang="en-US" sz="1250" dirty="0"/>
          </a:p>
        </p:txBody>
      </p:sp>
      <p:sp>
        <p:nvSpPr>
          <p:cNvPr id="14" name="Shape 12"/>
          <p:cNvSpPr/>
          <p:nvPr/>
        </p:nvSpPr>
        <p:spPr>
          <a:xfrm>
            <a:off x="8077200" y="1645920"/>
            <a:ext cx="3444240" cy="1920240"/>
          </a:xfrm>
          <a:prstGeom prst="roundRect">
            <a:avLst>
              <a:gd name="adj" fmla="val 4286"/>
            </a:avLst>
          </a:prstGeom>
          <a:solidFill>
            <a:srgbClr val="F1F3F9"/>
          </a:solidFill>
          <a:ln w="12700">
            <a:solidFill>
              <a:srgbClr val="F1F3F9"/>
            </a:solidFill>
            <a:prstDash val="solid"/>
          </a:ln>
        </p:spPr>
      </p:sp>
      <p:sp>
        <p:nvSpPr>
          <p:cNvPr id="15" name="Shape 13"/>
          <p:cNvSpPr/>
          <p:nvPr/>
        </p:nvSpPr>
        <p:spPr>
          <a:xfrm>
            <a:off x="8314944" y="1883664"/>
            <a:ext cx="402336" cy="402336"/>
          </a:xfrm>
          <a:prstGeom prst="ellipse">
            <a:avLst/>
          </a:prstGeom>
          <a:solidFill>
            <a:srgbClr val="293D94"/>
          </a:solidFill>
          <a:ln w="12700">
            <a:solidFill>
              <a:srgbClr val="293D94"/>
            </a:solidFill>
            <a:prstDash val="solid"/>
          </a:ln>
        </p:spPr>
      </p:sp>
      <p:sp>
        <p:nvSpPr>
          <p:cNvPr id="16" name="Text 14"/>
          <p:cNvSpPr/>
          <p:nvPr/>
        </p:nvSpPr>
        <p:spPr>
          <a:xfrm>
            <a:off x="8314944" y="1883664"/>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8863584" y="1865376"/>
            <a:ext cx="2383536" cy="292608"/>
          </a:xfrm>
          <a:prstGeom prst="rect">
            <a:avLst/>
          </a:prstGeom>
          <a:noFill/>
          <a:ln/>
        </p:spPr>
        <p:txBody>
          <a:bodyPr wrap="square" lIns="0" tIns="0" rIns="0" bIns="0" rtlCol="0" anchor="ctr"/>
          <a:lstStyle/>
          <a:p>
            <a:pPr marL="0" indent="0">
              <a:buNone/>
            </a:pPr>
            <a:r>
              <a:rPr lang="en-US" sz="1500" b="1" dirty="0">
                <a:solidFill>
                  <a:srgbClr val="16181D"/>
                </a:solidFill>
                <a:latin typeface="Calibri" pitchFamily="34" charset="0"/>
                <a:ea typeface="Calibri" pitchFamily="34" charset="-122"/>
                <a:cs typeface="Calibri" pitchFamily="34" charset="-120"/>
              </a:rPr>
              <a:t>Build inputs by hand</a:t>
            </a:r>
            <a:endParaRPr lang="en-US" sz="1500" dirty="0"/>
          </a:p>
        </p:txBody>
      </p:sp>
      <p:sp>
        <p:nvSpPr>
          <p:cNvPr id="18" name="Text 16"/>
          <p:cNvSpPr/>
          <p:nvPr/>
        </p:nvSpPr>
        <p:spPr>
          <a:xfrm>
            <a:off x="8863584" y="2194560"/>
            <a:ext cx="2383536" cy="1170432"/>
          </a:xfrm>
          <a:prstGeom prst="rect">
            <a:avLst/>
          </a:prstGeom>
          <a:noFill/>
          <a:ln/>
        </p:spPr>
        <p:txBody>
          <a:bodyPr wrap="square" lIns="0" tIns="0" rIns="0" bIns="0" rtlCol="0" anchor="t"/>
          <a:lstStyle/>
          <a:p>
            <a:pPr marL="0" indent="0">
              <a:lnSpc>
                <a:spcPct val="112000"/>
              </a:lnSpc>
              <a:buNone/>
            </a:pPr>
            <a:r>
              <a:rPr lang="en-US" sz="1250" dirty="0">
                <a:solidFill>
                  <a:srgbClr val="4B5563"/>
                </a:solidFill>
                <a:latin typeface="Calibri" pitchFamily="34" charset="0"/>
                <a:ea typeface="Calibri" pitchFamily="34" charset="-122"/>
                <a:cs typeface="Calibri" pitchFamily="34" charset="-120"/>
              </a:rPr>
              <a:t>NLLB's tokenizer does not know about a language added after pretraining, so sequences are assembled explicitly as [lang] tokens [eos].</a:t>
            </a:r>
            <a:endParaRPr lang="en-US" sz="1250" dirty="0"/>
          </a:p>
        </p:txBody>
      </p:sp>
      <p:sp>
        <p:nvSpPr>
          <p:cNvPr id="19" name="Shape 17"/>
          <p:cNvSpPr/>
          <p:nvPr/>
        </p:nvSpPr>
        <p:spPr>
          <a:xfrm>
            <a:off x="640080" y="3794760"/>
            <a:ext cx="10881360" cy="1371600"/>
          </a:xfrm>
          <a:prstGeom prst="roundRect">
            <a:avLst>
              <a:gd name="adj" fmla="val 6000"/>
            </a:avLst>
          </a:prstGeom>
          <a:solidFill>
            <a:srgbClr val="FFF7DE"/>
          </a:solidFill>
          <a:ln w="12700">
            <a:solidFill>
              <a:srgbClr val="FFF7DE"/>
            </a:solidFill>
            <a:prstDash val="solid"/>
          </a:ln>
        </p:spPr>
      </p:sp>
      <p:sp>
        <p:nvSpPr>
          <p:cNvPr id="20" name="Shape 18"/>
          <p:cNvSpPr/>
          <p:nvPr/>
        </p:nvSpPr>
        <p:spPr>
          <a:xfrm>
            <a:off x="877824" y="4032504"/>
            <a:ext cx="402336" cy="402336"/>
          </a:xfrm>
          <a:prstGeom prst="ellipse">
            <a:avLst/>
          </a:prstGeom>
          <a:solidFill>
            <a:srgbClr val="FFCA08"/>
          </a:solidFill>
          <a:ln w="12700">
            <a:solidFill>
              <a:srgbClr val="FFCA08"/>
            </a:solidFill>
            <a:prstDash val="solid"/>
          </a:ln>
        </p:spPr>
      </p:sp>
      <p:sp>
        <p:nvSpPr>
          <p:cNvPr id="21" name="Text 19"/>
          <p:cNvSpPr/>
          <p:nvPr/>
        </p:nvSpPr>
        <p:spPr>
          <a:xfrm>
            <a:off x="877824" y="4032504"/>
            <a:ext cx="402336" cy="402336"/>
          </a:xfrm>
          <a:prstGeom prst="rect">
            <a:avLst/>
          </a:prstGeom>
          <a:noFill/>
          <a:ln/>
        </p:spPr>
        <p:txBody>
          <a:bodyPr wrap="square" lIns="0" tIns="0" rIns="0" bIns="0" rtlCol="0" anchor="ctr"/>
          <a:lstStyle/>
          <a:p>
            <a:pPr marL="0" indent="0" algn="ctr">
              <a:buNone/>
            </a:pPr>
            <a:r>
              <a:rPr lang="en-US" sz="1300" b="1" dirty="0">
                <a:solidFill>
                  <a:srgbClr val="16181D"/>
                </a:solidFill>
                <a:latin typeface="Calibri" pitchFamily="34" charset="0"/>
                <a:ea typeface="Calibri" pitchFamily="34" charset="-122"/>
                <a:cs typeface="Calibri" pitchFamily="34" charset="-120"/>
              </a:rPr>
              <a:t>↺</a:t>
            </a:r>
            <a:endParaRPr lang="en-US" sz="1300" dirty="0"/>
          </a:p>
        </p:txBody>
      </p:sp>
      <p:sp>
        <p:nvSpPr>
          <p:cNvPr id="22" name="Text 20"/>
          <p:cNvSpPr/>
          <p:nvPr/>
        </p:nvSpPr>
        <p:spPr>
          <a:xfrm>
            <a:off x="1426464" y="4014216"/>
            <a:ext cx="9820656" cy="292608"/>
          </a:xfrm>
          <a:prstGeom prst="rect">
            <a:avLst/>
          </a:prstGeom>
          <a:noFill/>
          <a:ln/>
        </p:spPr>
        <p:txBody>
          <a:bodyPr wrap="square" lIns="0" tIns="0" rIns="0" bIns="0" rtlCol="0" anchor="ctr"/>
          <a:lstStyle/>
          <a:p>
            <a:pPr marL="0" indent="0">
              <a:buNone/>
            </a:pPr>
            <a:r>
              <a:rPr lang="en-US" sz="1500" b="1" dirty="0">
                <a:solidFill>
                  <a:srgbClr val="16181D"/>
                </a:solidFill>
                <a:latin typeface="Calibri" pitchFamily="34" charset="0"/>
                <a:ea typeface="Calibri" pitchFamily="34" charset="-122"/>
                <a:cs typeface="Calibri" pitchFamily="34" charset="-120"/>
              </a:rPr>
              <a:t>This is transfer learning, and the seed is where the transfer happens</a:t>
            </a:r>
            <a:endParaRPr lang="en-US" sz="1500" dirty="0"/>
          </a:p>
        </p:txBody>
      </p:sp>
      <p:sp>
        <p:nvSpPr>
          <p:cNvPr id="23" name="Text 21"/>
          <p:cNvSpPr/>
          <p:nvPr/>
        </p:nvSpPr>
        <p:spPr>
          <a:xfrm>
            <a:off x="1426464" y="4343400"/>
            <a:ext cx="9820656" cy="621792"/>
          </a:xfrm>
          <a:prstGeom prst="rect">
            <a:avLst/>
          </a:prstGeom>
          <a:noFill/>
          <a:ln/>
        </p:spPr>
        <p:txBody>
          <a:bodyPr wrap="square" lIns="0" tIns="0" rIns="0" bIns="0" rtlCol="0" anchor="t"/>
          <a:lstStyle/>
          <a:p>
            <a:pPr marL="0" indent="0">
              <a:lnSpc>
                <a:spcPct val="112000"/>
              </a:lnSpc>
              <a:buNone/>
            </a:pPr>
            <a:r>
              <a:rPr lang="en-US" sz="1250" dirty="0">
                <a:solidFill>
                  <a:srgbClr val="4B5563"/>
                </a:solidFill>
                <a:latin typeface="Calibri" pitchFamily="34" charset="0"/>
                <a:ea typeface="Calibri" pitchFamily="34" charset="-122"/>
                <a:cs typeface="Calibri" pitchFamily="34" charset="-120"/>
              </a:rPr>
              <a:t>Transfer learning reuses what a model already knows instead of starting over. NLLB has learned Bantu structure from Kikuyu, Kiswahili and others; seeding guz_Latn from kik_Latn hands Ekegusii that knowledge as a starting point. A random embedding gives the decoder no prior at all, and 62,669 pairs is nowhere near enough to learn a language from nothing.</a:t>
            </a:r>
            <a:endParaRPr lang="en-US" sz="1250" dirty="0"/>
          </a:p>
        </p:txBody>
      </p:sp>
      <p:sp>
        <p:nvSpPr>
          <p:cNvPr id="24" name="Text 22"/>
          <p:cNvSpPr/>
          <p:nvPr/>
        </p:nvSpPr>
        <p:spPr>
          <a:xfrm>
            <a:off x="640080" y="5349240"/>
            <a:ext cx="10881360" cy="457200"/>
          </a:xfrm>
          <a:prstGeom prst="rect">
            <a:avLst/>
          </a:prstGeom>
          <a:noFill/>
          <a:ln/>
        </p:spPr>
        <p:txBody>
          <a:bodyPr wrap="square" lIns="0" tIns="0" rIns="0" bIns="0" rtlCol="0" anchor="ctr"/>
          <a:lstStyle/>
          <a:p>
            <a:pPr marL="0" indent="0">
              <a:buNone/>
            </a:pPr>
            <a:r>
              <a:rPr lang="en-US" sz="1300" i="1" dirty="0">
                <a:solidFill>
                  <a:srgbClr val="4B5563"/>
                </a:solidFill>
                <a:latin typeface="Calibri" pitchFamily="34" charset="0"/>
                <a:ea typeface="Calibri" pitchFamily="34" charset="-122"/>
                <a:cs typeface="Calibri" pitchFamily="34" charset="-120"/>
              </a:rPr>
              <a:t>Same initialisation, same data, same seed for every run, so what the experiment compares is the ordering of training.</a:t>
            </a:r>
            <a:endParaRPr lang="en-US" sz="1300" dirty="0"/>
          </a:p>
        </p:txBody>
      </p:sp>
      <p:sp>
        <p:nvSpPr>
          <p:cNvPr id="25" name="Text 23"/>
          <p:cNvSpPr/>
          <p:nvPr/>
        </p:nvSpPr>
        <p:spPr>
          <a:xfrm>
            <a:off x="640080" y="6419088"/>
            <a:ext cx="5486400" cy="256032"/>
          </a:xfrm>
          <a:prstGeom prst="rect">
            <a:avLst/>
          </a:prstGeom>
          <a:noFill/>
          <a:ln/>
        </p:spPr>
        <p:txBody>
          <a:bodyPr wrap="square" lIns="0" tIns="0" rIns="0" bIns="0" rtlCol="0" anchor="ctr"/>
          <a:lstStyle/>
          <a:p>
            <a:pPr marL="0" indent="0">
              <a:buNone/>
            </a:pPr>
            <a:r>
              <a:rPr lang="en-US" sz="950" dirty="0">
                <a:solidFill>
                  <a:srgbClr val="8A919E"/>
                </a:solidFill>
                <a:latin typeface="Calibri" pitchFamily="34" charset="0"/>
                <a:ea typeface="Calibri" pitchFamily="34" charset="-122"/>
                <a:cs typeface="Calibri" pitchFamily="34" charset="-120"/>
              </a:rPr>
              <a:t>Ekegusii NMT · USIU-Africa · 2026</a:t>
            </a:r>
            <a:endParaRPr lang="en-US" sz="950" dirty="0"/>
          </a:p>
        </p:txBody>
      </p:sp>
      <p:sp>
        <p:nvSpPr>
          <p:cNvPr id="26" name="Text 24"/>
          <p:cNvSpPr/>
          <p:nvPr/>
        </p:nvSpPr>
        <p:spPr>
          <a:xfrm>
            <a:off x="10972800" y="6419088"/>
            <a:ext cx="548640" cy="256032"/>
          </a:xfrm>
          <a:prstGeom prst="rect">
            <a:avLst/>
          </a:prstGeom>
          <a:noFill/>
          <a:ln/>
        </p:spPr>
        <p:txBody>
          <a:bodyPr wrap="square" lIns="0" tIns="0" rIns="0" bIns="0" rtlCol="0" anchor="ctr"/>
          <a:lstStyle/>
          <a:p>
            <a:pPr marL="0" indent="0" algn="r">
              <a:buNone/>
            </a:pPr>
            <a:r>
              <a:rPr lang="en-US" sz="950" dirty="0">
                <a:solidFill>
                  <a:srgbClr val="8A919E"/>
                </a:solidFill>
                <a:latin typeface="Calibri" pitchFamily="34" charset="0"/>
                <a:ea typeface="Calibri" pitchFamily="34" charset="-122"/>
                <a:cs typeface="Calibri" pitchFamily="34" charset="-120"/>
              </a:rPr>
              <a:t>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marL="0" indent="0">
              <a:buNone/>
            </a:pPr>
            <a:r>
              <a:rPr lang="en-US" sz="1200" b="1" kern="0" spc="240" dirty="0">
                <a:solidFill>
                  <a:srgbClr val="293D94"/>
                </a:solidFill>
                <a:latin typeface="Calibri" pitchFamily="34" charset="0"/>
                <a:ea typeface="Calibri" pitchFamily="34" charset="-122"/>
                <a:cs typeface="Calibri" pitchFamily="34" charset="-120"/>
              </a:rPr>
              <a:t>METHOD · STEP TWO</a:t>
            </a:r>
            <a:endParaRPr lang="en-US" sz="1200" dirty="0"/>
          </a:p>
        </p:txBody>
      </p:sp>
      <p:sp>
        <p:nvSpPr>
          <p:cNvPr id="3" name="Text 1"/>
          <p:cNvSpPr/>
          <p:nvPr/>
        </p:nvSpPr>
        <p:spPr>
          <a:xfrm>
            <a:off x="640080" y="658368"/>
            <a:ext cx="10881360" cy="658368"/>
          </a:xfrm>
          <a:prstGeom prst="rect">
            <a:avLst/>
          </a:prstGeom>
          <a:noFill/>
          <a:ln/>
        </p:spPr>
        <p:txBody>
          <a:bodyPr wrap="square" lIns="0" tIns="0" rIns="0" bIns="0" rtlCol="0" anchor="t"/>
          <a:lstStyle/>
          <a:p>
            <a:pPr marL="0" indent="0">
              <a:buNone/>
            </a:pPr>
            <a:r>
              <a:rPr lang="en-US" sz="3000" b="1" dirty="0">
                <a:solidFill>
                  <a:srgbClr val="16181D"/>
                </a:solidFill>
                <a:latin typeface="Cambria" pitchFamily="34" charset="0"/>
                <a:ea typeface="Cambria" pitchFamily="34" charset="-122"/>
                <a:cs typeface="Cambria" pitchFamily="34" charset="-120"/>
              </a:rPr>
              <a:t>The hypothesis, and the control that could kill it</a:t>
            </a:r>
            <a:endParaRPr lang="en-US" sz="3000" dirty="0"/>
          </a:p>
        </p:txBody>
      </p:sp>
      <p:sp>
        <p:nvSpPr>
          <p:cNvPr id="4" name="Shape 2"/>
          <p:cNvSpPr/>
          <p:nvPr/>
        </p:nvSpPr>
        <p:spPr>
          <a:xfrm>
            <a:off x="640080" y="1645920"/>
            <a:ext cx="3444240" cy="2148840"/>
          </a:xfrm>
          <a:prstGeom prst="roundRect">
            <a:avLst>
              <a:gd name="adj" fmla="val 3830"/>
            </a:avLst>
          </a:prstGeom>
          <a:solidFill>
            <a:srgbClr val="F1F3F9"/>
          </a:solidFill>
          <a:ln w="12700">
            <a:solidFill>
              <a:srgbClr val="F1F3F9"/>
            </a:solidFill>
            <a:prstDash val="solid"/>
          </a:ln>
        </p:spPr>
      </p:sp>
      <p:sp>
        <p:nvSpPr>
          <p:cNvPr id="5" name="Shape 3"/>
          <p:cNvSpPr/>
          <p:nvPr/>
        </p:nvSpPr>
        <p:spPr>
          <a:xfrm>
            <a:off x="877824" y="1883664"/>
            <a:ext cx="402336" cy="402336"/>
          </a:xfrm>
          <a:prstGeom prst="ellipse">
            <a:avLst/>
          </a:prstGeom>
          <a:solidFill>
            <a:srgbClr val="293D94"/>
          </a:solidFill>
          <a:ln w="12700">
            <a:solidFill>
              <a:srgbClr val="293D94"/>
            </a:solidFill>
            <a:prstDash val="solid"/>
          </a:ln>
        </p:spPr>
      </p:sp>
      <p:sp>
        <p:nvSpPr>
          <p:cNvPr id="6" name="Text 4"/>
          <p:cNvSpPr/>
          <p:nvPr/>
        </p:nvSpPr>
        <p:spPr>
          <a:xfrm>
            <a:off x="877824" y="1883664"/>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7" name="Text 5"/>
          <p:cNvSpPr/>
          <p:nvPr/>
        </p:nvSpPr>
        <p:spPr>
          <a:xfrm>
            <a:off x="1426464" y="1865376"/>
            <a:ext cx="2383536" cy="292608"/>
          </a:xfrm>
          <a:prstGeom prst="rect">
            <a:avLst/>
          </a:prstGeom>
          <a:noFill/>
          <a:ln/>
        </p:spPr>
        <p:txBody>
          <a:bodyPr wrap="square" lIns="0" tIns="0" rIns="0" bIns="0" rtlCol="0" anchor="ctr"/>
          <a:lstStyle/>
          <a:p>
            <a:pPr marL="0" indent="0">
              <a:buNone/>
            </a:pPr>
            <a:r>
              <a:rPr lang="en-US" sz="1500" b="1" dirty="0">
                <a:solidFill>
                  <a:srgbClr val="16181D"/>
                </a:solidFill>
                <a:latin typeface="Calibri" pitchFamily="34" charset="0"/>
                <a:ea typeface="Calibri" pitchFamily="34" charset="-122"/>
                <a:cs typeface="Calibri" pitchFamily="34" charset="-120"/>
              </a:rPr>
              <a:t>Stage 1: learn the language</a:t>
            </a:r>
            <a:endParaRPr lang="en-US" sz="1500" dirty="0"/>
          </a:p>
        </p:txBody>
      </p:sp>
      <p:sp>
        <p:nvSpPr>
          <p:cNvPr id="8" name="Text 6"/>
          <p:cNvSpPr/>
          <p:nvPr/>
        </p:nvSpPr>
        <p:spPr>
          <a:xfrm>
            <a:off x="1426464" y="2194560"/>
            <a:ext cx="2383536" cy="1399032"/>
          </a:xfrm>
          <a:prstGeom prst="rect">
            <a:avLst/>
          </a:prstGeom>
          <a:noFill/>
          <a:ln/>
        </p:spPr>
        <p:txBody>
          <a:bodyPr wrap="square" lIns="0" tIns="0" rIns="0" bIns="0" rtlCol="0" anchor="t"/>
          <a:lstStyle/>
          <a:p>
            <a:pPr marL="0" indent="0">
              <a:lnSpc>
                <a:spcPct val="112000"/>
              </a:lnSpc>
              <a:buNone/>
            </a:pPr>
            <a:r>
              <a:rPr lang="en-US" sz="1250" dirty="0">
                <a:solidFill>
                  <a:srgbClr val="4B5563"/>
                </a:solidFill>
                <a:latin typeface="Calibri" pitchFamily="34" charset="0"/>
                <a:ea typeface="Calibri" pitchFamily="34" charset="-122"/>
                <a:cs typeface="Calibri" pitchFamily="34" charset="-120"/>
              </a:rPr>
              <a:t>57,000 examples of Bible, storybooks and everyday sentences. The model learns Ekegusii. It has never seen a public notice.</a:t>
            </a:r>
            <a:endParaRPr lang="en-US" sz="1250" dirty="0"/>
          </a:p>
        </p:txBody>
      </p:sp>
      <p:sp>
        <p:nvSpPr>
          <p:cNvPr id="9" name="Shape 7"/>
          <p:cNvSpPr/>
          <p:nvPr/>
        </p:nvSpPr>
        <p:spPr>
          <a:xfrm>
            <a:off x="4358640" y="1645920"/>
            <a:ext cx="3444240" cy="2148840"/>
          </a:xfrm>
          <a:prstGeom prst="roundRect">
            <a:avLst>
              <a:gd name="adj" fmla="val 3830"/>
            </a:avLst>
          </a:prstGeom>
          <a:solidFill>
            <a:srgbClr val="F1F3F9"/>
          </a:solidFill>
          <a:ln w="12700">
            <a:solidFill>
              <a:srgbClr val="F1F3F9"/>
            </a:solidFill>
            <a:prstDash val="solid"/>
          </a:ln>
        </p:spPr>
      </p:sp>
      <p:sp>
        <p:nvSpPr>
          <p:cNvPr id="10" name="Shape 8"/>
          <p:cNvSpPr/>
          <p:nvPr/>
        </p:nvSpPr>
        <p:spPr>
          <a:xfrm>
            <a:off x="4596384" y="1883664"/>
            <a:ext cx="402336" cy="402336"/>
          </a:xfrm>
          <a:prstGeom prst="ellipse">
            <a:avLst/>
          </a:prstGeom>
          <a:solidFill>
            <a:srgbClr val="293D94"/>
          </a:solidFill>
          <a:ln w="12700">
            <a:solidFill>
              <a:srgbClr val="293D94"/>
            </a:solidFill>
            <a:prstDash val="solid"/>
          </a:ln>
        </p:spPr>
      </p:sp>
      <p:sp>
        <p:nvSpPr>
          <p:cNvPr id="11" name="Text 9"/>
          <p:cNvSpPr/>
          <p:nvPr/>
        </p:nvSpPr>
        <p:spPr>
          <a:xfrm>
            <a:off x="4596384" y="1883664"/>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2" name="Text 10"/>
          <p:cNvSpPr/>
          <p:nvPr/>
        </p:nvSpPr>
        <p:spPr>
          <a:xfrm>
            <a:off x="5145024" y="1865376"/>
            <a:ext cx="2383536" cy="292608"/>
          </a:xfrm>
          <a:prstGeom prst="rect">
            <a:avLst/>
          </a:prstGeom>
          <a:noFill/>
          <a:ln/>
        </p:spPr>
        <p:txBody>
          <a:bodyPr wrap="square" lIns="0" tIns="0" rIns="0" bIns="0" rtlCol="0" anchor="ctr"/>
          <a:lstStyle/>
          <a:p>
            <a:pPr marL="0" indent="0">
              <a:buNone/>
            </a:pPr>
            <a:r>
              <a:rPr lang="en-US" sz="1500" b="1" dirty="0">
                <a:solidFill>
                  <a:srgbClr val="16181D"/>
                </a:solidFill>
                <a:latin typeface="Calibri" pitchFamily="34" charset="0"/>
                <a:ea typeface="Calibri" pitchFamily="34" charset="-122"/>
                <a:cs typeface="Calibri" pitchFamily="34" charset="-120"/>
              </a:rPr>
              <a:t>Stage 2: learn the register</a:t>
            </a:r>
            <a:endParaRPr lang="en-US" sz="1500" dirty="0"/>
          </a:p>
        </p:txBody>
      </p:sp>
      <p:sp>
        <p:nvSpPr>
          <p:cNvPr id="13" name="Text 11"/>
          <p:cNvSpPr/>
          <p:nvPr/>
        </p:nvSpPr>
        <p:spPr>
          <a:xfrm>
            <a:off x="5145024" y="2194560"/>
            <a:ext cx="2383536" cy="1399032"/>
          </a:xfrm>
          <a:prstGeom prst="rect">
            <a:avLst/>
          </a:prstGeom>
          <a:noFill/>
          <a:ln/>
        </p:spPr>
        <p:txBody>
          <a:bodyPr wrap="square" lIns="0" tIns="0" rIns="0" bIns="0" rtlCol="0" anchor="t"/>
          <a:lstStyle/>
          <a:p>
            <a:pPr marL="0" indent="0">
              <a:lnSpc>
                <a:spcPct val="112000"/>
              </a:lnSpc>
              <a:buNone/>
            </a:pPr>
            <a:r>
              <a:rPr lang="en-US" sz="1250" dirty="0">
                <a:solidFill>
                  <a:srgbClr val="4B5563"/>
                </a:solidFill>
                <a:latin typeface="Calibri" pitchFamily="34" charset="0"/>
                <a:ea typeface="Calibri" pitchFamily="34" charset="-122"/>
                <a:cs typeface="Calibri" pitchFamily="34" charset="-120"/>
              </a:rPr>
              <a:t>Continue from stage 1 on 30,000 examples: real PSAs upsampled four times, with 25% scripture replayed to prevent the model forgetting what stage 1 taught it.</a:t>
            </a:r>
            <a:endParaRPr lang="en-US" sz="1250" dirty="0"/>
          </a:p>
        </p:txBody>
      </p:sp>
      <p:sp>
        <p:nvSpPr>
          <p:cNvPr id="14" name="Shape 12"/>
          <p:cNvSpPr/>
          <p:nvPr/>
        </p:nvSpPr>
        <p:spPr>
          <a:xfrm>
            <a:off x="8077200" y="1645920"/>
            <a:ext cx="3444240" cy="2148840"/>
          </a:xfrm>
          <a:prstGeom prst="roundRect">
            <a:avLst>
              <a:gd name="adj" fmla="val 3830"/>
            </a:avLst>
          </a:prstGeom>
          <a:solidFill>
            <a:srgbClr val="FFF7DE"/>
          </a:solidFill>
          <a:ln w="12700">
            <a:solidFill>
              <a:srgbClr val="FFF7DE"/>
            </a:solidFill>
            <a:prstDash val="solid"/>
          </a:ln>
        </p:spPr>
      </p:sp>
      <p:sp>
        <p:nvSpPr>
          <p:cNvPr id="15" name="Shape 13"/>
          <p:cNvSpPr/>
          <p:nvPr/>
        </p:nvSpPr>
        <p:spPr>
          <a:xfrm>
            <a:off x="8314944" y="1883664"/>
            <a:ext cx="402336" cy="402336"/>
          </a:xfrm>
          <a:prstGeom prst="ellipse">
            <a:avLst/>
          </a:prstGeom>
          <a:solidFill>
            <a:srgbClr val="FFCA08"/>
          </a:solidFill>
          <a:ln w="12700">
            <a:solidFill>
              <a:srgbClr val="FFCA08"/>
            </a:solidFill>
            <a:prstDash val="solid"/>
          </a:ln>
        </p:spPr>
      </p:sp>
      <p:sp>
        <p:nvSpPr>
          <p:cNvPr id="16" name="Text 14"/>
          <p:cNvSpPr/>
          <p:nvPr/>
        </p:nvSpPr>
        <p:spPr>
          <a:xfrm>
            <a:off x="8314944" y="1883664"/>
            <a:ext cx="402336" cy="402336"/>
          </a:xfrm>
          <a:prstGeom prst="rect">
            <a:avLst/>
          </a:prstGeom>
          <a:noFill/>
          <a:ln/>
        </p:spPr>
        <p:txBody>
          <a:bodyPr wrap="square" lIns="0" tIns="0" rIns="0" bIns="0" rtlCol="0" anchor="ctr"/>
          <a:lstStyle/>
          <a:p>
            <a:pPr marL="0" indent="0" algn="ctr">
              <a:buNone/>
            </a:pPr>
            <a:r>
              <a:rPr lang="en-US" sz="1300" b="1" dirty="0">
                <a:solidFill>
                  <a:srgbClr val="16181D"/>
                </a:solidFill>
                <a:latin typeface="Calibri" pitchFamily="34" charset="0"/>
                <a:ea typeface="Calibri" pitchFamily="34" charset="-122"/>
                <a:cs typeface="Calibri" pitchFamily="34" charset="-120"/>
              </a:rPr>
              <a:t>C</a:t>
            </a:r>
            <a:endParaRPr lang="en-US" sz="1300" dirty="0"/>
          </a:p>
        </p:txBody>
      </p:sp>
      <p:sp>
        <p:nvSpPr>
          <p:cNvPr id="17" name="Text 15"/>
          <p:cNvSpPr/>
          <p:nvPr/>
        </p:nvSpPr>
        <p:spPr>
          <a:xfrm>
            <a:off x="8863584" y="1865376"/>
            <a:ext cx="2383536" cy="292608"/>
          </a:xfrm>
          <a:prstGeom prst="rect">
            <a:avLst/>
          </a:prstGeom>
          <a:noFill/>
          <a:ln/>
        </p:spPr>
        <p:txBody>
          <a:bodyPr wrap="square" lIns="0" tIns="0" rIns="0" bIns="0" rtlCol="0" anchor="ctr"/>
          <a:lstStyle/>
          <a:p>
            <a:pPr marL="0" indent="0">
              <a:buNone/>
            </a:pPr>
            <a:r>
              <a:rPr lang="en-US" sz="1500" b="1" dirty="0">
                <a:solidFill>
                  <a:srgbClr val="16181D"/>
                </a:solidFill>
                <a:latin typeface="Calibri" pitchFamily="34" charset="0"/>
                <a:ea typeface="Calibri" pitchFamily="34" charset="-122"/>
                <a:cs typeface="Calibri" pitchFamily="34" charset="-120"/>
              </a:rPr>
              <a:t>Control: everything at once</a:t>
            </a:r>
            <a:endParaRPr lang="en-US" sz="1500" dirty="0"/>
          </a:p>
        </p:txBody>
      </p:sp>
      <p:sp>
        <p:nvSpPr>
          <p:cNvPr id="18" name="Text 16"/>
          <p:cNvSpPr/>
          <p:nvPr/>
        </p:nvSpPr>
        <p:spPr>
          <a:xfrm>
            <a:off x="8863584" y="2194560"/>
            <a:ext cx="2383536" cy="1399032"/>
          </a:xfrm>
          <a:prstGeom prst="rect">
            <a:avLst/>
          </a:prstGeom>
          <a:noFill/>
          <a:ln/>
        </p:spPr>
        <p:txBody>
          <a:bodyPr wrap="square" lIns="0" tIns="0" rIns="0" bIns="0" rtlCol="0" anchor="t"/>
          <a:lstStyle/>
          <a:p>
            <a:pPr marL="0" indent="0">
              <a:lnSpc>
                <a:spcPct val="112000"/>
              </a:lnSpc>
              <a:buNone/>
            </a:pPr>
            <a:r>
              <a:rPr lang="en-US" sz="1250" dirty="0">
                <a:solidFill>
                  <a:srgbClr val="4B5563"/>
                </a:solidFill>
                <a:latin typeface="Calibri" pitchFamily="34" charset="0"/>
                <a:ea typeface="Calibri" pitchFamily="34" charset="-122"/>
                <a:cs typeface="Calibri" pitchFamily="34" charset="-120"/>
              </a:rPr>
              <a:t>The same 79,745 training examples in a single pass, no ordering. Exists solely to answer: was the curriculum worth anything?</a:t>
            </a:r>
            <a:endParaRPr lang="en-US" sz="1250" dirty="0"/>
          </a:p>
        </p:txBody>
      </p:sp>
      <p:sp>
        <p:nvSpPr>
          <p:cNvPr id="19" name="Shape 17"/>
          <p:cNvSpPr/>
          <p:nvPr/>
        </p:nvSpPr>
        <p:spPr>
          <a:xfrm>
            <a:off x="640080" y="4023360"/>
            <a:ext cx="10881360" cy="1417320"/>
          </a:xfrm>
          <a:prstGeom prst="roundRect">
            <a:avLst>
              <a:gd name="adj" fmla="val 5806"/>
            </a:avLst>
          </a:prstGeom>
          <a:solidFill>
            <a:srgbClr val="F1F3F9"/>
          </a:solidFill>
          <a:ln w="12700">
            <a:solidFill>
              <a:srgbClr val="F1F3F9"/>
            </a:solidFill>
            <a:prstDash val="solid"/>
          </a:ln>
        </p:spPr>
      </p:sp>
      <p:sp>
        <p:nvSpPr>
          <p:cNvPr id="20" name="Shape 18"/>
          <p:cNvSpPr/>
          <p:nvPr/>
        </p:nvSpPr>
        <p:spPr>
          <a:xfrm>
            <a:off x="877824" y="4261104"/>
            <a:ext cx="402336" cy="402336"/>
          </a:xfrm>
          <a:prstGeom prst="ellipse">
            <a:avLst/>
          </a:prstGeom>
          <a:solidFill>
            <a:srgbClr val="293D94"/>
          </a:solidFill>
          <a:ln w="12700">
            <a:solidFill>
              <a:srgbClr val="293D94"/>
            </a:solidFill>
            <a:prstDash val="solid"/>
          </a:ln>
        </p:spPr>
      </p:sp>
      <p:sp>
        <p:nvSpPr>
          <p:cNvPr id="21" name="Text 19"/>
          <p:cNvSpPr/>
          <p:nvPr/>
        </p:nvSpPr>
        <p:spPr>
          <a:xfrm>
            <a:off x="877824" y="4261104"/>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2" name="Text 20"/>
          <p:cNvSpPr/>
          <p:nvPr/>
        </p:nvSpPr>
        <p:spPr>
          <a:xfrm>
            <a:off x="1426464" y="4242816"/>
            <a:ext cx="9820656" cy="292608"/>
          </a:xfrm>
          <a:prstGeom prst="rect">
            <a:avLst/>
          </a:prstGeom>
          <a:noFill/>
          <a:ln/>
        </p:spPr>
        <p:txBody>
          <a:bodyPr wrap="square" lIns="0" tIns="0" rIns="0" bIns="0" rtlCol="0" anchor="ctr"/>
          <a:lstStyle/>
          <a:p>
            <a:pPr marL="0" indent="0">
              <a:buNone/>
            </a:pPr>
            <a:r>
              <a:rPr lang="en-US" sz="1500" b="1" dirty="0">
                <a:solidFill>
                  <a:srgbClr val="16181D"/>
                </a:solidFill>
                <a:latin typeface="Calibri" pitchFamily="34" charset="0"/>
                <a:ea typeface="Calibri" pitchFamily="34" charset="-122"/>
                <a:cs typeface="Calibri" pitchFamily="34" charset="-120"/>
              </a:rPr>
              <a:t>The control</a:t>
            </a:r>
            <a:endParaRPr lang="en-US" sz="1500" dirty="0"/>
          </a:p>
        </p:txBody>
      </p:sp>
      <p:sp>
        <p:nvSpPr>
          <p:cNvPr id="23" name="Text 21"/>
          <p:cNvSpPr/>
          <p:nvPr/>
        </p:nvSpPr>
        <p:spPr>
          <a:xfrm>
            <a:off x="1426464" y="4572000"/>
            <a:ext cx="9820656" cy="667512"/>
          </a:xfrm>
          <a:prstGeom prst="rect">
            <a:avLst/>
          </a:prstGeom>
          <a:noFill/>
          <a:ln/>
        </p:spPr>
        <p:txBody>
          <a:bodyPr wrap="square" lIns="0" tIns="0" rIns="0" bIns="0" rtlCol="0" anchor="t"/>
          <a:lstStyle/>
          <a:p>
            <a:pPr marL="0" indent="0">
              <a:lnSpc>
                <a:spcPct val="112000"/>
              </a:lnSpc>
              <a:buNone/>
            </a:pPr>
            <a:r>
              <a:rPr lang="en-US" sz="1250" dirty="0">
                <a:solidFill>
                  <a:srgbClr val="4B5563"/>
                </a:solidFill>
                <a:latin typeface="Calibri" pitchFamily="34" charset="0"/>
                <a:ea typeface="Calibri" pitchFamily="34" charset="-122"/>
                <a:cs typeface="Calibri" pitchFamily="34" charset="-120"/>
              </a:rPr>
              <a:t>Without run C, the two-stage curriculum improved PSA translation by 11 chrF2++, the gain could come entirely from seeing PSA data at all, in any order. </a:t>
            </a:r>
            <a:endParaRPr lang="en-US" sz="1250" dirty="0"/>
          </a:p>
        </p:txBody>
      </p:sp>
      <p:sp>
        <p:nvSpPr>
          <p:cNvPr id="24" name="Text 22"/>
          <p:cNvSpPr/>
          <p:nvPr/>
        </p:nvSpPr>
        <p:spPr>
          <a:xfrm>
            <a:off x="640080" y="6419088"/>
            <a:ext cx="5486400" cy="256032"/>
          </a:xfrm>
          <a:prstGeom prst="rect">
            <a:avLst/>
          </a:prstGeom>
          <a:noFill/>
          <a:ln/>
        </p:spPr>
        <p:txBody>
          <a:bodyPr wrap="square" lIns="0" tIns="0" rIns="0" bIns="0" rtlCol="0" anchor="ctr"/>
          <a:lstStyle/>
          <a:p>
            <a:pPr marL="0" indent="0">
              <a:buNone/>
            </a:pPr>
            <a:r>
              <a:rPr lang="en-US" sz="950" dirty="0">
                <a:solidFill>
                  <a:srgbClr val="8A919E"/>
                </a:solidFill>
                <a:latin typeface="Calibri" pitchFamily="34" charset="0"/>
                <a:ea typeface="Calibri" pitchFamily="34" charset="-122"/>
                <a:cs typeface="Calibri" pitchFamily="34" charset="-120"/>
              </a:rPr>
              <a:t>Ekegusii NMT · USIU-Africa · 2026</a:t>
            </a:r>
            <a:endParaRPr lang="en-US" sz="950" dirty="0"/>
          </a:p>
        </p:txBody>
      </p:sp>
      <p:sp>
        <p:nvSpPr>
          <p:cNvPr id="25" name="Text 23"/>
          <p:cNvSpPr/>
          <p:nvPr/>
        </p:nvSpPr>
        <p:spPr>
          <a:xfrm>
            <a:off x="10972800" y="6419088"/>
            <a:ext cx="548640" cy="256032"/>
          </a:xfrm>
          <a:prstGeom prst="rect">
            <a:avLst/>
          </a:prstGeom>
          <a:noFill/>
          <a:ln/>
        </p:spPr>
        <p:txBody>
          <a:bodyPr wrap="square" lIns="0" tIns="0" rIns="0" bIns="0" rtlCol="0" anchor="ctr"/>
          <a:lstStyle/>
          <a:p>
            <a:pPr marL="0" indent="0" algn="r">
              <a:buNone/>
            </a:pPr>
            <a:r>
              <a:rPr lang="en-US" sz="950" dirty="0">
                <a:solidFill>
                  <a:srgbClr val="8A919E"/>
                </a:solidFill>
                <a:latin typeface="Calibri" pitchFamily="34" charset="0"/>
                <a:ea typeface="Calibri" pitchFamily="34" charset="-122"/>
                <a:cs typeface="Calibri" pitchFamily="34" charset="-120"/>
              </a:rPr>
              <a:t>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marL="0" indent="0">
              <a:buNone/>
            </a:pPr>
            <a:r>
              <a:rPr lang="en-US" sz="1200" b="1" kern="0" spc="240" dirty="0">
                <a:solidFill>
                  <a:srgbClr val="293D94"/>
                </a:solidFill>
                <a:latin typeface="Calibri" pitchFamily="34" charset="0"/>
                <a:ea typeface="Calibri" pitchFamily="34" charset="-122"/>
                <a:cs typeface="Calibri" pitchFamily="34" charset="-120"/>
              </a:rPr>
              <a:t>EVALUATION</a:t>
            </a:r>
            <a:endParaRPr lang="en-US" sz="1200" dirty="0"/>
          </a:p>
        </p:txBody>
      </p:sp>
      <p:sp>
        <p:nvSpPr>
          <p:cNvPr id="3" name="Text 1"/>
          <p:cNvSpPr/>
          <p:nvPr/>
        </p:nvSpPr>
        <p:spPr>
          <a:xfrm>
            <a:off x="640080" y="658368"/>
            <a:ext cx="10881360" cy="658368"/>
          </a:xfrm>
          <a:prstGeom prst="rect">
            <a:avLst/>
          </a:prstGeom>
          <a:noFill/>
          <a:ln/>
        </p:spPr>
        <p:txBody>
          <a:bodyPr wrap="square" lIns="0" tIns="0" rIns="0" bIns="0" rtlCol="0" anchor="t"/>
          <a:lstStyle/>
          <a:p>
            <a:pPr marL="0" indent="0">
              <a:buNone/>
            </a:pPr>
            <a:r>
              <a:rPr lang="en-US" sz="3000" b="1" dirty="0">
                <a:solidFill>
                  <a:srgbClr val="16181D"/>
                </a:solidFill>
                <a:latin typeface="Cambria" pitchFamily="34" charset="0"/>
                <a:ea typeface="Cambria" pitchFamily="34" charset="-122"/>
                <a:cs typeface="Cambria" pitchFamily="34" charset="-120"/>
              </a:rPr>
              <a:t>Why chrF2++, and why BLEU would have misled us</a:t>
            </a:r>
            <a:endParaRPr lang="en-US" sz="3000" dirty="0"/>
          </a:p>
        </p:txBody>
      </p:sp>
      <p:sp>
        <p:nvSpPr>
          <p:cNvPr id="4" name="Shape 2"/>
          <p:cNvSpPr/>
          <p:nvPr/>
        </p:nvSpPr>
        <p:spPr>
          <a:xfrm>
            <a:off x="640080" y="1645920"/>
            <a:ext cx="5303520" cy="2011680"/>
          </a:xfrm>
          <a:prstGeom prst="roundRect">
            <a:avLst>
              <a:gd name="adj" fmla="val 4091"/>
            </a:avLst>
          </a:prstGeom>
          <a:solidFill>
            <a:srgbClr val="FFF7DE"/>
          </a:solidFill>
          <a:ln w="12700">
            <a:solidFill>
              <a:srgbClr val="FFF7DE"/>
            </a:solidFill>
            <a:prstDash val="solid"/>
          </a:ln>
        </p:spPr>
      </p:sp>
      <p:sp>
        <p:nvSpPr>
          <p:cNvPr id="5" name="Shape 3"/>
          <p:cNvSpPr/>
          <p:nvPr/>
        </p:nvSpPr>
        <p:spPr>
          <a:xfrm>
            <a:off x="877824" y="1883664"/>
            <a:ext cx="402336" cy="402336"/>
          </a:xfrm>
          <a:prstGeom prst="ellipse">
            <a:avLst/>
          </a:prstGeom>
          <a:solidFill>
            <a:srgbClr val="FFCA08"/>
          </a:solidFill>
          <a:ln w="12700">
            <a:solidFill>
              <a:srgbClr val="FFCA08"/>
            </a:solidFill>
            <a:prstDash val="solid"/>
          </a:ln>
        </p:spPr>
      </p:sp>
      <p:sp>
        <p:nvSpPr>
          <p:cNvPr id="6" name="Text 4"/>
          <p:cNvSpPr/>
          <p:nvPr/>
        </p:nvSpPr>
        <p:spPr>
          <a:xfrm>
            <a:off x="877824" y="1883664"/>
            <a:ext cx="402336" cy="402336"/>
          </a:xfrm>
          <a:prstGeom prst="rect">
            <a:avLst/>
          </a:prstGeom>
          <a:noFill/>
          <a:ln/>
        </p:spPr>
        <p:txBody>
          <a:bodyPr wrap="square" lIns="0" tIns="0" rIns="0" bIns="0" rtlCol="0" anchor="ctr"/>
          <a:lstStyle/>
          <a:p>
            <a:pPr marL="0" indent="0" algn="ctr">
              <a:buNone/>
            </a:pPr>
            <a:r>
              <a:rPr lang="en-US" sz="1300" b="1" dirty="0">
                <a:solidFill>
                  <a:srgbClr val="16181D"/>
                </a:solidFill>
                <a:latin typeface="Calibri" pitchFamily="34" charset="0"/>
                <a:ea typeface="Calibri" pitchFamily="34" charset="-122"/>
                <a:cs typeface="Calibri" pitchFamily="34" charset="-120"/>
              </a:rPr>
              <a:t>✕</a:t>
            </a:r>
            <a:endParaRPr lang="en-US" sz="1300" dirty="0"/>
          </a:p>
        </p:txBody>
      </p:sp>
      <p:sp>
        <p:nvSpPr>
          <p:cNvPr id="7" name="Text 5"/>
          <p:cNvSpPr/>
          <p:nvPr/>
        </p:nvSpPr>
        <p:spPr>
          <a:xfrm>
            <a:off x="1426464" y="1865376"/>
            <a:ext cx="4242816" cy="292608"/>
          </a:xfrm>
          <a:prstGeom prst="rect">
            <a:avLst/>
          </a:prstGeom>
          <a:noFill/>
          <a:ln/>
        </p:spPr>
        <p:txBody>
          <a:bodyPr wrap="square" lIns="0" tIns="0" rIns="0" bIns="0" rtlCol="0" anchor="ctr"/>
          <a:lstStyle/>
          <a:p>
            <a:pPr marL="0" indent="0">
              <a:buNone/>
            </a:pPr>
            <a:r>
              <a:rPr lang="en-US" sz="1500" b="1" dirty="0">
                <a:solidFill>
                  <a:srgbClr val="16181D"/>
                </a:solidFill>
                <a:latin typeface="Calibri" pitchFamily="34" charset="0"/>
                <a:ea typeface="Calibri" pitchFamily="34" charset="-122"/>
                <a:cs typeface="Calibri" pitchFamily="34" charset="-120"/>
              </a:rPr>
              <a:t>BLEU counts whole words</a:t>
            </a:r>
            <a:endParaRPr lang="en-US" sz="1500" dirty="0"/>
          </a:p>
        </p:txBody>
      </p:sp>
      <p:sp>
        <p:nvSpPr>
          <p:cNvPr id="8" name="Text 6"/>
          <p:cNvSpPr/>
          <p:nvPr/>
        </p:nvSpPr>
        <p:spPr>
          <a:xfrm>
            <a:off x="1426464" y="2194560"/>
            <a:ext cx="4242816" cy="1261872"/>
          </a:xfrm>
          <a:prstGeom prst="rect">
            <a:avLst/>
          </a:prstGeom>
          <a:noFill/>
          <a:ln/>
        </p:spPr>
        <p:txBody>
          <a:bodyPr wrap="square" lIns="0" tIns="0" rIns="0" bIns="0" rtlCol="0" anchor="t"/>
          <a:lstStyle/>
          <a:p>
            <a:pPr marL="0" indent="0">
              <a:lnSpc>
                <a:spcPct val="112000"/>
              </a:lnSpc>
              <a:buNone/>
            </a:pPr>
            <a:r>
              <a:rPr lang="en-US" sz="1250" dirty="0">
                <a:solidFill>
                  <a:srgbClr val="4B5563"/>
                </a:solidFill>
                <a:latin typeface="Calibri" pitchFamily="34" charset="0"/>
                <a:ea typeface="Calibri" pitchFamily="34" charset="-122"/>
                <a:cs typeface="Calibri" pitchFamily="34" charset="-120"/>
              </a:rPr>
              <a:t>Ekegusii is agglutinative: subject, tense, object and negation attach to a verb stem, so one word carries what English spreads over five. Get the stem right and one affix wrong and BLEU scores that word zero, a near-perfect translation reads as a failure.</a:t>
            </a:r>
            <a:endParaRPr lang="en-US" sz="1250" dirty="0"/>
          </a:p>
        </p:txBody>
      </p:sp>
      <p:sp>
        <p:nvSpPr>
          <p:cNvPr id="9" name="Shape 7"/>
          <p:cNvSpPr/>
          <p:nvPr/>
        </p:nvSpPr>
        <p:spPr>
          <a:xfrm>
            <a:off x="6217920" y="1645920"/>
            <a:ext cx="5303520" cy="2011680"/>
          </a:xfrm>
          <a:prstGeom prst="roundRect">
            <a:avLst>
              <a:gd name="adj" fmla="val 4091"/>
            </a:avLst>
          </a:prstGeom>
          <a:solidFill>
            <a:srgbClr val="F1F3F9"/>
          </a:solidFill>
          <a:ln w="12700">
            <a:solidFill>
              <a:srgbClr val="F1F3F9"/>
            </a:solidFill>
            <a:prstDash val="solid"/>
          </a:ln>
        </p:spPr>
      </p:sp>
      <p:sp>
        <p:nvSpPr>
          <p:cNvPr id="10" name="Shape 8"/>
          <p:cNvSpPr/>
          <p:nvPr/>
        </p:nvSpPr>
        <p:spPr>
          <a:xfrm>
            <a:off x="6455664" y="1883664"/>
            <a:ext cx="402336" cy="402336"/>
          </a:xfrm>
          <a:prstGeom prst="ellipse">
            <a:avLst/>
          </a:prstGeom>
          <a:solidFill>
            <a:srgbClr val="293D94"/>
          </a:solidFill>
          <a:ln w="12700">
            <a:solidFill>
              <a:srgbClr val="293D94"/>
            </a:solidFill>
            <a:prstDash val="solid"/>
          </a:ln>
        </p:spPr>
      </p:sp>
      <p:sp>
        <p:nvSpPr>
          <p:cNvPr id="11" name="Text 9"/>
          <p:cNvSpPr/>
          <p:nvPr/>
        </p:nvSpPr>
        <p:spPr>
          <a:xfrm>
            <a:off x="6455664" y="1883664"/>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2" name="Text 10"/>
          <p:cNvSpPr/>
          <p:nvPr/>
        </p:nvSpPr>
        <p:spPr>
          <a:xfrm>
            <a:off x="7004304" y="1865376"/>
            <a:ext cx="4242816" cy="292608"/>
          </a:xfrm>
          <a:prstGeom prst="rect">
            <a:avLst/>
          </a:prstGeom>
          <a:noFill/>
          <a:ln/>
        </p:spPr>
        <p:txBody>
          <a:bodyPr wrap="square" lIns="0" tIns="0" rIns="0" bIns="0" rtlCol="0" anchor="ctr"/>
          <a:lstStyle/>
          <a:p>
            <a:pPr marL="0" indent="0">
              <a:buNone/>
            </a:pPr>
            <a:r>
              <a:rPr lang="en-US" sz="1500" b="1" dirty="0">
                <a:solidFill>
                  <a:srgbClr val="16181D"/>
                </a:solidFill>
                <a:latin typeface="Calibri" pitchFamily="34" charset="0"/>
                <a:ea typeface="Calibri" pitchFamily="34" charset="-122"/>
                <a:cs typeface="Calibri" pitchFamily="34" charset="-120"/>
              </a:rPr>
              <a:t>chrF2++ counts character n-grams</a:t>
            </a:r>
            <a:endParaRPr lang="en-US" sz="1500" dirty="0"/>
          </a:p>
        </p:txBody>
      </p:sp>
      <p:sp>
        <p:nvSpPr>
          <p:cNvPr id="13" name="Text 11"/>
          <p:cNvSpPr/>
          <p:nvPr/>
        </p:nvSpPr>
        <p:spPr>
          <a:xfrm>
            <a:off x="7004304" y="2194560"/>
            <a:ext cx="4242816" cy="1261872"/>
          </a:xfrm>
          <a:prstGeom prst="rect">
            <a:avLst/>
          </a:prstGeom>
          <a:noFill/>
          <a:ln/>
        </p:spPr>
        <p:txBody>
          <a:bodyPr wrap="square" lIns="0" tIns="0" rIns="0" bIns="0" rtlCol="0" anchor="t"/>
          <a:lstStyle/>
          <a:p>
            <a:pPr marL="0" indent="0">
              <a:lnSpc>
                <a:spcPct val="112000"/>
              </a:lnSpc>
              <a:buNone/>
            </a:pPr>
            <a:r>
              <a:rPr lang="en-US" sz="1250" dirty="0">
                <a:solidFill>
                  <a:srgbClr val="4B5563"/>
                </a:solidFill>
                <a:latin typeface="Calibri" pitchFamily="34" charset="0"/>
                <a:ea typeface="Calibri" pitchFamily="34" charset="-122"/>
                <a:cs typeface="Calibri" pitchFamily="34" charset="-120"/>
              </a:rPr>
              <a:t>It scores overlapping character sequences, plus word unigrams and bigrams. A correct stem with an imperfect affix earns most of the credit it deserves, which is what a human rater would also give it.</a:t>
            </a:r>
            <a:endParaRPr lang="en-US" sz="1250" dirty="0"/>
          </a:p>
        </p:txBody>
      </p:sp>
      <p:sp>
        <p:nvSpPr>
          <p:cNvPr id="14" name="Text 12"/>
          <p:cNvSpPr/>
          <p:nvPr/>
        </p:nvSpPr>
        <p:spPr>
          <a:xfrm>
            <a:off x="640080" y="3913632"/>
            <a:ext cx="10881360" cy="274320"/>
          </a:xfrm>
          <a:prstGeom prst="rect">
            <a:avLst/>
          </a:prstGeom>
          <a:noFill/>
          <a:ln/>
        </p:spPr>
        <p:txBody>
          <a:bodyPr wrap="square" lIns="0" tIns="0" rIns="0" bIns="0" rtlCol="0" anchor="ctr"/>
          <a:lstStyle/>
          <a:p>
            <a:pPr marL="0" indent="0">
              <a:buNone/>
            </a:pPr>
            <a:r>
              <a:rPr lang="en-US" sz="1300" b="1" dirty="0">
                <a:solidFill>
                  <a:srgbClr val="16181D"/>
                </a:solidFill>
                <a:latin typeface="Calibri" pitchFamily="34" charset="0"/>
                <a:ea typeface="Calibri" pitchFamily="34" charset="-122"/>
                <a:cs typeface="Calibri" pitchFamily="34" charset="-120"/>
              </a:rPr>
              <a:t>What that looks like in our results, English into Ekegusii on real PSAs:</a:t>
            </a:r>
            <a:endParaRPr lang="en-US" sz="13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40080" y="4261104"/>
          <a:ext cx="10881360" cy="1463040"/>
        </p:xfrm>
        <a:graphic>
          <a:graphicData uri="http://schemas.openxmlformats.org/drawingml/2006/table">
            <a:tbl>
              <a:tblPr/>
              <a:tblGrid>
                <a:gridCol w="265176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6035040">
                  <a:extLst>
                    <a:ext uri="{9D8B030D-6E8A-4147-A177-3AD203B41FA5}">
                      <a16:colId xmlns:a16="http://schemas.microsoft.com/office/drawing/2014/main" val="20003"/>
                    </a:ext>
                  </a:extLst>
                </a:gridCol>
              </a:tblGrid>
              <a:tr h="292608">
                <a:tc>
                  <a:txBody>
                    <a:bodyPr/>
                    <a:lstStyle/>
                    <a:p>
                      <a:pPr marL="0" indent="0">
                        <a:buNone/>
                      </a:pPr>
                      <a:r>
                        <a:rPr lang="en-US" sz="1150" b="1" dirty="0">
                          <a:solidFill>
                            <a:srgbClr val="16181D"/>
                          </a:solidFill>
                          <a:latin typeface="Calibri" pitchFamily="34" charset="0"/>
                          <a:ea typeface="Calibri" pitchFamily="34" charset="-122"/>
                          <a:cs typeface="Calibri" pitchFamily="34" charset="-120"/>
                        </a:rPr>
                        <a:t>System</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150" b="1" dirty="0">
                          <a:solidFill>
                            <a:srgbClr val="16181D"/>
                          </a:solidFill>
                          <a:latin typeface="Calibri" pitchFamily="34" charset="0"/>
                          <a:ea typeface="Calibri" pitchFamily="34" charset="-122"/>
                          <a:cs typeface="Calibri" pitchFamily="34" charset="-120"/>
                        </a:rPr>
                        <a:t>BLEU</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150" b="1" dirty="0">
                          <a:solidFill>
                            <a:srgbClr val="16181D"/>
                          </a:solidFill>
                          <a:latin typeface="Calibri" pitchFamily="34" charset="0"/>
                          <a:ea typeface="Calibri" pitchFamily="34" charset="-122"/>
                          <a:cs typeface="Calibri" pitchFamily="34" charset="-120"/>
                        </a:rPr>
                        <a:t>chrF2++</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r>
                        <a:rPr lang="en-US" sz="1150" b="1" dirty="0">
                          <a:solidFill>
                            <a:srgbClr val="16181D"/>
                          </a:solidFill>
                          <a:latin typeface="Calibri" pitchFamily="34" charset="0"/>
                          <a:ea typeface="Calibri" pitchFamily="34" charset="-122"/>
                          <a:cs typeface="Calibri" pitchFamily="34" charset="-120"/>
                        </a:rPr>
                        <a:t>What BLEU would have told you</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292608">
                <a:tc>
                  <a:txBody>
                    <a:bodyPr/>
                    <a:lstStyle/>
                    <a:p>
                      <a:pPr marL="0" indent="0">
                        <a:buNone/>
                      </a:pPr>
                      <a:r>
                        <a:rPr lang="en-US" sz="1150" dirty="0">
                          <a:solidFill>
                            <a:srgbClr val="16181D"/>
                          </a:solidFill>
                          <a:latin typeface="Calibri" pitchFamily="34" charset="0"/>
                          <a:ea typeface="Calibri" pitchFamily="34" charset="-122"/>
                          <a:cs typeface="Calibri" pitchFamily="34" charset="-120"/>
                        </a:rPr>
                        <a:t>Stock NLLB-200</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6181D"/>
                          </a:solidFill>
                          <a:latin typeface="Calibri" pitchFamily="34" charset="0"/>
                          <a:ea typeface="Calibri" pitchFamily="34" charset="-122"/>
                          <a:cs typeface="Calibri" pitchFamily="34" charset="-120"/>
                        </a:rPr>
                        <a:t>1.63</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6181D"/>
                          </a:solidFill>
                          <a:latin typeface="Calibri" pitchFamily="34" charset="0"/>
                          <a:ea typeface="Calibri" pitchFamily="34" charset="-122"/>
                          <a:cs typeface="Calibri" pitchFamily="34" charset="-120"/>
                        </a:rPr>
                        <a:t>14.56</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r>
                        <a:rPr lang="en-US" sz="1150" dirty="0">
                          <a:solidFill>
                            <a:srgbClr val="16181D"/>
                          </a:solidFill>
                          <a:latin typeface="Calibri" pitchFamily="34" charset="0"/>
                          <a:ea typeface="Calibri" pitchFamily="34" charset="-122"/>
                          <a:cs typeface="Calibri" pitchFamily="34" charset="-120"/>
                        </a:rPr>
                        <a:t>near zero</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buNone/>
                      </a:pPr>
                      <a:r>
                        <a:rPr lang="en-US" sz="1150" dirty="0">
                          <a:solidFill>
                            <a:srgbClr val="16181D"/>
                          </a:solidFill>
                          <a:latin typeface="Calibri" pitchFamily="34" charset="0"/>
                          <a:ea typeface="Calibri" pitchFamily="34" charset="-122"/>
                          <a:cs typeface="Calibri" pitchFamily="34" charset="-120"/>
                        </a:rPr>
                        <a:t>Stage 1, language only</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6181D"/>
                          </a:solidFill>
                          <a:latin typeface="Calibri" pitchFamily="34" charset="0"/>
                          <a:ea typeface="Calibri" pitchFamily="34" charset="-122"/>
                          <a:cs typeface="Calibri" pitchFamily="34" charset="-120"/>
                        </a:rPr>
                        <a:t>2.54</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6181D"/>
                          </a:solidFill>
                          <a:latin typeface="Calibri" pitchFamily="34" charset="0"/>
                          <a:ea typeface="Calibri" pitchFamily="34" charset="-122"/>
                          <a:cs typeface="Calibri" pitchFamily="34" charset="-120"/>
                        </a:rPr>
                        <a:t>23.96</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r>
                        <a:rPr lang="en-US" sz="1150" dirty="0">
                          <a:solidFill>
                            <a:srgbClr val="16181D"/>
                          </a:solidFill>
                          <a:latin typeface="Calibri" pitchFamily="34" charset="0"/>
                          <a:ea typeface="Calibri" pitchFamily="34" charset="-122"/>
                          <a:cs typeface="Calibri" pitchFamily="34" charset="-120"/>
                        </a:rPr>
                        <a:t>still near zero, though the model now speaks Ekegusii</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92608">
                <a:tc>
                  <a:txBody>
                    <a:bodyPr/>
                    <a:lstStyle/>
                    <a:p>
                      <a:pPr marL="0" indent="0">
                        <a:buNone/>
                      </a:pPr>
                      <a:r>
                        <a:rPr lang="en-US" sz="1150" dirty="0">
                          <a:solidFill>
                            <a:srgbClr val="16181D"/>
                          </a:solidFill>
                          <a:latin typeface="Calibri" pitchFamily="34" charset="0"/>
                          <a:ea typeface="Calibri" pitchFamily="34" charset="-122"/>
                          <a:cs typeface="Calibri" pitchFamily="34" charset="-120"/>
                        </a:rPr>
                        <a:t>Two-stage curriculum</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6181D"/>
                          </a:solidFill>
                          <a:latin typeface="Calibri" pitchFamily="34" charset="0"/>
                          <a:ea typeface="Calibri" pitchFamily="34" charset="-122"/>
                          <a:cs typeface="Calibri" pitchFamily="34" charset="-120"/>
                        </a:rPr>
                        <a:t>7.21</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6181D"/>
                          </a:solidFill>
                          <a:latin typeface="Calibri" pitchFamily="34" charset="0"/>
                          <a:ea typeface="Calibri" pitchFamily="34" charset="-122"/>
                          <a:cs typeface="Calibri" pitchFamily="34" charset="-120"/>
                        </a:rPr>
                        <a:t>34.93</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r>
                        <a:rPr lang="en-US" sz="1150" dirty="0">
                          <a:solidFill>
                            <a:srgbClr val="16181D"/>
                          </a:solidFill>
                          <a:latin typeface="Calibri" pitchFamily="34" charset="0"/>
                          <a:ea typeface="Calibri" pitchFamily="34" charset="-122"/>
                          <a:cs typeface="Calibri" pitchFamily="34" charset="-120"/>
                        </a:rPr>
                        <a:t>a fraction of the real gain</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2608">
                <a:tc>
                  <a:txBody>
                    <a:bodyPr/>
                    <a:lstStyle/>
                    <a:p>
                      <a:pPr marL="0" indent="0">
                        <a:buNone/>
                      </a:pPr>
                      <a:r>
                        <a:rPr lang="en-US" sz="1150" b="1" dirty="0">
                          <a:solidFill>
                            <a:srgbClr val="16181D"/>
                          </a:solidFill>
                          <a:latin typeface="Calibri" pitchFamily="34" charset="0"/>
                          <a:ea typeface="Calibri" pitchFamily="34" charset="-122"/>
                          <a:cs typeface="Calibri" pitchFamily="34" charset="-120"/>
                        </a:rPr>
                        <a:t>Single pass (released)</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150" b="1" dirty="0">
                          <a:solidFill>
                            <a:srgbClr val="16181D"/>
                          </a:solidFill>
                          <a:latin typeface="Calibri" pitchFamily="34" charset="0"/>
                          <a:ea typeface="Calibri" pitchFamily="34" charset="-122"/>
                          <a:cs typeface="Calibri" pitchFamily="34" charset="-120"/>
                        </a:rPr>
                        <a:t>12.33</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150" b="1" dirty="0">
                          <a:solidFill>
                            <a:srgbClr val="16181D"/>
                          </a:solidFill>
                          <a:latin typeface="Calibri" pitchFamily="34" charset="0"/>
                          <a:ea typeface="Calibri" pitchFamily="34" charset="-122"/>
                          <a:cs typeface="Calibri" pitchFamily="34" charset="-120"/>
                        </a:rPr>
                        <a:t>40.97</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r>
                        <a:rPr lang="en-US" sz="1150" dirty="0">
                          <a:solidFill>
                            <a:srgbClr val="16181D"/>
                          </a:solidFill>
                          <a:latin typeface="Calibri" pitchFamily="34" charset="0"/>
                          <a:ea typeface="Calibri" pitchFamily="34" charset="-122"/>
                          <a:cs typeface="Calibri" pitchFamily="34" charset="-120"/>
                        </a:rPr>
                        <a:t>7.6x the floor, against 2.8x on chrF2++</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6" name="Text 13"/>
          <p:cNvSpPr/>
          <p:nvPr/>
        </p:nvSpPr>
        <p:spPr>
          <a:xfrm>
            <a:off x="640080" y="5806440"/>
            <a:ext cx="10881360" cy="457200"/>
          </a:xfrm>
          <a:prstGeom prst="rect">
            <a:avLst/>
          </a:prstGeom>
          <a:noFill/>
          <a:ln/>
        </p:spPr>
        <p:txBody>
          <a:bodyPr wrap="square" lIns="0" tIns="0" rIns="0" bIns="0" rtlCol="0" anchor="ctr"/>
          <a:lstStyle/>
          <a:p>
            <a:pPr marL="0" indent="0">
              <a:buNone/>
            </a:pPr>
            <a:r>
              <a:rPr lang="en-US" sz="1300" i="1" dirty="0">
                <a:solidFill>
                  <a:srgbClr val="4B5563"/>
                </a:solidFill>
                <a:latin typeface="Calibri" pitchFamily="34" charset="0"/>
                <a:ea typeface="Calibri" pitchFamily="34" charset="-122"/>
                <a:cs typeface="Calibri" pitchFamily="34" charset="-120"/>
              </a:rPr>
              <a:t>Stage 1 reaches 23.96 chrF2++ and scores 2.54 BLEU. A metric that cannot separate a working model from a broken one is not measuring the right thing.</a:t>
            </a:r>
            <a:endParaRPr lang="en-US" sz="1300" dirty="0"/>
          </a:p>
        </p:txBody>
      </p:sp>
      <p:sp>
        <p:nvSpPr>
          <p:cNvPr id="17" name="Text 14"/>
          <p:cNvSpPr/>
          <p:nvPr/>
        </p:nvSpPr>
        <p:spPr>
          <a:xfrm>
            <a:off x="640080" y="6419088"/>
            <a:ext cx="5486400" cy="256032"/>
          </a:xfrm>
          <a:prstGeom prst="rect">
            <a:avLst/>
          </a:prstGeom>
          <a:noFill/>
          <a:ln/>
        </p:spPr>
        <p:txBody>
          <a:bodyPr wrap="square" lIns="0" tIns="0" rIns="0" bIns="0" rtlCol="0" anchor="ctr"/>
          <a:lstStyle/>
          <a:p>
            <a:pPr marL="0" indent="0">
              <a:buNone/>
            </a:pPr>
            <a:r>
              <a:rPr lang="en-US" sz="950" dirty="0">
                <a:solidFill>
                  <a:srgbClr val="8A919E"/>
                </a:solidFill>
                <a:latin typeface="Calibri" pitchFamily="34" charset="0"/>
                <a:ea typeface="Calibri" pitchFamily="34" charset="-122"/>
                <a:cs typeface="Calibri" pitchFamily="34" charset="-120"/>
              </a:rPr>
              <a:t>Ekegusii NMT · USIU-Africa · 2026</a:t>
            </a:r>
            <a:endParaRPr lang="en-US" sz="950" dirty="0"/>
          </a:p>
        </p:txBody>
      </p:sp>
      <p:sp>
        <p:nvSpPr>
          <p:cNvPr id="18" name="Text 15"/>
          <p:cNvSpPr/>
          <p:nvPr/>
        </p:nvSpPr>
        <p:spPr>
          <a:xfrm>
            <a:off x="10972800" y="6419088"/>
            <a:ext cx="548640" cy="256032"/>
          </a:xfrm>
          <a:prstGeom prst="rect">
            <a:avLst/>
          </a:prstGeom>
          <a:noFill/>
          <a:ln/>
        </p:spPr>
        <p:txBody>
          <a:bodyPr wrap="square" lIns="0" tIns="0" rIns="0" bIns="0" rtlCol="0" anchor="ctr"/>
          <a:lstStyle/>
          <a:p>
            <a:pPr marL="0" indent="0" algn="r">
              <a:buNone/>
            </a:pPr>
            <a:r>
              <a:rPr lang="en-US" sz="950" dirty="0">
                <a:solidFill>
                  <a:srgbClr val="8A919E"/>
                </a:solidFill>
                <a:latin typeface="Calibri" pitchFamily="34" charset="0"/>
                <a:ea typeface="Calibri" pitchFamily="34" charset="-122"/>
                <a:cs typeface="Calibri" pitchFamily="34" charset="-120"/>
              </a:rPr>
              <a:t>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marL="0" indent="0">
              <a:buNone/>
            </a:pPr>
            <a:r>
              <a:rPr lang="en-US" sz="1200" b="1" kern="0" spc="240" dirty="0">
                <a:solidFill>
                  <a:srgbClr val="293D94"/>
                </a:solidFill>
                <a:latin typeface="Calibri" pitchFamily="34" charset="0"/>
                <a:ea typeface="Calibri" pitchFamily="34" charset="-122"/>
                <a:cs typeface="Calibri" pitchFamily="34" charset="-120"/>
              </a:rPr>
              <a:t>SETUP</a:t>
            </a:r>
            <a:endParaRPr lang="en-US" sz="1200" dirty="0"/>
          </a:p>
        </p:txBody>
      </p:sp>
      <p:sp>
        <p:nvSpPr>
          <p:cNvPr id="3" name="Text 1"/>
          <p:cNvSpPr/>
          <p:nvPr/>
        </p:nvSpPr>
        <p:spPr>
          <a:xfrm>
            <a:off x="640080" y="658368"/>
            <a:ext cx="10881360" cy="658368"/>
          </a:xfrm>
          <a:prstGeom prst="rect">
            <a:avLst/>
          </a:prstGeom>
          <a:noFill/>
          <a:ln/>
        </p:spPr>
        <p:txBody>
          <a:bodyPr wrap="square" lIns="0" tIns="0" rIns="0" bIns="0" rtlCol="0" anchor="t"/>
          <a:lstStyle/>
          <a:p>
            <a:pPr marL="0" indent="0">
              <a:buNone/>
            </a:pPr>
            <a:r>
              <a:rPr lang="en-US" sz="3000" b="1" dirty="0">
                <a:solidFill>
                  <a:srgbClr val="16181D"/>
                </a:solidFill>
                <a:latin typeface="Cambria" pitchFamily="34" charset="0"/>
                <a:ea typeface="Cambria" pitchFamily="34" charset="-122"/>
                <a:cs typeface="Cambria" pitchFamily="34" charset="-120"/>
              </a:rPr>
              <a:t>What was actually run</a:t>
            </a:r>
            <a:endParaRPr lang="en-US" sz="3000" dirty="0"/>
          </a:p>
        </p:txBody>
      </p:sp>
      <p:sp>
        <p:nvSpPr>
          <p:cNvPr id="4" name="Shape 2"/>
          <p:cNvSpPr/>
          <p:nvPr/>
        </p:nvSpPr>
        <p:spPr>
          <a:xfrm>
            <a:off x="640080" y="1691640"/>
            <a:ext cx="5303520" cy="457200"/>
          </a:xfrm>
          <a:prstGeom prst="roundRect">
            <a:avLst>
              <a:gd name="adj" fmla="val 12000"/>
            </a:avLst>
          </a:prstGeom>
          <a:solidFill>
            <a:srgbClr val="F1F3F9"/>
          </a:solidFill>
          <a:ln w="12700">
            <a:solidFill>
              <a:srgbClr val="F1F3F9"/>
            </a:solidFill>
            <a:prstDash val="solid"/>
          </a:ln>
        </p:spPr>
      </p:sp>
      <p:sp>
        <p:nvSpPr>
          <p:cNvPr id="5" name="Text 3"/>
          <p:cNvSpPr/>
          <p:nvPr/>
        </p:nvSpPr>
        <p:spPr>
          <a:xfrm>
            <a:off x="841248" y="1691640"/>
            <a:ext cx="1737360" cy="457200"/>
          </a:xfrm>
          <a:prstGeom prst="rect">
            <a:avLst/>
          </a:prstGeom>
          <a:noFill/>
          <a:ln/>
        </p:spPr>
        <p:txBody>
          <a:bodyPr wrap="square" lIns="0" tIns="0" rIns="0" bIns="0" rtlCol="0" anchor="ctr"/>
          <a:lstStyle/>
          <a:p>
            <a:pPr marL="0" indent="0">
              <a:buNone/>
            </a:pPr>
            <a:r>
              <a:rPr lang="en-US" sz="1150" dirty="0">
                <a:solidFill>
                  <a:srgbClr val="8A919E"/>
                </a:solidFill>
                <a:latin typeface="Calibri" pitchFamily="34" charset="0"/>
                <a:ea typeface="Calibri" pitchFamily="34" charset="-122"/>
                <a:cs typeface="Calibri" pitchFamily="34" charset="-120"/>
              </a:rPr>
              <a:t>Base model</a:t>
            </a:r>
            <a:endParaRPr lang="en-US" sz="1150" dirty="0"/>
          </a:p>
        </p:txBody>
      </p:sp>
      <p:sp>
        <p:nvSpPr>
          <p:cNvPr id="6" name="Text 4"/>
          <p:cNvSpPr/>
          <p:nvPr/>
        </p:nvSpPr>
        <p:spPr>
          <a:xfrm>
            <a:off x="2606040" y="1691640"/>
            <a:ext cx="3154680" cy="457200"/>
          </a:xfrm>
          <a:prstGeom prst="rect">
            <a:avLst/>
          </a:prstGeom>
          <a:noFill/>
          <a:ln/>
        </p:spPr>
        <p:txBody>
          <a:bodyPr wrap="square" lIns="0" tIns="0" rIns="0" bIns="0" rtlCol="0" anchor="ctr"/>
          <a:lstStyle/>
          <a:p>
            <a:pPr marL="0" indent="0">
              <a:buNone/>
            </a:pPr>
            <a:r>
              <a:rPr lang="en-US" sz="1250" b="1" dirty="0">
                <a:solidFill>
                  <a:srgbClr val="16181D"/>
                </a:solidFill>
                <a:latin typeface="Calibri" pitchFamily="34" charset="0"/>
                <a:ea typeface="Calibri" pitchFamily="34" charset="-122"/>
                <a:cs typeface="Calibri" pitchFamily="34" charset="-120"/>
              </a:rPr>
              <a:t>facebook/nllb-200-distilled-600M</a:t>
            </a:r>
            <a:endParaRPr lang="en-US" sz="1250" dirty="0"/>
          </a:p>
        </p:txBody>
      </p:sp>
      <p:sp>
        <p:nvSpPr>
          <p:cNvPr id="7" name="Shape 5"/>
          <p:cNvSpPr/>
          <p:nvPr/>
        </p:nvSpPr>
        <p:spPr>
          <a:xfrm>
            <a:off x="6217920" y="1691640"/>
            <a:ext cx="5303520" cy="457200"/>
          </a:xfrm>
          <a:prstGeom prst="roundRect">
            <a:avLst>
              <a:gd name="adj" fmla="val 12000"/>
            </a:avLst>
          </a:prstGeom>
          <a:solidFill>
            <a:srgbClr val="F1F3F9"/>
          </a:solidFill>
          <a:ln w="12700">
            <a:solidFill>
              <a:srgbClr val="F1F3F9"/>
            </a:solidFill>
            <a:prstDash val="solid"/>
          </a:ln>
        </p:spPr>
      </p:sp>
      <p:sp>
        <p:nvSpPr>
          <p:cNvPr id="8" name="Text 6"/>
          <p:cNvSpPr/>
          <p:nvPr/>
        </p:nvSpPr>
        <p:spPr>
          <a:xfrm>
            <a:off x="6419088" y="1691640"/>
            <a:ext cx="1737360" cy="457200"/>
          </a:xfrm>
          <a:prstGeom prst="rect">
            <a:avLst/>
          </a:prstGeom>
          <a:noFill/>
          <a:ln/>
        </p:spPr>
        <p:txBody>
          <a:bodyPr wrap="square" lIns="0" tIns="0" rIns="0" bIns="0" rtlCol="0" anchor="ctr"/>
          <a:lstStyle/>
          <a:p>
            <a:pPr marL="0" indent="0">
              <a:buNone/>
            </a:pPr>
            <a:r>
              <a:rPr lang="en-US" sz="1150" dirty="0">
                <a:solidFill>
                  <a:srgbClr val="8A919E"/>
                </a:solidFill>
                <a:latin typeface="Calibri" pitchFamily="34" charset="0"/>
                <a:ea typeface="Calibri" pitchFamily="34" charset="-122"/>
                <a:cs typeface="Calibri" pitchFamily="34" charset="-120"/>
              </a:rPr>
              <a:t>Hardware</a:t>
            </a:r>
            <a:endParaRPr lang="en-US" sz="1150" dirty="0"/>
          </a:p>
        </p:txBody>
      </p:sp>
      <p:sp>
        <p:nvSpPr>
          <p:cNvPr id="9" name="Text 7"/>
          <p:cNvSpPr/>
          <p:nvPr/>
        </p:nvSpPr>
        <p:spPr>
          <a:xfrm>
            <a:off x="8183880" y="1691640"/>
            <a:ext cx="3154680" cy="457200"/>
          </a:xfrm>
          <a:prstGeom prst="rect">
            <a:avLst/>
          </a:prstGeom>
          <a:noFill/>
          <a:ln/>
        </p:spPr>
        <p:txBody>
          <a:bodyPr wrap="square" lIns="0" tIns="0" rIns="0" bIns="0" rtlCol="0" anchor="ctr"/>
          <a:lstStyle/>
          <a:p>
            <a:pPr marL="0" indent="0">
              <a:buNone/>
            </a:pPr>
            <a:r>
              <a:rPr lang="en-US" sz="1250" b="1" dirty="0">
                <a:solidFill>
                  <a:srgbClr val="16181D"/>
                </a:solidFill>
                <a:latin typeface="Calibri" pitchFamily="34" charset="0"/>
                <a:ea typeface="Calibri" pitchFamily="34" charset="-122"/>
                <a:cs typeface="Calibri" pitchFamily="34" charset="-120"/>
              </a:rPr>
              <a:t>1 × NVIDIA A100-SXM4-80GB</a:t>
            </a:r>
            <a:endParaRPr lang="en-US" sz="1250" dirty="0"/>
          </a:p>
        </p:txBody>
      </p:sp>
      <p:sp>
        <p:nvSpPr>
          <p:cNvPr id="10" name="Shape 8"/>
          <p:cNvSpPr/>
          <p:nvPr/>
        </p:nvSpPr>
        <p:spPr>
          <a:xfrm>
            <a:off x="640080" y="2258568"/>
            <a:ext cx="5303520" cy="457200"/>
          </a:xfrm>
          <a:prstGeom prst="roundRect">
            <a:avLst>
              <a:gd name="adj" fmla="val 12000"/>
            </a:avLst>
          </a:prstGeom>
          <a:solidFill>
            <a:srgbClr val="F1F3F9"/>
          </a:solidFill>
          <a:ln w="12700">
            <a:solidFill>
              <a:srgbClr val="F1F3F9"/>
            </a:solidFill>
            <a:prstDash val="solid"/>
          </a:ln>
        </p:spPr>
      </p:sp>
      <p:sp>
        <p:nvSpPr>
          <p:cNvPr id="11" name="Text 9"/>
          <p:cNvSpPr/>
          <p:nvPr/>
        </p:nvSpPr>
        <p:spPr>
          <a:xfrm>
            <a:off x="841248" y="2258568"/>
            <a:ext cx="1737360" cy="457200"/>
          </a:xfrm>
          <a:prstGeom prst="rect">
            <a:avLst/>
          </a:prstGeom>
          <a:noFill/>
          <a:ln/>
        </p:spPr>
        <p:txBody>
          <a:bodyPr wrap="square" lIns="0" tIns="0" rIns="0" bIns="0" rtlCol="0" anchor="ctr"/>
          <a:lstStyle/>
          <a:p>
            <a:pPr marL="0" indent="0">
              <a:buNone/>
            </a:pPr>
            <a:r>
              <a:rPr lang="en-US" sz="1150" dirty="0">
                <a:solidFill>
                  <a:srgbClr val="8A919E"/>
                </a:solidFill>
                <a:latin typeface="Calibri" pitchFamily="34" charset="0"/>
                <a:ea typeface="Calibri" pitchFamily="34" charset="-122"/>
                <a:cs typeface="Calibri" pitchFamily="34" charset="-120"/>
              </a:rPr>
              <a:t>Precision</a:t>
            </a:r>
            <a:endParaRPr lang="en-US" sz="1150" dirty="0"/>
          </a:p>
        </p:txBody>
      </p:sp>
      <p:sp>
        <p:nvSpPr>
          <p:cNvPr id="12" name="Text 10"/>
          <p:cNvSpPr/>
          <p:nvPr/>
        </p:nvSpPr>
        <p:spPr>
          <a:xfrm>
            <a:off x="2606040" y="2258568"/>
            <a:ext cx="3154680" cy="457200"/>
          </a:xfrm>
          <a:prstGeom prst="rect">
            <a:avLst/>
          </a:prstGeom>
          <a:noFill/>
          <a:ln/>
        </p:spPr>
        <p:txBody>
          <a:bodyPr wrap="square" lIns="0" tIns="0" rIns="0" bIns="0" rtlCol="0" anchor="ctr"/>
          <a:lstStyle/>
          <a:p>
            <a:pPr marL="0" indent="0">
              <a:buNone/>
            </a:pPr>
            <a:r>
              <a:rPr lang="en-US" sz="1250" b="1" dirty="0">
                <a:solidFill>
                  <a:srgbClr val="16181D"/>
                </a:solidFill>
                <a:latin typeface="Calibri" pitchFamily="34" charset="0"/>
                <a:ea typeface="Calibri" pitchFamily="34" charset="-122"/>
                <a:cs typeface="Calibri" pitchFamily="34" charset="-120"/>
              </a:rPr>
              <a:t>bf16, gradient checkpointing</a:t>
            </a:r>
            <a:endParaRPr lang="en-US" sz="1250" dirty="0"/>
          </a:p>
        </p:txBody>
      </p:sp>
      <p:sp>
        <p:nvSpPr>
          <p:cNvPr id="13" name="Shape 11"/>
          <p:cNvSpPr/>
          <p:nvPr/>
        </p:nvSpPr>
        <p:spPr>
          <a:xfrm>
            <a:off x="6217920" y="2258568"/>
            <a:ext cx="5303520" cy="457200"/>
          </a:xfrm>
          <a:prstGeom prst="roundRect">
            <a:avLst>
              <a:gd name="adj" fmla="val 12000"/>
            </a:avLst>
          </a:prstGeom>
          <a:solidFill>
            <a:srgbClr val="F1F3F9"/>
          </a:solidFill>
          <a:ln w="12700">
            <a:solidFill>
              <a:srgbClr val="F1F3F9"/>
            </a:solidFill>
            <a:prstDash val="solid"/>
          </a:ln>
        </p:spPr>
      </p:sp>
      <p:sp>
        <p:nvSpPr>
          <p:cNvPr id="14" name="Text 12"/>
          <p:cNvSpPr/>
          <p:nvPr/>
        </p:nvSpPr>
        <p:spPr>
          <a:xfrm>
            <a:off x="6419088" y="2258568"/>
            <a:ext cx="1737360" cy="457200"/>
          </a:xfrm>
          <a:prstGeom prst="rect">
            <a:avLst/>
          </a:prstGeom>
          <a:noFill/>
          <a:ln/>
        </p:spPr>
        <p:txBody>
          <a:bodyPr wrap="square" lIns="0" tIns="0" rIns="0" bIns="0" rtlCol="0" anchor="ctr"/>
          <a:lstStyle/>
          <a:p>
            <a:pPr marL="0" indent="0">
              <a:buNone/>
            </a:pPr>
            <a:r>
              <a:rPr lang="en-US" sz="1150" dirty="0">
                <a:solidFill>
                  <a:srgbClr val="8A919E"/>
                </a:solidFill>
                <a:latin typeface="Calibri" pitchFamily="34" charset="0"/>
                <a:ea typeface="Calibri" pitchFamily="34" charset="-122"/>
                <a:cs typeface="Calibri" pitchFamily="34" charset="-120"/>
              </a:rPr>
              <a:t>Optimiser</a:t>
            </a:r>
            <a:endParaRPr lang="en-US" sz="1150" dirty="0"/>
          </a:p>
        </p:txBody>
      </p:sp>
      <p:sp>
        <p:nvSpPr>
          <p:cNvPr id="15" name="Text 13"/>
          <p:cNvSpPr/>
          <p:nvPr/>
        </p:nvSpPr>
        <p:spPr>
          <a:xfrm>
            <a:off x="8183880" y="2258568"/>
            <a:ext cx="3154680" cy="457200"/>
          </a:xfrm>
          <a:prstGeom prst="rect">
            <a:avLst/>
          </a:prstGeom>
          <a:noFill/>
          <a:ln/>
        </p:spPr>
        <p:txBody>
          <a:bodyPr wrap="square" lIns="0" tIns="0" rIns="0" bIns="0" rtlCol="0" anchor="ctr"/>
          <a:lstStyle/>
          <a:p>
            <a:pPr marL="0" indent="0">
              <a:buNone/>
            </a:pPr>
            <a:r>
              <a:rPr lang="en-US" sz="1250" b="1" dirty="0">
                <a:solidFill>
                  <a:srgbClr val="16181D"/>
                </a:solidFill>
                <a:latin typeface="Calibri" pitchFamily="34" charset="0"/>
                <a:ea typeface="Calibri" pitchFamily="34" charset="-122"/>
                <a:cs typeface="Calibri" pitchFamily="34" charset="-120"/>
              </a:rPr>
              <a:t>8-bit AdamW, effective batch 48</a:t>
            </a:r>
            <a:endParaRPr lang="en-US" sz="1250" dirty="0"/>
          </a:p>
        </p:txBody>
      </p:sp>
      <p:sp>
        <p:nvSpPr>
          <p:cNvPr id="16" name="Shape 14"/>
          <p:cNvSpPr/>
          <p:nvPr/>
        </p:nvSpPr>
        <p:spPr>
          <a:xfrm>
            <a:off x="640080" y="2825496"/>
            <a:ext cx="5303520" cy="457200"/>
          </a:xfrm>
          <a:prstGeom prst="roundRect">
            <a:avLst>
              <a:gd name="adj" fmla="val 12000"/>
            </a:avLst>
          </a:prstGeom>
          <a:solidFill>
            <a:srgbClr val="F1F3F9"/>
          </a:solidFill>
          <a:ln w="12700">
            <a:solidFill>
              <a:srgbClr val="F1F3F9"/>
            </a:solidFill>
            <a:prstDash val="solid"/>
          </a:ln>
        </p:spPr>
      </p:sp>
      <p:sp>
        <p:nvSpPr>
          <p:cNvPr id="17" name="Text 15"/>
          <p:cNvSpPr/>
          <p:nvPr/>
        </p:nvSpPr>
        <p:spPr>
          <a:xfrm>
            <a:off x="841248" y="2825496"/>
            <a:ext cx="1737360" cy="457200"/>
          </a:xfrm>
          <a:prstGeom prst="rect">
            <a:avLst/>
          </a:prstGeom>
          <a:noFill/>
          <a:ln/>
        </p:spPr>
        <p:txBody>
          <a:bodyPr wrap="square" lIns="0" tIns="0" rIns="0" bIns="0" rtlCol="0" anchor="ctr"/>
          <a:lstStyle/>
          <a:p>
            <a:pPr marL="0" indent="0">
              <a:buNone/>
            </a:pPr>
            <a:r>
              <a:rPr lang="en-US" sz="1150" dirty="0">
                <a:solidFill>
                  <a:srgbClr val="8A919E"/>
                </a:solidFill>
                <a:latin typeface="Calibri" pitchFamily="34" charset="0"/>
                <a:ea typeface="Calibri" pitchFamily="34" charset="-122"/>
                <a:cs typeface="Calibri" pitchFamily="34" charset="-120"/>
              </a:rPr>
              <a:t>Learning rate</a:t>
            </a:r>
            <a:endParaRPr lang="en-US" sz="1150" dirty="0"/>
          </a:p>
        </p:txBody>
      </p:sp>
      <p:sp>
        <p:nvSpPr>
          <p:cNvPr id="18" name="Text 16"/>
          <p:cNvSpPr/>
          <p:nvPr/>
        </p:nvSpPr>
        <p:spPr>
          <a:xfrm>
            <a:off x="2606040" y="2825496"/>
            <a:ext cx="3154680" cy="457200"/>
          </a:xfrm>
          <a:prstGeom prst="rect">
            <a:avLst/>
          </a:prstGeom>
          <a:noFill/>
          <a:ln/>
        </p:spPr>
        <p:txBody>
          <a:bodyPr wrap="square" lIns="0" tIns="0" rIns="0" bIns="0" rtlCol="0" anchor="ctr"/>
          <a:lstStyle/>
          <a:p>
            <a:pPr marL="0" indent="0">
              <a:buNone/>
            </a:pPr>
            <a:r>
              <a:rPr lang="en-US" sz="1250" b="1" dirty="0">
                <a:solidFill>
                  <a:srgbClr val="16181D"/>
                </a:solidFill>
                <a:latin typeface="Calibri" pitchFamily="34" charset="0"/>
                <a:ea typeface="Calibri" pitchFamily="34" charset="-122"/>
                <a:cs typeface="Calibri" pitchFamily="34" charset="-120"/>
              </a:rPr>
              <a:t>5e-5 stage 1 and control · 1.5e-5 stage 2</a:t>
            </a:r>
            <a:endParaRPr lang="en-US" sz="1250" dirty="0"/>
          </a:p>
        </p:txBody>
      </p:sp>
      <p:sp>
        <p:nvSpPr>
          <p:cNvPr id="19" name="Shape 17"/>
          <p:cNvSpPr/>
          <p:nvPr/>
        </p:nvSpPr>
        <p:spPr>
          <a:xfrm>
            <a:off x="6217920" y="2825496"/>
            <a:ext cx="5303520" cy="457200"/>
          </a:xfrm>
          <a:prstGeom prst="roundRect">
            <a:avLst>
              <a:gd name="adj" fmla="val 12000"/>
            </a:avLst>
          </a:prstGeom>
          <a:solidFill>
            <a:srgbClr val="F1F3F9"/>
          </a:solidFill>
          <a:ln w="12700">
            <a:solidFill>
              <a:srgbClr val="F1F3F9"/>
            </a:solidFill>
            <a:prstDash val="solid"/>
          </a:ln>
        </p:spPr>
      </p:sp>
      <p:sp>
        <p:nvSpPr>
          <p:cNvPr id="20" name="Text 18"/>
          <p:cNvSpPr/>
          <p:nvPr/>
        </p:nvSpPr>
        <p:spPr>
          <a:xfrm>
            <a:off x="6419088" y="2825496"/>
            <a:ext cx="1737360" cy="457200"/>
          </a:xfrm>
          <a:prstGeom prst="rect">
            <a:avLst/>
          </a:prstGeom>
          <a:noFill/>
          <a:ln/>
        </p:spPr>
        <p:txBody>
          <a:bodyPr wrap="square" lIns="0" tIns="0" rIns="0" bIns="0" rtlCol="0" anchor="ctr"/>
          <a:lstStyle/>
          <a:p>
            <a:pPr marL="0" indent="0">
              <a:buNone/>
            </a:pPr>
            <a:r>
              <a:rPr lang="en-US" sz="1150" dirty="0">
                <a:solidFill>
                  <a:srgbClr val="8A919E"/>
                </a:solidFill>
                <a:latin typeface="Calibri" pitchFamily="34" charset="0"/>
                <a:ea typeface="Calibri" pitchFamily="34" charset="-122"/>
                <a:cs typeface="Calibri" pitchFamily="34" charset="-120"/>
              </a:rPr>
              <a:t>Epochs</a:t>
            </a:r>
            <a:endParaRPr lang="en-US" sz="1150" dirty="0"/>
          </a:p>
        </p:txBody>
      </p:sp>
      <p:sp>
        <p:nvSpPr>
          <p:cNvPr id="21" name="Text 19"/>
          <p:cNvSpPr/>
          <p:nvPr/>
        </p:nvSpPr>
        <p:spPr>
          <a:xfrm>
            <a:off x="8183880" y="2825496"/>
            <a:ext cx="3154680" cy="457200"/>
          </a:xfrm>
          <a:prstGeom prst="rect">
            <a:avLst/>
          </a:prstGeom>
          <a:noFill/>
          <a:ln/>
        </p:spPr>
        <p:txBody>
          <a:bodyPr wrap="square" lIns="0" tIns="0" rIns="0" bIns="0" rtlCol="0" anchor="ctr"/>
          <a:lstStyle/>
          <a:p>
            <a:pPr marL="0" indent="0">
              <a:buNone/>
            </a:pPr>
            <a:r>
              <a:rPr lang="en-US" sz="1250" b="1" dirty="0">
                <a:solidFill>
                  <a:srgbClr val="16181D"/>
                </a:solidFill>
                <a:latin typeface="Calibri" pitchFamily="34" charset="0"/>
                <a:ea typeface="Calibri" pitchFamily="34" charset="-122"/>
                <a:cs typeface="Calibri" pitchFamily="34" charset="-120"/>
              </a:rPr>
              <a:t>3 per run, best checkpoint by dev loss</a:t>
            </a:r>
            <a:endParaRPr lang="en-US" sz="1250" dirty="0"/>
          </a:p>
        </p:txBody>
      </p:sp>
      <p:sp>
        <p:nvSpPr>
          <p:cNvPr id="22" name="Shape 20"/>
          <p:cNvSpPr/>
          <p:nvPr/>
        </p:nvSpPr>
        <p:spPr>
          <a:xfrm>
            <a:off x="640080" y="3392424"/>
            <a:ext cx="5303520" cy="457200"/>
          </a:xfrm>
          <a:prstGeom prst="roundRect">
            <a:avLst>
              <a:gd name="adj" fmla="val 12000"/>
            </a:avLst>
          </a:prstGeom>
          <a:solidFill>
            <a:srgbClr val="F1F3F9"/>
          </a:solidFill>
          <a:ln w="12700">
            <a:solidFill>
              <a:srgbClr val="F1F3F9"/>
            </a:solidFill>
            <a:prstDash val="solid"/>
          </a:ln>
        </p:spPr>
      </p:sp>
      <p:sp>
        <p:nvSpPr>
          <p:cNvPr id="23" name="Text 21"/>
          <p:cNvSpPr/>
          <p:nvPr/>
        </p:nvSpPr>
        <p:spPr>
          <a:xfrm>
            <a:off x="841248" y="3392424"/>
            <a:ext cx="1737360" cy="457200"/>
          </a:xfrm>
          <a:prstGeom prst="rect">
            <a:avLst/>
          </a:prstGeom>
          <a:noFill/>
          <a:ln/>
        </p:spPr>
        <p:txBody>
          <a:bodyPr wrap="square" lIns="0" tIns="0" rIns="0" bIns="0" rtlCol="0" anchor="ctr"/>
          <a:lstStyle/>
          <a:p>
            <a:pPr marL="0" indent="0">
              <a:buNone/>
            </a:pPr>
            <a:r>
              <a:rPr lang="en-US" sz="1150" dirty="0">
                <a:solidFill>
                  <a:srgbClr val="8A919E"/>
                </a:solidFill>
                <a:latin typeface="Calibri" pitchFamily="34" charset="0"/>
                <a:ea typeface="Calibri" pitchFamily="34" charset="-122"/>
                <a:cs typeface="Calibri" pitchFamily="34" charset="-120"/>
              </a:rPr>
              <a:t>Decoding</a:t>
            </a:r>
            <a:endParaRPr lang="en-US" sz="1150" dirty="0"/>
          </a:p>
        </p:txBody>
      </p:sp>
      <p:sp>
        <p:nvSpPr>
          <p:cNvPr id="24" name="Text 22"/>
          <p:cNvSpPr/>
          <p:nvPr/>
        </p:nvSpPr>
        <p:spPr>
          <a:xfrm>
            <a:off x="2606040" y="3392424"/>
            <a:ext cx="3154680" cy="457200"/>
          </a:xfrm>
          <a:prstGeom prst="rect">
            <a:avLst/>
          </a:prstGeom>
          <a:noFill/>
          <a:ln/>
        </p:spPr>
        <p:txBody>
          <a:bodyPr wrap="square" lIns="0" tIns="0" rIns="0" bIns="0" rtlCol="0" anchor="ctr"/>
          <a:lstStyle/>
          <a:p>
            <a:pPr marL="0" indent="0">
              <a:buNone/>
            </a:pPr>
            <a:r>
              <a:rPr lang="en-US" sz="1250" b="1" dirty="0">
                <a:solidFill>
                  <a:srgbClr val="16181D"/>
                </a:solidFill>
                <a:latin typeface="Calibri" pitchFamily="34" charset="0"/>
                <a:ea typeface="Calibri" pitchFamily="34" charset="-122"/>
                <a:cs typeface="Calibri" pitchFamily="34" charset="-120"/>
              </a:rPr>
              <a:t>beam 4, max 128 new tokens</a:t>
            </a:r>
            <a:endParaRPr lang="en-US" sz="1250" dirty="0"/>
          </a:p>
        </p:txBody>
      </p:sp>
      <p:sp>
        <p:nvSpPr>
          <p:cNvPr id="25" name="Shape 23"/>
          <p:cNvSpPr/>
          <p:nvPr/>
        </p:nvSpPr>
        <p:spPr>
          <a:xfrm>
            <a:off x="6217920" y="3392424"/>
            <a:ext cx="5303520" cy="457200"/>
          </a:xfrm>
          <a:prstGeom prst="roundRect">
            <a:avLst>
              <a:gd name="adj" fmla="val 12000"/>
            </a:avLst>
          </a:prstGeom>
          <a:solidFill>
            <a:srgbClr val="F1F3F9"/>
          </a:solidFill>
          <a:ln w="12700">
            <a:solidFill>
              <a:srgbClr val="F1F3F9"/>
            </a:solidFill>
            <a:prstDash val="solid"/>
          </a:ln>
        </p:spPr>
      </p:sp>
      <p:sp>
        <p:nvSpPr>
          <p:cNvPr id="26" name="Text 24"/>
          <p:cNvSpPr/>
          <p:nvPr/>
        </p:nvSpPr>
        <p:spPr>
          <a:xfrm>
            <a:off x="6419088" y="3392424"/>
            <a:ext cx="1737360" cy="457200"/>
          </a:xfrm>
          <a:prstGeom prst="rect">
            <a:avLst/>
          </a:prstGeom>
          <a:noFill/>
          <a:ln/>
        </p:spPr>
        <p:txBody>
          <a:bodyPr wrap="square" lIns="0" tIns="0" rIns="0" bIns="0" rtlCol="0" anchor="ctr"/>
          <a:lstStyle/>
          <a:p>
            <a:pPr marL="0" indent="0">
              <a:buNone/>
            </a:pPr>
            <a:r>
              <a:rPr lang="en-US" sz="1150" dirty="0">
                <a:solidFill>
                  <a:srgbClr val="8A919E"/>
                </a:solidFill>
                <a:latin typeface="Calibri" pitchFamily="34" charset="0"/>
                <a:ea typeface="Calibri" pitchFamily="34" charset="-122"/>
                <a:cs typeface="Calibri" pitchFamily="34" charset="-120"/>
              </a:rPr>
              <a:t>Seed</a:t>
            </a:r>
            <a:endParaRPr lang="en-US" sz="1150" dirty="0"/>
          </a:p>
        </p:txBody>
      </p:sp>
      <p:sp>
        <p:nvSpPr>
          <p:cNvPr id="27" name="Text 25"/>
          <p:cNvSpPr/>
          <p:nvPr/>
        </p:nvSpPr>
        <p:spPr>
          <a:xfrm>
            <a:off x="8183880" y="3392424"/>
            <a:ext cx="3154680" cy="457200"/>
          </a:xfrm>
          <a:prstGeom prst="rect">
            <a:avLst/>
          </a:prstGeom>
          <a:noFill/>
          <a:ln/>
        </p:spPr>
        <p:txBody>
          <a:bodyPr wrap="square" lIns="0" tIns="0" rIns="0" bIns="0" rtlCol="0" anchor="ctr"/>
          <a:lstStyle/>
          <a:p>
            <a:pPr marL="0" indent="0">
              <a:buNone/>
            </a:pPr>
            <a:r>
              <a:rPr lang="en-US" sz="1250" b="1" dirty="0">
                <a:solidFill>
                  <a:srgbClr val="16181D"/>
                </a:solidFill>
                <a:latin typeface="Calibri" pitchFamily="34" charset="0"/>
                <a:ea typeface="Calibri" pitchFamily="34" charset="-122"/>
                <a:cs typeface="Calibri" pitchFamily="34" charset="-120"/>
              </a:rPr>
              <a:t>42, fixed across all three runs</a:t>
            </a:r>
            <a:endParaRPr lang="en-US" sz="1250" dirty="0"/>
          </a:p>
        </p:txBody>
      </p:sp>
      <p:sp>
        <p:nvSpPr>
          <p:cNvPr id="28" name="Shape 26"/>
          <p:cNvSpPr/>
          <p:nvPr/>
        </p:nvSpPr>
        <p:spPr>
          <a:xfrm>
            <a:off x="640080" y="4114800"/>
            <a:ext cx="10881360" cy="1371600"/>
          </a:xfrm>
          <a:prstGeom prst="roundRect">
            <a:avLst>
              <a:gd name="adj" fmla="val 6000"/>
            </a:avLst>
          </a:prstGeom>
          <a:solidFill>
            <a:srgbClr val="F1F3F9"/>
          </a:solidFill>
          <a:ln w="12700">
            <a:solidFill>
              <a:srgbClr val="F1F3F9"/>
            </a:solidFill>
            <a:prstDash val="solid"/>
          </a:ln>
        </p:spPr>
      </p:sp>
      <p:sp>
        <p:nvSpPr>
          <p:cNvPr id="29" name="Shape 27"/>
          <p:cNvSpPr/>
          <p:nvPr/>
        </p:nvSpPr>
        <p:spPr>
          <a:xfrm>
            <a:off x="877824" y="4352544"/>
            <a:ext cx="402336" cy="402336"/>
          </a:xfrm>
          <a:prstGeom prst="ellipse">
            <a:avLst/>
          </a:prstGeom>
          <a:solidFill>
            <a:srgbClr val="293D94"/>
          </a:solidFill>
          <a:ln w="12700">
            <a:solidFill>
              <a:srgbClr val="293D94"/>
            </a:solidFill>
            <a:prstDash val="solid"/>
          </a:ln>
        </p:spPr>
      </p:sp>
      <p:sp>
        <p:nvSpPr>
          <p:cNvPr id="30" name="Text 28"/>
          <p:cNvSpPr/>
          <p:nvPr/>
        </p:nvSpPr>
        <p:spPr>
          <a:xfrm>
            <a:off x="877824" y="4352544"/>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31" name="Text 29"/>
          <p:cNvSpPr/>
          <p:nvPr/>
        </p:nvSpPr>
        <p:spPr>
          <a:xfrm>
            <a:off x="1426464" y="4334256"/>
            <a:ext cx="9820656" cy="292608"/>
          </a:xfrm>
          <a:prstGeom prst="rect">
            <a:avLst/>
          </a:prstGeom>
          <a:noFill/>
          <a:ln/>
        </p:spPr>
        <p:txBody>
          <a:bodyPr wrap="square" lIns="0" tIns="0" rIns="0" bIns="0" rtlCol="0" anchor="ctr"/>
          <a:lstStyle/>
          <a:p>
            <a:pPr marL="0" indent="0">
              <a:buNone/>
            </a:pPr>
            <a:r>
              <a:rPr lang="en-US" sz="1500" b="1" dirty="0">
                <a:solidFill>
                  <a:srgbClr val="16181D"/>
                </a:solidFill>
                <a:latin typeface="Calibri" pitchFamily="34" charset="0"/>
                <a:ea typeface="Calibri" pitchFamily="34" charset="-122"/>
                <a:cs typeface="Calibri" pitchFamily="34" charset="-120"/>
              </a:rPr>
              <a:t>Training is a script, not a notebook</a:t>
            </a:r>
            <a:endParaRPr lang="en-US" sz="1500" dirty="0"/>
          </a:p>
        </p:txBody>
      </p:sp>
      <p:sp>
        <p:nvSpPr>
          <p:cNvPr id="32" name="Text 30"/>
          <p:cNvSpPr/>
          <p:nvPr/>
        </p:nvSpPr>
        <p:spPr>
          <a:xfrm>
            <a:off x="1426464" y="4663440"/>
            <a:ext cx="9820656" cy="621792"/>
          </a:xfrm>
          <a:prstGeom prst="rect">
            <a:avLst/>
          </a:prstGeom>
          <a:noFill/>
          <a:ln/>
        </p:spPr>
        <p:txBody>
          <a:bodyPr wrap="square" lIns="0" tIns="0" rIns="0" bIns="0" rtlCol="0" anchor="t"/>
          <a:lstStyle/>
          <a:p>
            <a:pPr marL="0" indent="0">
              <a:lnSpc>
                <a:spcPct val="112000"/>
              </a:lnSpc>
              <a:buNone/>
            </a:pPr>
            <a:r>
              <a:rPr lang="en-US" sz="1250" dirty="0">
                <a:solidFill>
                  <a:srgbClr val="4B5563"/>
                </a:solidFill>
                <a:latin typeface="Calibri" pitchFamily="34" charset="0"/>
                <a:ea typeface="Calibri" pitchFamily="34" charset="-122"/>
                <a:cs typeface="Calibri" pitchFamily="34" charset="-120"/>
              </a:rPr>
              <a:t>train_stages.py waits for free VRAM on a shared card, recovers from out-of-memory by halving the batch, and can resume a single stage. None of that survives a kernel restart — which is why the released weights come from the script, and why the training notebook was removed rather than left as a second, subtly different path.</a:t>
            </a:r>
            <a:endParaRPr lang="en-US" sz="1250" dirty="0"/>
          </a:p>
        </p:txBody>
      </p:sp>
      <p:sp>
        <p:nvSpPr>
          <p:cNvPr id="33" name="Text 31"/>
          <p:cNvSpPr/>
          <p:nvPr/>
        </p:nvSpPr>
        <p:spPr>
          <a:xfrm>
            <a:off x="640080" y="6419088"/>
            <a:ext cx="5486400" cy="256032"/>
          </a:xfrm>
          <a:prstGeom prst="rect">
            <a:avLst/>
          </a:prstGeom>
          <a:noFill/>
          <a:ln/>
        </p:spPr>
        <p:txBody>
          <a:bodyPr wrap="square" lIns="0" tIns="0" rIns="0" bIns="0" rtlCol="0" anchor="ctr"/>
          <a:lstStyle/>
          <a:p>
            <a:pPr marL="0" indent="0">
              <a:buNone/>
            </a:pPr>
            <a:r>
              <a:rPr lang="en-US" sz="950" dirty="0">
                <a:solidFill>
                  <a:srgbClr val="8A919E"/>
                </a:solidFill>
                <a:latin typeface="Calibri" pitchFamily="34" charset="0"/>
                <a:ea typeface="Calibri" pitchFamily="34" charset="-122"/>
                <a:cs typeface="Calibri" pitchFamily="34" charset="-120"/>
              </a:rPr>
              <a:t>Ekegusii NMT · USIU-Africa · 2026</a:t>
            </a:r>
            <a:endParaRPr lang="en-US" sz="950" dirty="0"/>
          </a:p>
        </p:txBody>
      </p:sp>
      <p:sp>
        <p:nvSpPr>
          <p:cNvPr id="34" name="Text 32"/>
          <p:cNvSpPr/>
          <p:nvPr/>
        </p:nvSpPr>
        <p:spPr>
          <a:xfrm>
            <a:off x="10972800" y="6419088"/>
            <a:ext cx="548640" cy="256032"/>
          </a:xfrm>
          <a:prstGeom prst="rect">
            <a:avLst/>
          </a:prstGeom>
          <a:noFill/>
          <a:ln/>
        </p:spPr>
        <p:txBody>
          <a:bodyPr wrap="square" lIns="0" tIns="0" rIns="0" bIns="0" rtlCol="0" anchor="ctr"/>
          <a:lstStyle/>
          <a:p>
            <a:pPr marL="0" indent="0" algn="r">
              <a:buNone/>
            </a:pPr>
            <a:r>
              <a:rPr lang="en-US" sz="950" dirty="0">
                <a:solidFill>
                  <a:srgbClr val="8A919E"/>
                </a:solidFill>
                <a:latin typeface="Calibri" pitchFamily="34" charset="0"/>
                <a:ea typeface="Calibri" pitchFamily="34" charset="-122"/>
                <a:cs typeface="Calibri" pitchFamily="34" charset="-120"/>
              </a:rPr>
              <a:t>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marL="0" indent="0">
              <a:buNone/>
            </a:pPr>
            <a:r>
              <a:rPr lang="en-US" sz="1200" b="1" kern="0" spc="240" dirty="0">
                <a:solidFill>
                  <a:srgbClr val="293D94"/>
                </a:solidFill>
                <a:latin typeface="Calibri" pitchFamily="34" charset="0"/>
                <a:ea typeface="Calibri" pitchFamily="34" charset="-122"/>
                <a:cs typeface="Calibri" pitchFamily="34" charset="-120"/>
              </a:rPr>
              <a:t>RESULTS</a:t>
            </a:r>
            <a:endParaRPr lang="en-US" sz="1200" dirty="0"/>
          </a:p>
        </p:txBody>
      </p:sp>
      <p:sp>
        <p:nvSpPr>
          <p:cNvPr id="3" name="Text 1"/>
          <p:cNvSpPr/>
          <p:nvPr/>
        </p:nvSpPr>
        <p:spPr>
          <a:xfrm>
            <a:off x="640080" y="658368"/>
            <a:ext cx="10881360" cy="658368"/>
          </a:xfrm>
          <a:prstGeom prst="rect">
            <a:avLst/>
          </a:prstGeom>
          <a:noFill/>
          <a:ln/>
        </p:spPr>
        <p:txBody>
          <a:bodyPr wrap="square" lIns="0" tIns="0" rIns="0" bIns="0" rtlCol="0" anchor="t"/>
          <a:lstStyle/>
          <a:p>
            <a:pPr marL="0" indent="0">
              <a:buNone/>
            </a:pPr>
            <a:r>
              <a:rPr lang="en-US" sz="3000" b="1" dirty="0">
                <a:solidFill>
                  <a:srgbClr val="16181D"/>
                </a:solidFill>
                <a:latin typeface="Cambria" pitchFamily="34" charset="0"/>
                <a:ea typeface="Cambria" pitchFamily="34" charset="-122"/>
                <a:cs typeface="Cambria" pitchFamily="34" charset="-120"/>
              </a:rPr>
              <a:t>Both directions, four systems, chrF2++</a:t>
            </a:r>
            <a:endParaRPr lang="en-US" sz="3000" dirty="0"/>
          </a:p>
        </p:txBody>
      </p:sp>
      <p:sp>
        <p:nvSpPr>
          <p:cNvPr id="4" name="Shape 2"/>
          <p:cNvSpPr/>
          <p:nvPr/>
        </p:nvSpPr>
        <p:spPr>
          <a:xfrm>
            <a:off x="640080" y="1636776"/>
            <a:ext cx="155448" cy="155448"/>
          </a:xfrm>
          <a:prstGeom prst="roundRect">
            <a:avLst>
              <a:gd name="adj" fmla="val 23529"/>
            </a:avLst>
          </a:prstGeom>
          <a:solidFill>
            <a:srgbClr val="C8CDD8"/>
          </a:solidFill>
          <a:ln w="12700">
            <a:solidFill>
              <a:srgbClr val="C8CDD8"/>
            </a:solidFill>
            <a:prstDash val="solid"/>
          </a:ln>
        </p:spPr>
      </p:sp>
      <p:sp>
        <p:nvSpPr>
          <p:cNvPr id="5" name="Text 3"/>
          <p:cNvSpPr/>
          <p:nvPr/>
        </p:nvSpPr>
        <p:spPr>
          <a:xfrm>
            <a:off x="859536" y="1591056"/>
            <a:ext cx="2286000" cy="256032"/>
          </a:xfrm>
          <a:prstGeom prst="rect">
            <a:avLst/>
          </a:prstGeom>
          <a:noFill/>
          <a:ln/>
        </p:spPr>
        <p:txBody>
          <a:bodyPr wrap="square" lIns="0" tIns="0" rIns="0" bIns="0" rtlCol="0" anchor="ctr"/>
          <a:lstStyle/>
          <a:p>
            <a:pPr marL="0" indent="0">
              <a:buNone/>
            </a:pPr>
            <a:r>
              <a:rPr lang="en-US" sz="1100" dirty="0">
                <a:solidFill>
                  <a:srgbClr val="4B5563"/>
                </a:solidFill>
                <a:latin typeface="Calibri" pitchFamily="34" charset="0"/>
                <a:ea typeface="Calibri" pitchFamily="34" charset="-122"/>
                <a:cs typeface="Calibri" pitchFamily="34" charset="-120"/>
              </a:rPr>
              <a:t>Stock NLLB-200</a:t>
            </a:r>
            <a:endParaRPr lang="en-US" sz="1100" dirty="0"/>
          </a:p>
        </p:txBody>
      </p:sp>
      <p:sp>
        <p:nvSpPr>
          <p:cNvPr id="6" name="Shape 4"/>
          <p:cNvSpPr/>
          <p:nvPr/>
        </p:nvSpPr>
        <p:spPr>
          <a:xfrm>
            <a:off x="1836115" y="1636776"/>
            <a:ext cx="155448" cy="155448"/>
          </a:xfrm>
          <a:prstGeom prst="roundRect">
            <a:avLst>
              <a:gd name="adj" fmla="val 23529"/>
            </a:avLst>
          </a:prstGeom>
          <a:solidFill>
            <a:srgbClr val="9AA8D8"/>
          </a:solidFill>
          <a:ln w="12700">
            <a:solidFill>
              <a:srgbClr val="9AA8D8"/>
            </a:solidFill>
            <a:prstDash val="solid"/>
          </a:ln>
        </p:spPr>
      </p:sp>
      <p:sp>
        <p:nvSpPr>
          <p:cNvPr id="7" name="Text 5"/>
          <p:cNvSpPr/>
          <p:nvPr/>
        </p:nvSpPr>
        <p:spPr>
          <a:xfrm>
            <a:off x="2055571" y="1591056"/>
            <a:ext cx="2286000" cy="256032"/>
          </a:xfrm>
          <a:prstGeom prst="rect">
            <a:avLst/>
          </a:prstGeom>
          <a:noFill/>
          <a:ln/>
        </p:spPr>
        <p:txBody>
          <a:bodyPr wrap="square" lIns="0" tIns="0" rIns="0" bIns="0" rtlCol="0" anchor="ctr"/>
          <a:lstStyle/>
          <a:p>
            <a:pPr marL="0" indent="0">
              <a:buNone/>
            </a:pPr>
            <a:r>
              <a:rPr lang="en-US" sz="1100" dirty="0">
                <a:solidFill>
                  <a:srgbClr val="4B5563"/>
                </a:solidFill>
                <a:latin typeface="Calibri" pitchFamily="34" charset="0"/>
                <a:ea typeface="Calibri" pitchFamily="34" charset="-122"/>
                <a:cs typeface="Calibri" pitchFamily="34" charset="-120"/>
              </a:rPr>
              <a:t>Stage 1 (language only)</a:t>
            </a:r>
            <a:endParaRPr lang="en-US" sz="1100" dirty="0"/>
          </a:p>
        </p:txBody>
      </p:sp>
      <p:sp>
        <p:nvSpPr>
          <p:cNvPr id="8" name="Shape 6"/>
          <p:cNvSpPr/>
          <p:nvPr/>
        </p:nvSpPr>
        <p:spPr>
          <a:xfrm>
            <a:off x="3624682" y="1636776"/>
            <a:ext cx="155448" cy="155448"/>
          </a:xfrm>
          <a:prstGeom prst="roundRect">
            <a:avLst>
              <a:gd name="adj" fmla="val 23529"/>
            </a:avLst>
          </a:prstGeom>
          <a:solidFill>
            <a:srgbClr val="6C7FC4"/>
          </a:solidFill>
          <a:ln w="12700">
            <a:solidFill>
              <a:srgbClr val="6C7FC4"/>
            </a:solidFill>
            <a:prstDash val="solid"/>
          </a:ln>
        </p:spPr>
      </p:sp>
      <p:sp>
        <p:nvSpPr>
          <p:cNvPr id="9" name="Text 7"/>
          <p:cNvSpPr/>
          <p:nvPr/>
        </p:nvSpPr>
        <p:spPr>
          <a:xfrm>
            <a:off x="3844138" y="1591056"/>
            <a:ext cx="2286000" cy="256032"/>
          </a:xfrm>
          <a:prstGeom prst="rect">
            <a:avLst/>
          </a:prstGeom>
          <a:noFill/>
          <a:ln/>
        </p:spPr>
        <p:txBody>
          <a:bodyPr wrap="square" lIns="0" tIns="0" rIns="0" bIns="0" rtlCol="0" anchor="ctr"/>
          <a:lstStyle/>
          <a:p>
            <a:pPr marL="0" indent="0">
              <a:buNone/>
            </a:pPr>
            <a:r>
              <a:rPr lang="en-US" sz="1100" dirty="0">
                <a:solidFill>
                  <a:srgbClr val="4B5563"/>
                </a:solidFill>
                <a:latin typeface="Calibri" pitchFamily="34" charset="0"/>
                <a:ea typeface="Calibri" pitchFamily="34" charset="-122"/>
                <a:cs typeface="Calibri" pitchFamily="34" charset="-120"/>
              </a:rPr>
              <a:t>Two-stage curriculum</a:t>
            </a:r>
            <a:endParaRPr lang="en-US" sz="1100" dirty="0"/>
          </a:p>
        </p:txBody>
      </p:sp>
      <p:sp>
        <p:nvSpPr>
          <p:cNvPr id="10" name="Shape 8"/>
          <p:cNvSpPr/>
          <p:nvPr/>
        </p:nvSpPr>
        <p:spPr>
          <a:xfrm>
            <a:off x="5215738" y="1636776"/>
            <a:ext cx="155448" cy="155448"/>
          </a:xfrm>
          <a:prstGeom prst="roundRect">
            <a:avLst>
              <a:gd name="adj" fmla="val 23529"/>
            </a:avLst>
          </a:prstGeom>
          <a:solidFill>
            <a:srgbClr val="293D94"/>
          </a:solidFill>
          <a:ln w="12700">
            <a:solidFill>
              <a:srgbClr val="293D94"/>
            </a:solidFill>
            <a:prstDash val="solid"/>
          </a:ln>
        </p:spPr>
      </p:sp>
      <p:sp>
        <p:nvSpPr>
          <p:cNvPr id="11" name="Text 9"/>
          <p:cNvSpPr/>
          <p:nvPr/>
        </p:nvSpPr>
        <p:spPr>
          <a:xfrm>
            <a:off x="5435194" y="1591056"/>
            <a:ext cx="2286000" cy="256032"/>
          </a:xfrm>
          <a:prstGeom prst="rect">
            <a:avLst/>
          </a:prstGeom>
          <a:noFill/>
          <a:ln/>
        </p:spPr>
        <p:txBody>
          <a:bodyPr wrap="square" lIns="0" tIns="0" rIns="0" bIns="0" rtlCol="0" anchor="ctr"/>
          <a:lstStyle/>
          <a:p>
            <a:pPr marL="0" indent="0">
              <a:buNone/>
            </a:pPr>
            <a:r>
              <a:rPr lang="en-US" sz="1100" dirty="0">
                <a:solidFill>
                  <a:srgbClr val="4B5563"/>
                </a:solidFill>
                <a:latin typeface="Calibri" pitchFamily="34" charset="0"/>
                <a:ea typeface="Calibri" pitchFamily="34" charset="-122"/>
                <a:cs typeface="Calibri" pitchFamily="34" charset="-120"/>
              </a:rPr>
              <a:t>Single pass (released)</a:t>
            </a:r>
            <a:endParaRPr lang="en-US" sz="1100" dirty="0"/>
          </a:p>
        </p:txBody>
      </p:sp>
      <p:sp>
        <p:nvSpPr>
          <p:cNvPr id="12" name="Text 10"/>
          <p:cNvSpPr/>
          <p:nvPr/>
        </p:nvSpPr>
        <p:spPr>
          <a:xfrm>
            <a:off x="640080" y="1975104"/>
            <a:ext cx="5486400" cy="256032"/>
          </a:xfrm>
          <a:prstGeom prst="rect">
            <a:avLst/>
          </a:prstGeom>
          <a:noFill/>
          <a:ln/>
        </p:spPr>
        <p:txBody>
          <a:bodyPr wrap="square" lIns="0" tIns="0" rIns="0" bIns="0" rtlCol="0" anchor="ctr"/>
          <a:lstStyle/>
          <a:p>
            <a:pPr marL="0" indent="0">
              <a:buNone/>
            </a:pPr>
            <a:r>
              <a:rPr lang="en-US" sz="1300" b="1" dirty="0">
                <a:solidFill>
                  <a:srgbClr val="16181D"/>
                </a:solidFill>
                <a:latin typeface="Calibri" pitchFamily="34" charset="0"/>
                <a:ea typeface="Calibri" pitchFamily="34" charset="-122"/>
                <a:cs typeface="Calibri" pitchFamily="34" charset="-120"/>
              </a:rPr>
              <a:t>English into Ekegusii</a:t>
            </a:r>
            <a:endParaRPr lang="en-US" sz="1300" dirty="0"/>
          </a:p>
        </p:txBody>
      </p:sp>
      <p:graphicFrame>
        <p:nvGraphicFramePr>
          <p:cNvPr id="13" name="Chart 0"/>
          <p:cNvGraphicFramePr/>
          <p:nvPr/>
        </p:nvGraphicFramePr>
        <p:xfrm>
          <a:off x="502920" y="2249424"/>
          <a:ext cx="6035040" cy="3063240"/>
        </p:xfrm>
        <a:graphic>
          <a:graphicData uri="http://schemas.openxmlformats.org/drawingml/2006/chart">
            <c:chart xmlns:c="http://schemas.openxmlformats.org/drawingml/2006/chart" xmlns:r="http://schemas.openxmlformats.org/officeDocument/2006/relationships" r:id="rId3"/>
          </a:graphicData>
        </a:graphic>
      </p:graphicFrame>
      <p:sp>
        <p:nvSpPr>
          <p:cNvPr id="14" name="Text 11"/>
          <p:cNvSpPr/>
          <p:nvPr/>
        </p:nvSpPr>
        <p:spPr>
          <a:xfrm>
            <a:off x="6766560" y="1975104"/>
            <a:ext cx="4572000" cy="256032"/>
          </a:xfrm>
          <a:prstGeom prst="rect">
            <a:avLst/>
          </a:prstGeom>
          <a:noFill/>
          <a:ln/>
        </p:spPr>
        <p:txBody>
          <a:bodyPr wrap="square" lIns="0" tIns="0" rIns="0" bIns="0" rtlCol="0" anchor="ctr"/>
          <a:lstStyle/>
          <a:p>
            <a:pPr marL="0" indent="0">
              <a:buNone/>
            </a:pPr>
            <a:r>
              <a:rPr lang="en-US" sz="1300" b="1" dirty="0">
                <a:solidFill>
                  <a:srgbClr val="16181D"/>
                </a:solidFill>
                <a:latin typeface="Calibri" pitchFamily="34" charset="0"/>
                <a:ea typeface="Calibri" pitchFamily="34" charset="-122"/>
                <a:cs typeface="Calibri" pitchFamily="34" charset="-120"/>
              </a:rPr>
              <a:t>Kiswahili into Ekegusii</a:t>
            </a:r>
            <a:endParaRPr lang="en-US" sz="1300" dirty="0"/>
          </a:p>
        </p:txBody>
      </p:sp>
      <p:graphicFrame>
        <p:nvGraphicFramePr>
          <p:cNvPr id="15" name="Chart 1"/>
          <p:cNvGraphicFramePr/>
          <p:nvPr/>
        </p:nvGraphicFramePr>
        <p:xfrm>
          <a:off x="6629400" y="2249424"/>
          <a:ext cx="4892040" cy="3063240"/>
        </p:xfrm>
        <a:graphic>
          <a:graphicData uri="http://schemas.openxmlformats.org/drawingml/2006/chart">
            <c:chart xmlns:c="http://schemas.openxmlformats.org/drawingml/2006/chart" xmlns:r="http://schemas.openxmlformats.org/officeDocument/2006/relationships" r:id="rId4"/>
          </a:graphicData>
        </a:graphic>
      </p:graphicFrame>
      <p:sp>
        <p:nvSpPr>
          <p:cNvPr id="16" name="Shape 12"/>
          <p:cNvSpPr/>
          <p:nvPr/>
        </p:nvSpPr>
        <p:spPr>
          <a:xfrm>
            <a:off x="640080" y="5440680"/>
            <a:ext cx="10881360" cy="914400"/>
          </a:xfrm>
          <a:prstGeom prst="roundRect">
            <a:avLst>
              <a:gd name="adj" fmla="val 9000"/>
            </a:avLst>
          </a:prstGeom>
          <a:solidFill>
            <a:srgbClr val="F1F3F9"/>
          </a:solidFill>
          <a:ln w="12700">
            <a:solidFill>
              <a:srgbClr val="F1F3F9"/>
            </a:solidFill>
            <a:prstDash val="solid"/>
          </a:ln>
        </p:spPr>
      </p:sp>
      <p:sp>
        <p:nvSpPr>
          <p:cNvPr id="17" name="Text 13"/>
          <p:cNvSpPr/>
          <p:nvPr/>
        </p:nvSpPr>
        <p:spPr>
          <a:xfrm>
            <a:off x="914400" y="5660136"/>
            <a:ext cx="10332720" cy="292608"/>
          </a:xfrm>
          <a:prstGeom prst="rect">
            <a:avLst/>
          </a:prstGeom>
          <a:noFill/>
          <a:ln/>
        </p:spPr>
        <p:txBody>
          <a:bodyPr wrap="square" lIns="0" tIns="0" rIns="0" bIns="0" rtlCol="0" anchor="ctr"/>
          <a:lstStyle/>
          <a:p>
            <a:pPr marL="0" indent="0">
              <a:buNone/>
            </a:pPr>
            <a:r>
              <a:rPr lang="en-US" sz="1500" b="1" dirty="0">
                <a:solidFill>
                  <a:srgbClr val="16181D"/>
                </a:solidFill>
                <a:latin typeface="Calibri" pitchFamily="34" charset="0"/>
                <a:ea typeface="Calibri" pitchFamily="34" charset="-122"/>
                <a:cs typeface="Calibri" pitchFamily="34" charset="-120"/>
              </a:rPr>
              <a:t>The two directions agree, which is itself the point: the gain is not an artifact of one source language.</a:t>
            </a:r>
            <a:endParaRPr lang="en-US" sz="1500" dirty="0"/>
          </a:p>
        </p:txBody>
      </p:sp>
      <p:sp>
        <p:nvSpPr>
          <p:cNvPr id="18" name="Text 14"/>
          <p:cNvSpPr/>
          <p:nvPr/>
        </p:nvSpPr>
        <p:spPr>
          <a:xfrm>
            <a:off x="640080" y="6419088"/>
            <a:ext cx="5486400" cy="256032"/>
          </a:xfrm>
          <a:prstGeom prst="rect">
            <a:avLst/>
          </a:prstGeom>
          <a:noFill/>
          <a:ln/>
        </p:spPr>
        <p:txBody>
          <a:bodyPr wrap="square" lIns="0" tIns="0" rIns="0" bIns="0" rtlCol="0" anchor="ctr"/>
          <a:lstStyle/>
          <a:p>
            <a:pPr marL="0" indent="0">
              <a:buNone/>
            </a:pPr>
            <a:r>
              <a:rPr lang="en-US" sz="950" dirty="0">
                <a:solidFill>
                  <a:srgbClr val="8A919E"/>
                </a:solidFill>
                <a:latin typeface="Calibri" pitchFamily="34" charset="0"/>
                <a:ea typeface="Calibri" pitchFamily="34" charset="-122"/>
                <a:cs typeface="Calibri" pitchFamily="34" charset="-120"/>
              </a:rPr>
              <a:t>Ekegusii NMT · USIU-Africa · 2026</a:t>
            </a:r>
            <a:endParaRPr lang="en-US" sz="950" dirty="0"/>
          </a:p>
        </p:txBody>
      </p:sp>
      <p:sp>
        <p:nvSpPr>
          <p:cNvPr id="19" name="Text 15"/>
          <p:cNvSpPr/>
          <p:nvPr/>
        </p:nvSpPr>
        <p:spPr>
          <a:xfrm>
            <a:off x="10972800" y="6419088"/>
            <a:ext cx="548640" cy="256032"/>
          </a:xfrm>
          <a:prstGeom prst="rect">
            <a:avLst/>
          </a:prstGeom>
          <a:noFill/>
          <a:ln/>
        </p:spPr>
        <p:txBody>
          <a:bodyPr wrap="square" lIns="0" tIns="0" rIns="0" bIns="0" rtlCol="0" anchor="ctr"/>
          <a:lstStyle/>
          <a:p>
            <a:pPr marL="0" indent="0" algn="r">
              <a:buNone/>
            </a:pPr>
            <a:r>
              <a:rPr lang="en-US" sz="950" dirty="0">
                <a:solidFill>
                  <a:srgbClr val="8A919E"/>
                </a:solidFill>
                <a:latin typeface="Calibri" pitchFamily="34" charset="0"/>
                <a:ea typeface="Calibri" pitchFamily="34" charset="-122"/>
                <a:cs typeface="Calibri"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marL="0" indent="0">
              <a:buNone/>
            </a:pPr>
            <a:r>
              <a:rPr lang="en-US" sz="1200" b="1" kern="0" spc="240" dirty="0">
                <a:solidFill>
                  <a:srgbClr val="293D94"/>
                </a:solidFill>
                <a:latin typeface="Calibri" pitchFamily="34" charset="0"/>
                <a:ea typeface="Calibri" pitchFamily="34" charset="-122"/>
                <a:cs typeface="Calibri" pitchFamily="34" charset="-120"/>
              </a:rPr>
              <a:t>RESULTS IN FULL</a:t>
            </a:r>
            <a:endParaRPr lang="en-US" sz="1200" dirty="0"/>
          </a:p>
        </p:txBody>
      </p:sp>
      <p:sp>
        <p:nvSpPr>
          <p:cNvPr id="3" name="Text 1"/>
          <p:cNvSpPr/>
          <p:nvPr/>
        </p:nvSpPr>
        <p:spPr>
          <a:xfrm>
            <a:off x="640080" y="658368"/>
            <a:ext cx="10881360" cy="658368"/>
          </a:xfrm>
          <a:prstGeom prst="rect">
            <a:avLst/>
          </a:prstGeom>
          <a:noFill/>
          <a:ln/>
        </p:spPr>
        <p:txBody>
          <a:bodyPr wrap="square" lIns="0" tIns="0" rIns="0" bIns="0" rtlCol="0" anchor="t"/>
          <a:lstStyle/>
          <a:p>
            <a:pPr marL="0" indent="0">
              <a:buNone/>
            </a:pPr>
            <a:r>
              <a:rPr lang="en-US" sz="3000" b="1" dirty="0">
                <a:solidFill>
                  <a:srgbClr val="16181D"/>
                </a:solidFill>
                <a:latin typeface="Cambria" pitchFamily="34" charset="0"/>
                <a:ea typeface="Cambria" pitchFamily="34" charset="-122"/>
                <a:cs typeface="Cambria" pitchFamily="34" charset="-120"/>
              </a:rPr>
              <a:t>Every system, both metrics, both directions</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0080" y="1600200"/>
          <a:ext cx="10881360" cy="914400"/>
        </p:xfrm>
        <a:graphic>
          <a:graphicData uri="http://schemas.openxmlformats.org/drawingml/2006/table">
            <a:tbl>
              <a:tblPr/>
              <a:tblGrid>
                <a:gridCol w="2331720">
                  <a:extLst>
                    <a:ext uri="{9D8B030D-6E8A-4147-A177-3AD203B41FA5}">
                      <a16:colId xmlns:a16="http://schemas.microsoft.com/office/drawing/2014/main" val="20000"/>
                    </a:ext>
                  </a:extLst>
                </a:gridCol>
                <a:gridCol w="169164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1051560">
                  <a:extLst>
                    <a:ext uri="{9D8B030D-6E8A-4147-A177-3AD203B41FA5}">
                      <a16:colId xmlns:a16="http://schemas.microsoft.com/office/drawing/2014/main" val="20003"/>
                    </a:ext>
                  </a:extLst>
                </a:gridCol>
                <a:gridCol w="1051560">
                  <a:extLst>
                    <a:ext uri="{9D8B030D-6E8A-4147-A177-3AD203B41FA5}">
                      <a16:colId xmlns:a16="http://schemas.microsoft.com/office/drawing/2014/main" val="20004"/>
                    </a:ext>
                  </a:extLst>
                </a:gridCol>
                <a:gridCol w="1188720">
                  <a:extLst>
                    <a:ext uri="{9D8B030D-6E8A-4147-A177-3AD203B41FA5}">
                      <a16:colId xmlns:a16="http://schemas.microsoft.com/office/drawing/2014/main" val="20005"/>
                    </a:ext>
                  </a:extLst>
                </a:gridCol>
                <a:gridCol w="1051560">
                  <a:extLst>
                    <a:ext uri="{9D8B030D-6E8A-4147-A177-3AD203B41FA5}">
                      <a16:colId xmlns:a16="http://schemas.microsoft.com/office/drawing/2014/main" val="20006"/>
                    </a:ext>
                  </a:extLst>
                </a:gridCol>
              </a:tblGrid>
              <a:tr h="265176">
                <a:tc>
                  <a:txBody>
                    <a:bodyPr/>
                    <a:lstStyle/>
                    <a:p>
                      <a:pPr marL="0" indent="0">
                        <a:buNone/>
                      </a:pPr>
                      <a:r>
                        <a:rPr lang="en-US" sz="1050" b="1" dirty="0">
                          <a:solidFill>
                            <a:srgbClr val="16181D"/>
                          </a:solidFill>
                          <a:latin typeface="Calibri" pitchFamily="34" charset="0"/>
                          <a:ea typeface="Calibri" pitchFamily="34" charset="-122"/>
                          <a:cs typeface="Calibri" pitchFamily="34" charset="-120"/>
                        </a:rPr>
                        <a:t>Direction</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r>
                        <a:rPr lang="en-US" sz="1050" b="1" dirty="0">
                          <a:solidFill>
                            <a:srgbClr val="16181D"/>
                          </a:solidFill>
                          <a:latin typeface="Calibri" pitchFamily="34" charset="0"/>
                          <a:ea typeface="Calibri" pitchFamily="34" charset="-122"/>
                          <a:cs typeface="Calibri" pitchFamily="34" charset="-120"/>
                        </a:rPr>
                        <a:t>Test set</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b="1" dirty="0">
                          <a:solidFill>
                            <a:srgbClr val="16181D"/>
                          </a:solidFill>
                          <a:latin typeface="Calibri" pitchFamily="34" charset="0"/>
                          <a:ea typeface="Calibri" pitchFamily="34" charset="-122"/>
                          <a:cs typeface="Calibri" pitchFamily="34" charset="-120"/>
                        </a:rPr>
                        <a:t>n</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b="1" dirty="0">
                          <a:solidFill>
                            <a:srgbClr val="16181D"/>
                          </a:solidFill>
                          <a:latin typeface="Calibri" pitchFamily="34" charset="0"/>
                          <a:ea typeface="Calibri" pitchFamily="34" charset="-122"/>
                          <a:cs typeface="Calibri" pitchFamily="34" charset="-120"/>
                        </a:rPr>
                        <a:t>Stock</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b="1" dirty="0">
                          <a:solidFill>
                            <a:srgbClr val="16181D"/>
                          </a:solidFill>
                          <a:latin typeface="Calibri" pitchFamily="34" charset="0"/>
                          <a:ea typeface="Calibri" pitchFamily="34" charset="-122"/>
                          <a:cs typeface="Calibri" pitchFamily="34" charset="-120"/>
                        </a:rPr>
                        <a:t>Stage 1</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b="1" dirty="0">
                          <a:solidFill>
                            <a:srgbClr val="16181D"/>
                          </a:solidFill>
                          <a:latin typeface="Calibri" pitchFamily="34" charset="0"/>
                          <a:ea typeface="Calibri" pitchFamily="34" charset="-122"/>
                          <a:cs typeface="Calibri" pitchFamily="34" charset="-120"/>
                        </a:rPr>
                        <a:t>Two-stage</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b="1" dirty="0">
                          <a:solidFill>
                            <a:srgbClr val="16181D"/>
                          </a:solidFill>
                          <a:latin typeface="Calibri" pitchFamily="34" charset="0"/>
                          <a:ea typeface="Calibri" pitchFamily="34" charset="-122"/>
                          <a:cs typeface="Calibri" pitchFamily="34" charset="-120"/>
                        </a:rPr>
                        <a:t>Released</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265176">
                <a:tc>
                  <a:txBody>
                    <a:bodyPr/>
                    <a:lstStyle/>
                    <a:p>
                      <a:pPr marL="0" indent="0">
                        <a:buNone/>
                      </a:pPr>
                      <a:r>
                        <a:rPr lang="en-US" sz="1050" b="1" dirty="0">
                          <a:solidFill>
                            <a:srgbClr val="293D94"/>
                          </a:solidFill>
                          <a:latin typeface="Calibri" pitchFamily="34" charset="0"/>
                          <a:ea typeface="Calibri" pitchFamily="34" charset="-122"/>
                          <a:cs typeface="Calibri" pitchFamily="34" charset="-120"/>
                        </a:rPr>
                        <a:t>chrF2++</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65176">
                <a:tc>
                  <a:txBody>
                    <a:bodyPr/>
                    <a:lstStyle/>
                    <a:p>
                      <a:pPr marL="0" indent="0">
                        <a:buNone/>
                      </a:pPr>
                      <a:r>
                        <a:rPr lang="en-US" sz="1050" dirty="0">
                          <a:solidFill>
                            <a:srgbClr val="16181D"/>
                          </a:solidFill>
                          <a:latin typeface="Calibri" pitchFamily="34" charset="0"/>
                          <a:ea typeface="Calibri" pitchFamily="34" charset="-122"/>
                          <a:cs typeface="Calibri" pitchFamily="34" charset="-120"/>
                        </a:rPr>
                        <a:t>English to Ekegusii</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r>
                        <a:rPr lang="en-US" sz="1050" dirty="0">
                          <a:solidFill>
                            <a:srgbClr val="16181D"/>
                          </a:solidFill>
                          <a:latin typeface="Calibri" pitchFamily="34" charset="0"/>
                          <a:ea typeface="Calibri" pitchFamily="34" charset="-122"/>
                          <a:cs typeface="Calibri" pitchFamily="34" charset="-120"/>
                        </a:rPr>
                        <a:t>Real PSAs</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570</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14.56</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23.96</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34.93</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r>
                        <a:rPr lang="en-US" sz="1050" b="1" dirty="0">
                          <a:solidFill>
                            <a:srgbClr val="16181D"/>
                          </a:solidFill>
                          <a:latin typeface="Calibri" pitchFamily="34" charset="0"/>
                          <a:ea typeface="Calibri" pitchFamily="34" charset="-122"/>
                          <a:cs typeface="Calibri" pitchFamily="34" charset="-120"/>
                        </a:rPr>
                        <a:t>40.97</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65176">
                <a:tc>
                  <a:txBody>
                    <a:bodyPr/>
                    <a:lstStyle/>
                    <a:p>
                      <a:pPr marL="0" indent="0">
                        <a:buNone/>
                      </a:pPr>
                      <a:r>
                        <a:rPr lang="en-US" sz="1050" dirty="0">
                          <a:solidFill>
                            <a:srgbClr val="16181D"/>
                          </a:solidFill>
                          <a:latin typeface="Calibri" pitchFamily="34" charset="0"/>
                          <a:ea typeface="Calibri" pitchFamily="34" charset="-122"/>
                          <a:cs typeface="Calibri" pitchFamily="34" charset="-120"/>
                        </a:rPr>
                        <a:t>English to Ekegusii</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r>
                        <a:rPr lang="en-US" sz="1050" dirty="0">
                          <a:solidFill>
                            <a:srgbClr val="16181D"/>
                          </a:solidFill>
                          <a:latin typeface="Calibri" pitchFamily="34" charset="0"/>
                          <a:ea typeface="Calibri" pitchFamily="34" charset="-122"/>
                          <a:cs typeface="Calibri" pitchFamily="34" charset="-120"/>
                        </a:rPr>
                        <a:t>Scripture</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1,459</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14.88</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49.66</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48.95</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r>
                        <a:rPr lang="en-US" sz="1050" b="1" dirty="0">
                          <a:solidFill>
                            <a:srgbClr val="16181D"/>
                          </a:solidFill>
                          <a:latin typeface="Calibri" pitchFamily="34" charset="0"/>
                          <a:ea typeface="Calibri" pitchFamily="34" charset="-122"/>
                          <a:cs typeface="Calibri" pitchFamily="34" charset="-120"/>
                        </a:rPr>
                        <a:t>49.81</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65176">
                <a:tc>
                  <a:txBody>
                    <a:bodyPr/>
                    <a:lstStyle/>
                    <a:p>
                      <a:pPr marL="0" indent="0">
                        <a:buNone/>
                      </a:pPr>
                      <a:r>
                        <a:rPr lang="en-US" sz="1050" dirty="0">
                          <a:solidFill>
                            <a:srgbClr val="16181D"/>
                          </a:solidFill>
                          <a:latin typeface="Calibri" pitchFamily="34" charset="0"/>
                          <a:ea typeface="Calibri" pitchFamily="34" charset="-122"/>
                          <a:cs typeface="Calibri" pitchFamily="34" charset="-120"/>
                        </a:rPr>
                        <a:t>English to Ekegusii</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r>
                        <a:rPr lang="en-US" sz="1050" dirty="0">
                          <a:solidFill>
                            <a:srgbClr val="16181D"/>
                          </a:solidFill>
                          <a:latin typeface="Calibri" pitchFamily="34" charset="0"/>
                          <a:ea typeface="Calibri" pitchFamily="34" charset="-122"/>
                          <a:cs typeface="Calibri" pitchFamily="34" charset="-120"/>
                        </a:rPr>
                        <a:t>Everyday prose</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200</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11.41</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28.97</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29.37</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r>
                        <a:rPr lang="en-US" sz="1050" b="1" dirty="0">
                          <a:solidFill>
                            <a:srgbClr val="16181D"/>
                          </a:solidFill>
                          <a:latin typeface="Calibri" pitchFamily="34" charset="0"/>
                          <a:ea typeface="Calibri" pitchFamily="34" charset="-122"/>
                          <a:cs typeface="Calibri" pitchFamily="34" charset="-120"/>
                        </a:rPr>
                        <a:t>32.98</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65176">
                <a:tc>
                  <a:txBody>
                    <a:bodyPr/>
                    <a:lstStyle/>
                    <a:p>
                      <a:pPr marL="0" indent="0">
                        <a:buNone/>
                      </a:pPr>
                      <a:r>
                        <a:rPr lang="en-US" sz="1050" dirty="0">
                          <a:solidFill>
                            <a:srgbClr val="16181D"/>
                          </a:solidFill>
                          <a:latin typeface="Calibri" pitchFamily="34" charset="0"/>
                          <a:ea typeface="Calibri" pitchFamily="34" charset="-122"/>
                          <a:cs typeface="Calibri" pitchFamily="34" charset="-120"/>
                        </a:rPr>
                        <a:t>Kiswahili to Ekegusii</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r>
                        <a:rPr lang="en-US" sz="1050" dirty="0">
                          <a:solidFill>
                            <a:srgbClr val="16181D"/>
                          </a:solidFill>
                          <a:latin typeface="Calibri" pitchFamily="34" charset="0"/>
                          <a:ea typeface="Calibri" pitchFamily="34" charset="-122"/>
                          <a:cs typeface="Calibri" pitchFamily="34" charset="-120"/>
                        </a:rPr>
                        <a:t>Real PSAs</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371</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14.13</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24.49</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34.50</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r>
                        <a:rPr lang="en-US" sz="1050" b="1" dirty="0">
                          <a:solidFill>
                            <a:srgbClr val="16181D"/>
                          </a:solidFill>
                          <a:latin typeface="Calibri" pitchFamily="34" charset="0"/>
                          <a:ea typeface="Calibri" pitchFamily="34" charset="-122"/>
                          <a:cs typeface="Calibri" pitchFamily="34" charset="-120"/>
                        </a:rPr>
                        <a:t>39.61</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65176">
                <a:tc>
                  <a:txBody>
                    <a:bodyPr/>
                    <a:lstStyle/>
                    <a:p>
                      <a:pPr marL="0" indent="0">
                        <a:buNone/>
                      </a:pPr>
                      <a:r>
                        <a:rPr lang="en-US" sz="1050" dirty="0">
                          <a:solidFill>
                            <a:srgbClr val="16181D"/>
                          </a:solidFill>
                          <a:latin typeface="Calibri" pitchFamily="34" charset="0"/>
                          <a:ea typeface="Calibri" pitchFamily="34" charset="-122"/>
                          <a:cs typeface="Calibri" pitchFamily="34" charset="-120"/>
                        </a:rPr>
                        <a:t>Kiswahili to Ekegusii</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r>
                        <a:rPr lang="en-US" sz="1050" dirty="0">
                          <a:solidFill>
                            <a:srgbClr val="16181D"/>
                          </a:solidFill>
                          <a:latin typeface="Calibri" pitchFamily="34" charset="0"/>
                          <a:ea typeface="Calibri" pitchFamily="34" charset="-122"/>
                          <a:cs typeface="Calibri" pitchFamily="34" charset="-120"/>
                        </a:rPr>
                        <a:t>Scripture</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1,463</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14.65</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49.11</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48.80</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r>
                        <a:rPr lang="en-US" sz="1050" b="1" dirty="0">
                          <a:solidFill>
                            <a:srgbClr val="16181D"/>
                          </a:solidFill>
                          <a:latin typeface="Calibri" pitchFamily="34" charset="0"/>
                          <a:ea typeface="Calibri" pitchFamily="34" charset="-122"/>
                          <a:cs typeface="Calibri" pitchFamily="34" charset="-120"/>
                        </a:rPr>
                        <a:t>49.30</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65176">
                <a:tc>
                  <a:txBody>
                    <a:bodyPr/>
                    <a:lstStyle/>
                    <a:p>
                      <a:pPr marL="0" indent="0">
                        <a:buNone/>
                      </a:pPr>
                      <a:r>
                        <a:rPr lang="en-US" sz="1050" b="1" dirty="0">
                          <a:solidFill>
                            <a:srgbClr val="293D94"/>
                          </a:solidFill>
                          <a:latin typeface="Calibri" pitchFamily="34" charset="0"/>
                          <a:ea typeface="Calibri" pitchFamily="34" charset="-122"/>
                          <a:cs typeface="Calibri" pitchFamily="34" charset="-120"/>
                        </a:rPr>
                        <a:t>BLEU</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65176">
                <a:tc>
                  <a:txBody>
                    <a:bodyPr/>
                    <a:lstStyle/>
                    <a:p>
                      <a:pPr marL="0" indent="0">
                        <a:buNone/>
                      </a:pPr>
                      <a:r>
                        <a:rPr lang="en-US" sz="1050" dirty="0">
                          <a:solidFill>
                            <a:srgbClr val="16181D"/>
                          </a:solidFill>
                          <a:latin typeface="Calibri" pitchFamily="34" charset="0"/>
                          <a:ea typeface="Calibri" pitchFamily="34" charset="-122"/>
                          <a:cs typeface="Calibri" pitchFamily="34" charset="-120"/>
                        </a:rPr>
                        <a:t>English to Ekegusii</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r>
                        <a:rPr lang="en-US" sz="1050" dirty="0">
                          <a:solidFill>
                            <a:srgbClr val="16181D"/>
                          </a:solidFill>
                          <a:latin typeface="Calibri" pitchFamily="34" charset="0"/>
                          <a:ea typeface="Calibri" pitchFamily="34" charset="-122"/>
                          <a:cs typeface="Calibri" pitchFamily="34" charset="-120"/>
                        </a:rPr>
                        <a:t>Real PSAs</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570</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1.63</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2.54</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7.21</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r>
                        <a:rPr lang="en-US" sz="1050" b="1" dirty="0">
                          <a:solidFill>
                            <a:srgbClr val="16181D"/>
                          </a:solidFill>
                          <a:latin typeface="Calibri" pitchFamily="34" charset="0"/>
                          <a:ea typeface="Calibri" pitchFamily="34" charset="-122"/>
                          <a:cs typeface="Calibri" pitchFamily="34" charset="-120"/>
                        </a:rPr>
                        <a:t>12.33</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65176">
                <a:tc>
                  <a:txBody>
                    <a:bodyPr/>
                    <a:lstStyle/>
                    <a:p>
                      <a:pPr marL="0" indent="0">
                        <a:buNone/>
                      </a:pPr>
                      <a:r>
                        <a:rPr lang="en-US" sz="1050" dirty="0">
                          <a:solidFill>
                            <a:srgbClr val="16181D"/>
                          </a:solidFill>
                          <a:latin typeface="Calibri" pitchFamily="34" charset="0"/>
                          <a:ea typeface="Calibri" pitchFamily="34" charset="-122"/>
                          <a:cs typeface="Calibri" pitchFamily="34" charset="-120"/>
                        </a:rPr>
                        <a:t>English to Ekegusii</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r>
                        <a:rPr lang="en-US" sz="1050" dirty="0">
                          <a:solidFill>
                            <a:srgbClr val="16181D"/>
                          </a:solidFill>
                          <a:latin typeface="Calibri" pitchFamily="34" charset="0"/>
                          <a:ea typeface="Calibri" pitchFamily="34" charset="-122"/>
                          <a:cs typeface="Calibri" pitchFamily="34" charset="-120"/>
                        </a:rPr>
                        <a:t>Scripture</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1,459</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0.83</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19.75</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19.33</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r>
                        <a:rPr lang="en-US" sz="1050" b="1" dirty="0">
                          <a:solidFill>
                            <a:srgbClr val="16181D"/>
                          </a:solidFill>
                          <a:latin typeface="Calibri" pitchFamily="34" charset="0"/>
                          <a:ea typeface="Calibri" pitchFamily="34" charset="-122"/>
                          <a:cs typeface="Calibri" pitchFamily="34" charset="-120"/>
                        </a:rPr>
                        <a:t>19.91</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65176">
                <a:tc>
                  <a:txBody>
                    <a:bodyPr/>
                    <a:lstStyle/>
                    <a:p>
                      <a:pPr marL="0" indent="0">
                        <a:buNone/>
                      </a:pPr>
                      <a:r>
                        <a:rPr lang="en-US" sz="1050" dirty="0">
                          <a:solidFill>
                            <a:srgbClr val="16181D"/>
                          </a:solidFill>
                          <a:latin typeface="Calibri" pitchFamily="34" charset="0"/>
                          <a:ea typeface="Calibri" pitchFamily="34" charset="-122"/>
                          <a:cs typeface="Calibri" pitchFamily="34" charset="-120"/>
                        </a:rPr>
                        <a:t>English to Ekegusii</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r>
                        <a:rPr lang="en-US" sz="1050" dirty="0">
                          <a:solidFill>
                            <a:srgbClr val="16181D"/>
                          </a:solidFill>
                          <a:latin typeface="Calibri" pitchFamily="34" charset="0"/>
                          <a:ea typeface="Calibri" pitchFamily="34" charset="-122"/>
                          <a:cs typeface="Calibri" pitchFamily="34" charset="-120"/>
                        </a:rPr>
                        <a:t>Everyday prose</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200</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0.07</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1.27</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1.21</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r>
                        <a:rPr lang="en-US" sz="1050" b="1" dirty="0">
                          <a:solidFill>
                            <a:srgbClr val="16181D"/>
                          </a:solidFill>
                          <a:latin typeface="Calibri" pitchFamily="34" charset="0"/>
                          <a:ea typeface="Calibri" pitchFamily="34" charset="-122"/>
                          <a:cs typeface="Calibri" pitchFamily="34" charset="-120"/>
                        </a:rPr>
                        <a:t>1.59</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65176">
                <a:tc>
                  <a:txBody>
                    <a:bodyPr/>
                    <a:lstStyle/>
                    <a:p>
                      <a:pPr marL="0" indent="0">
                        <a:buNone/>
                      </a:pPr>
                      <a:r>
                        <a:rPr lang="en-US" sz="1050" dirty="0">
                          <a:solidFill>
                            <a:srgbClr val="16181D"/>
                          </a:solidFill>
                          <a:latin typeface="Calibri" pitchFamily="34" charset="0"/>
                          <a:ea typeface="Calibri" pitchFamily="34" charset="-122"/>
                          <a:cs typeface="Calibri" pitchFamily="34" charset="-120"/>
                        </a:rPr>
                        <a:t>Kiswahili to Ekegusii</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r>
                        <a:rPr lang="en-US" sz="1050" dirty="0">
                          <a:solidFill>
                            <a:srgbClr val="16181D"/>
                          </a:solidFill>
                          <a:latin typeface="Calibri" pitchFamily="34" charset="0"/>
                          <a:ea typeface="Calibri" pitchFamily="34" charset="-122"/>
                          <a:cs typeface="Calibri" pitchFamily="34" charset="-120"/>
                        </a:rPr>
                        <a:t>Real PSAs</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371</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1.01</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1.77</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6.87</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r>
                        <a:rPr lang="en-US" sz="1050" b="1" dirty="0">
                          <a:solidFill>
                            <a:srgbClr val="16181D"/>
                          </a:solidFill>
                          <a:latin typeface="Calibri" pitchFamily="34" charset="0"/>
                          <a:ea typeface="Calibri" pitchFamily="34" charset="-122"/>
                          <a:cs typeface="Calibri" pitchFamily="34" charset="-120"/>
                        </a:rPr>
                        <a:t>10.66</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265176">
                <a:tc>
                  <a:txBody>
                    <a:bodyPr/>
                    <a:lstStyle/>
                    <a:p>
                      <a:pPr marL="0" indent="0">
                        <a:buNone/>
                      </a:pPr>
                      <a:r>
                        <a:rPr lang="en-US" sz="1050" dirty="0">
                          <a:solidFill>
                            <a:srgbClr val="16181D"/>
                          </a:solidFill>
                          <a:latin typeface="Calibri" pitchFamily="34" charset="0"/>
                          <a:ea typeface="Calibri" pitchFamily="34" charset="-122"/>
                          <a:cs typeface="Calibri" pitchFamily="34" charset="-120"/>
                        </a:rPr>
                        <a:t>Kiswahili to Ekegusii</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r>
                        <a:rPr lang="en-US" sz="1050" dirty="0">
                          <a:solidFill>
                            <a:srgbClr val="16181D"/>
                          </a:solidFill>
                          <a:latin typeface="Calibri" pitchFamily="34" charset="0"/>
                          <a:ea typeface="Calibri" pitchFamily="34" charset="-122"/>
                          <a:cs typeface="Calibri" pitchFamily="34" charset="-120"/>
                        </a:rPr>
                        <a:t>Scripture</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1,463</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1.20</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19.79</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19.79</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r>
                        <a:rPr lang="en-US" sz="1050" b="1" dirty="0">
                          <a:solidFill>
                            <a:srgbClr val="16181D"/>
                          </a:solidFill>
                          <a:latin typeface="Calibri" pitchFamily="34" charset="0"/>
                          <a:ea typeface="Calibri" pitchFamily="34" charset="-122"/>
                          <a:cs typeface="Calibri" pitchFamily="34" charset="-120"/>
                        </a:rPr>
                        <a:t>19.97</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bl>
          </a:graphicData>
        </a:graphic>
      </p:graphicFrame>
      <p:sp>
        <p:nvSpPr>
          <p:cNvPr id="5" name="Shape 2"/>
          <p:cNvSpPr/>
          <p:nvPr/>
        </p:nvSpPr>
        <p:spPr>
          <a:xfrm>
            <a:off x="640080" y="5486400"/>
            <a:ext cx="10881360" cy="868680"/>
          </a:xfrm>
          <a:prstGeom prst="roundRect">
            <a:avLst>
              <a:gd name="adj" fmla="val 9474"/>
            </a:avLst>
          </a:prstGeom>
          <a:solidFill>
            <a:srgbClr val="F1F3F9"/>
          </a:solidFill>
          <a:ln w="12700">
            <a:solidFill>
              <a:srgbClr val="F1F3F9"/>
            </a:solidFill>
            <a:prstDash val="solid"/>
          </a:ln>
        </p:spPr>
      </p:sp>
      <p:sp>
        <p:nvSpPr>
          <p:cNvPr id="6" name="Text 3"/>
          <p:cNvSpPr/>
          <p:nvPr/>
        </p:nvSpPr>
        <p:spPr>
          <a:xfrm>
            <a:off x="914400" y="5705856"/>
            <a:ext cx="10332720" cy="292608"/>
          </a:xfrm>
          <a:prstGeom prst="rect">
            <a:avLst/>
          </a:prstGeom>
          <a:noFill/>
          <a:ln/>
        </p:spPr>
        <p:txBody>
          <a:bodyPr wrap="square" lIns="0" tIns="0" rIns="0" bIns="0" rtlCol="0" anchor="ctr"/>
          <a:lstStyle/>
          <a:p>
            <a:pPr marL="0" indent="0">
              <a:buNone/>
            </a:pPr>
            <a:r>
              <a:rPr lang="en-US" sz="1500" b="1" dirty="0">
                <a:solidFill>
                  <a:srgbClr val="16181D"/>
                </a:solidFill>
                <a:latin typeface="Calibri" pitchFamily="34" charset="0"/>
                <a:ea typeface="Calibri" pitchFamily="34" charset="-122"/>
                <a:cs typeface="Calibri" pitchFamily="34" charset="-120"/>
              </a:rPr>
              <a:t>Stock NLLB cannot produce Ekegusii and was asked for Kikuyu, so its row is a floor rather than a baseline. Everyday prose has no Kiswahili row: the Lughayangu corpus is English to Ekegusii only.</a:t>
            </a:r>
            <a:endParaRPr lang="en-US" sz="1500" dirty="0"/>
          </a:p>
        </p:txBody>
      </p:sp>
      <p:sp>
        <p:nvSpPr>
          <p:cNvPr id="7" name="Text 4"/>
          <p:cNvSpPr/>
          <p:nvPr/>
        </p:nvSpPr>
        <p:spPr>
          <a:xfrm>
            <a:off x="640080" y="6419088"/>
            <a:ext cx="5486400" cy="256032"/>
          </a:xfrm>
          <a:prstGeom prst="rect">
            <a:avLst/>
          </a:prstGeom>
          <a:noFill/>
          <a:ln/>
        </p:spPr>
        <p:txBody>
          <a:bodyPr wrap="square" lIns="0" tIns="0" rIns="0" bIns="0" rtlCol="0" anchor="ctr"/>
          <a:lstStyle/>
          <a:p>
            <a:pPr marL="0" indent="0">
              <a:buNone/>
            </a:pPr>
            <a:r>
              <a:rPr lang="en-US" sz="950" dirty="0">
                <a:solidFill>
                  <a:srgbClr val="8A919E"/>
                </a:solidFill>
                <a:latin typeface="Calibri" pitchFamily="34" charset="0"/>
                <a:ea typeface="Calibri" pitchFamily="34" charset="-122"/>
                <a:cs typeface="Calibri" pitchFamily="34" charset="-120"/>
              </a:rPr>
              <a:t>Ekegusii NMT · USIU-Africa · 2026</a:t>
            </a:r>
            <a:endParaRPr lang="en-US" sz="950" dirty="0"/>
          </a:p>
        </p:txBody>
      </p:sp>
      <p:sp>
        <p:nvSpPr>
          <p:cNvPr id="8" name="Text 5"/>
          <p:cNvSpPr/>
          <p:nvPr/>
        </p:nvSpPr>
        <p:spPr>
          <a:xfrm>
            <a:off x="10972800" y="6419088"/>
            <a:ext cx="548640" cy="256032"/>
          </a:xfrm>
          <a:prstGeom prst="rect">
            <a:avLst/>
          </a:prstGeom>
          <a:noFill/>
          <a:ln/>
        </p:spPr>
        <p:txBody>
          <a:bodyPr wrap="square" lIns="0" tIns="0" rIns="0" bIns="0" rtlCol="0" anchor="ctr"/>
          <a:lstStyle/>
          <a:p>
            <a:pPr marL="0" indent="0" algn="r">
              <a:buNone/>
            </a:pPr>
            <a:r>
              <a:rPr lang="en-US" sz="950" dirty="0">
                <a:solidFill>
                  <a:srgbClr val="8A919E"/>
                </a:solidFill>
                <a:latin typeface="Calibri" pitchFamily="34" charset="0"/>
                <a:ea typeface="Calibri" pitchFamily="34" charset="-122"/>
                <a:cs typeface="Calibri" pitchFamily="34" charset="-120"/>
              </a:rPr>
              <a:t>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2A63"/>
        </a:solidFill>
        <a:effectLst/>
      </p:bgPr>
    </p:bg>
    <p:spTree>
      <p:nvGrpSpPr>
        <p:cNvPr id="1" name=""/>
        <p:cNvGrpSpPr/>
        <p:nvPr/>
      </p:nvGrpSpPr>
      <p:grpSpPr>
        <a:xfrm>
          <a:off x="0" y="0"/>
          <a:ext cx="0" cy="0"/>
          <a:chOff x="0" y="0"/>
          <a:chExt cx="0" cy="0"/>
        </a:xfrm>
      </p:grpSpPr>
      <p:sp>
        <p:nvSpPr>
          <p:cNvPr id="2" name="Text 0"/>
          <p:cNvSpPr/>
          <p:nvPr/>
        </p:nvSpPr>
        <p:spPr>
          <a:xfrm>
            <a:off x="640080" y="658368"/>
            <a:ext cx="10881360" cy="274320"/>
          </a:xfrm>
          <a:prstGeom prst="rect">
            <a:avLst/>
          </a:prstGeom>
          <a:noFill/>
          <a:ln/>
        </p:spPr>
        <p:txBody>
          <a:bodyPr wrap="square" lIns="0" tIns="0" rIns="0" bIns="0" rtlCol="0" anchor="ctr"/>
          <a:lstStyle/>
          <a:p>
            <a:pPr marL="0" indent="0">
              <a:buNone/>
            </a:pPr>
            <a:r>
              <a:rPr lang="en-US" sz="1200" b="1" kern="0" spc="240" dirty="0">
                <a:solidFill>
                  <a:srgbClr val="FFCA08"/>
                </a:solidFill>
                <a:latin typeface="Calibri" pitchFamily="34" charset="0"/>
                <a:ea typeface="Calibri" pitchFamily="34" charset="-122"/>
                <a:cs typeface="Calibri" pitchFamily="34" charset="-120"/>
              </a:rPr>
              <a:t>THE FINDING</a:t>
            </a:r>
            <a:endParaRPr lang="en-US" sz="1200" dirty="0"/>
          </a:p>
        </p:txBody>
      </p:sp>
      <p:sp>
        <p:nvSpPr>
          <p:cNvPr id="3" name="Text 1"/>
          <p:cNvSpPr/>
          <p:nvPr/>
        </p:nvSpPr>
        <p:spPr>
          <a:xfrm>
            <a:off x="640080" y="1024128"/>
            <a:ext cx="9601200" cy="68580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The curriculum lost to its own control</a:t>
            </a:r>
            <a:endParaRPr lang="en-US" sz="3200" dirty="0"/>
          </a:p>
        </p:txBody>
      </p:sp>
      <p:sp>
        <p:nvSpPr>
          <p:cNvPr id="4" name="Text 2"/>
          <p:cNvSpPr/>
          <p:nvPr/>
        </p:nvSpPr>
        <p:spPr>
          <a:xfrm>
            <a:off x="640080" y="1965960"/>
            <a:ext cx="4937760" cy="822960"/>
          </a:xfrm>
          <a:prstGeom prst="rect">
            <a:avLst/>
          </a:prstGeom>
          <a:noFill/>
          <a:ln/>
        </p:spPr>
        <p:txBody>
          <a:bodyPr wrap="square" lIns="0" tIns="0" rIns="0" bIns="0" rtlCol="0" anchor="ctr"/>
          <a:lstStyle/>
          <a:p>
            <a:pPr marL="0" indent="0">
              <a:buNone/>
            </a:pPr>
            <a:r>
              <a:rPr lang="en-US" sz="5600" b="1" dirty="0">
                <a:solidFill>
                  <a:srgbClr val="FFCA08"/>
                </a:solidFill>
                <a:latin typeface="Calibri" pitchFamily="34" charset="0"/>
                <a:ea typeface="Calibri" pitchFamily="34" charset="-122"/>
                <a:cs typeface="Calibri" pitchFamily="34" charset="-120"/>
              </a:rPr>
              <a:t>−6.04</a:t>
            </a:r>
            <a:r>
              <a:rPr lang="en-US" sz="2000" b="1" dirty="0">
                <a:solidFill>
                  <a:srgbClr val="C9D2F0"/>
                </a:solidFill>
                <a:latin typeface="Calibri" pitchFamily="34" charset="0"/>
                <a:ea typeface="Calibri" pitchFamily="34" charset="-122"/>
                <a:cs typeface="Calibri" pitchFamily="34" charset="-120"/>
              </a:rPr>
              <a:t>  chrF2++</a:t>
            </a:r>
            <a:endParaRPr lang="en-US" sz="5600" dirty="0"/>
          </a:p>
        </p:txBody>
      </p:sp>
      <p:sp>
        <p:nvSpPr>
          <p:cNvPr id="5" name="Text 3"/>
          <p:cNvSpPr/>
          <p:nvPr/>
        </p:nvSpPr>
        <p:spPr>
          <a:xfrm>
            <a:off x="640080" y="2834640"/>
            <a:ext cx="4937760" cy="1005840"/>
          </a:xfrm>
          <a:prstGeom prst="rect">
            <a:avLst/>
          </a:prstGeom>
          <a:noFill/>
          <a:ln/>
        </p:spPr>
        <p:txBody>
          <a:bodyPr wrap="square" lIns="0" tIns="0" rIns="0" bIns="0" rtlCol="0" anchor="ctr"/>
          <a:lstStyle/>
          <a:p>
            <a:pPr marL="0" indent="0">
              <a:lnSpc>
                <a:spcPct val="120000"/>
              </a:lnSpc>
              <a:buNone/>
            </a:pPr>
            <a:r>
              <a:rPr lang="en-US" sz="1400" dirty="0">
                <a:solidFill>
                  <a:srgbClr val="C9D2F0"/>
                </a:solidFill>
                <a:latin typeface="Calibri" pitchFamily="34" charset="0"/>
                <a:ea typeface="Calibri" pitchFamily="34" charset="-122"/>
                <a:cs typeface="Calibri" pitchFamily="34" charset="-120"/>
              </a:rPr>
              <a:t>The two-stage curriculum scored 34.93 on real PSAs. Training on the same data in a single pass scored 40.97.</a:t>
            </a:r>
            <a:endParaRPr lang="en-US" sz="1400" dirty="0"/>
          </a:p>
        </p:txBody>
      </p:sp>
      <p:sp>
        <p:nvSpPr>
          <p:cNvPr id="6" name="Shape 4"/>
          <p:cNvSpPr/>
          <p:nvPr/>
        </p:nvSpPr>
        <p:spPr>
          <a:xfrm>
            <a:off x="6035040" y="1965960"/>
            <a:ext cx="5486400" cy="1207008"/>
          </a:xfrm>
          <a:prstGeom prst="roundRect">
            <a:avLst>
              <a:gd name="adj" fmla="val 6061"/>
            </a:avLst>
          </a:prstGeom>
          <a:solidFill>
            <a:srgbClr val="22326F"/>
          </a:solidFill>
          <a:ln w="12700">
            <a:solidFill>
              <a:srgbClr val="22326F"/>
            </a:solidFill>
            <a:prstDash val="solid"/>
          </a:ln>
        </p:spPr>
      </p:sp>
      <p:sp>
        <p:nvSpPr>
          <p:cNvPr id="7" name="Text 5"/>
          <p:cNvSpPr/>
          <p:nvPr/>
        </p:nvSpPr>
        <p:spPr>
          <a:xfrm>
            <a:off x="6263640" y="2112264"/>
            <a:ext cx="5029200"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Not a data advantage</a:t>
            </a:r>
            <a:endParaRPr lang="en-US" sz="1400" dirty="0"/>
          </a:p>
        </p:txBody>
      </p:sp>
      <p:sp>
        <p:nvSpPr>
          <p:cNvPr id="8" name="Text 6"/>
          <p:cNvSpPr/>
          <p:nvPr/>
        </p:nvSpPr>
        <p:spPr>
          <a:xfrm>
            <a:off x="6263640" y="2423160"/>
            <a:ext cx="5029200" cy="658368"/>
          </a:xfrm>
          <a:prstGeom prst="rect">
            <a:avLst/>
          </a:prstGeom>
          <a:noFill/>
          <a:ln/>
        </p:spPr>
        <p:txBody>
          <a:bodyPr wrap="square" lIns="0" tIns="0" rIns="0" bIns="0" rtlCol="0" anchor="ctr"/>
          <a:lstStyle/>
          <a:p>
            <a:pPr marL="0" indent="0">
              <a:lnSpc>
                <a:spcPct val="110000"/>
              </a:lnSpc>
              <a:buNone/>
            </a:pPr>
            <a:r>
              <a:rPr lang="en-US" sz="1150" dirty="0">
                <a:solidFill>
                  <a:srgbClr val="B9C4E8"/>
                </a:solidFill>
                <a:latin typeface="Calibri" pitchFamily="34" charset="0"/>
                <a:ea typeface="Calibri" pitchFamily="34" charset="-122"/>
                <a:cs typeface="Calibri" pitchFamily="34" charset="-120"/>
              </a:rPr>
              <a:t>The single pass sees every unique example the curriculum sees. The replay slice is duplicated scripture, not new material.</a:t>
            </a:r>
            <a:endParaRPr lang="en-US" sz="1150" dirty="0"/>
          </a:p>
        </p:txBody>
      </p:sp>
      <p:sp>
        <p:nvSpPr>
          <p:cNvPr id="9" name="Shape 7"/>
          <p:cNvSpPr/>
          <p:nvPr/>
        </p:nvSpPr>
        <p:spPr>
          <a:xfrm>
            <a:off x="6035040" y="3337560"/>
            <a:ext cx="5486400" cy="1207008"/>
          </a:xfrm>
          <a:prstGeom prst="roundRect">
            <a:avLst>
              <a:gd name="adj" fmla="val 6061"/>
            </a:avLst>
          </a:prstGeom>
          <a:solidFill>
            <a:srgbClr val="22326F"/>
          </a:solidFill>
          <a:ln w="12700">
            <a:solidFill>
              <a:srgbClr val="22326F"/>
            </a:solidFill>
            <a:prstDash val="solid"/>
          </a:ln>
        </p:spPr>
      </p:sp>
      <p:sp>
        <p:nvSpPr>
          <p:cNvPr id="10" name="Text 8"/>
          <p:cNvSpPr/>
          <p:nvPr/>
        </p:nvSpPr>
        <p:spPr>
          <a:xfrm>
            <a:off x="6263640" y="3483864"/>
            <a:ext cx="5029200"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Not a compute advantage</a:t>
            </a:r>
            <a:endParaRPr lang="en-US" sz="1400" dirty="0"/>
          </a:p>
        </p:txBody>
      </p:sp>
      <p:sp>
        <p:nvSpPr>
          <p:cNvPr id="11" name="Text 9"/>
          <p:cNvSpPr/>
          <p:nvPr/>
        </p:nvSpPr>
        <p:spPr>
          <a:xfrm>
            <a:off x="6263640" y="3794760"/>
            <a:ext cx="5029200" cy="658368"/>
          </a:xfrm>
          <a:prstGeom prst="rect">
            <a:avLst/>
          </a:prstGeom>
          <a:noFill/>
          <a:ln/>
        </p:spPr>
        <p:txBody>
          <a:bodyPr wrap="square" lIns="0" tIns="0" rIns="0" bIns="0" rtlCol="0" anchor="ctr"/>
          <a:lstStyle/>
          <a:p>
            <a:pPr marL="0" indent="0">
              <a:lnSpc>
                <a:spcPct val="110000"/>
              </a:lnSpc>
              <a:buNone/>
            </a:pPr>
            <a:r>
              <a:rPr lang="en-US" sz="1150" dirty="0">
                <a:solidFill>
                  <a:srgbClr val="B9C4E8"/>
                </a:solidFill>
                <a:latin typeface="Calibri" pitchFamily="34" charset="0"/>
                <a:ea typeface="Calibri" pitchFamily="34" charset="-122"/>
                <a:cs typeface="Calibri" pitchFamily="34" charset="-120"/>
              </a:rPr>
              <a:t>At equal epochs the two-stage run takes about 9% more gradient updates, because replayed rows are trained on twice. It had more compute and still lost.</a:t>
            </a:r>
            <a:endParaRPr lang="en-US" sz="1150" dirty="0"/>
          </a:p>
        </p:txBody>
      </p:sp>
      <p:sp>
        <p:nvSpPr>
          <p:cNvPr id="12" name="Shape 10"/>
          <p:cNvSpPr/>
          <p:nvPr/>
        </p:nvSpPr>
        <p:spPr>
          <a:xfrm>
            <a:off x="6035040" y="4709160"/>
            <a:ext cx="5486400" cy="1207008"/>
          </a:xfrm>
          <a:prstGeom prst="roundRect">
            <a:avLst>
              <a:gd name="adj" fmla="val 6061"/>
            </a:avLst>
          </a:prstGeom>
          <a:solidFill>
            <a:srgbClr val="22326F"/>
          </a:solidFill>
          <a:ln w="12700">
            <a:solidFill>
              <a:srgbClr val="22326F"/>
            </a:solidFill>
            <a:prstDash val="solid"/>
          </a:ln>
        </p:spPr>
      </p:sp>
      <p:sp>
        <p:nvSpPr>
          <p:cNvPr id="13" name="Text 11"/>
          <p:cNvSpPr/>
          <p:nvPr/>
        </p:nvSpPr>
        <p:spPr>
          <a:xfrm>
            <a:off x="6263640" y="4855464"/>
            <a:ext cx="5029200"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 plausible mechanism</a:t>
            </a:r>
            <a:endParaRPr lang="en-US" sz="1400" dirty="0"/>
          </a:p>
        </p:txBody>
      </p:sp>
      <p:sp>
        <p:nvSpPr>
          <p:cNvPr id="14" name="Text 12"/>
          <p:cNvSpPr/>
          <p:nvPr/>
        </p:nvSpPr>
        <p:spPr>
          <a:xfrm>
            <a:off x="6263640" y="5166360"/>
            <a:ext cx="5029200" cy="658368"/>
          </a:xfrm>
          <a:prstGeom prst="rect">
            <a:avLst/>
          </a:prstGeom>
          <a:noFill/>
          <a:ln/>
        </p:spPr>
        <p:txBody>
          <a:bodyPr wrap="square" lIns="0" tIns="0" rIns="0" bIns="0" rtlCol="0" anchor="ctr"/>
          <a:lstStyle/>
          <a:p>
            <a:pPr marL="0" indent="0">
              <a:lnSpc>
                <a:spcPct val="110000"/>
              </a:lnSpc>
              <a:buNone/>
            </a:pPr>
            <a:r>
              <a:rPr lang="en-US" sz="1150" dirty="0">
                <a:solidFill>
                  <a:srgbClr val="B9C4E8"/>
                </a:solidFill>
                <a:latin typeface="Calibri" pitchFamily="34" charset="0"/>
                <a:ea typeface="Calibri" pitchFamily="34" charset="-122"/>
                <a:cs typeface="Calibri" pitchFamily="34" charset="-120"/>
              </a:rPr>
              <a:t>Stage 2's dev loss bottomed at 1.357 and drifted back to 1.417 — it overfitted a small, PSA-heavy set. The single pass sees PSAs interleaved with scripture throughout, which regularises it.</a:t>
            </a:r>
            <a:endParaRPr lang="en-US" sz="1150" dirty="0"/>
          </a:p>
        </p:txBody>
      </p:sp>
      <p:sp>
        <p:nvSpPr>
          <p:cNvPr id="15" name="Text 13"/>
          <p:cNvSpPr/>
          <p:nvPr/>
        </p:nvSpPr>
        <p:spPr>
          <a:xfrm>
            <a:off x="640080" y="5806440"/>
            <a:ext cx="10881360" cy="457200"/>
          </a:xfrm>
          <a:prstGeom prst="rect">
            <a:avLst/>
          </a:prstGeom>
          <a:noFill/>
          <a:ln/>
        </p:spPr>
        <p:txBody>
          <a:bodyPr wrap="square" lIns="0" tIns="0" rIns="0" bIns="0" rtlCol="0" anchor="ctr"/>
          <a:lstStyle/>
          <a:p>
            <a:pPr marL="0" indent="0">
              <a:buNone/>
            </a:pPr>
            <a:r>
              <a:rPr lang="en-US" sz="1400" i="1" dirty="0">
                <a:solidFill>
                  <a:srgbClr val="FFCA08"/>
                </a:solidFill>
                <a:latin typeface="Calibri" pitchFamily="34" charset="0"/>
                <a:ea typeface="Calibri" pitchFamily="34" charset="-122"/>
                <a:cs typeface="Calibri" pitchFamily="34" charset="-120"/>
              </a:rPr>
              <a:t>A control that falsifies your hypothesis is a result, not a failure. It is also the reason the number can be trusted.</a:t>
            </a:r>
            <a:endParaRPr lang="en-US" sz="1400" dirty="0"/>
          </a:p>
        </p:txBody>
      </p:sp>
      <p:sp>
        <p:nvSpPr>
          <p:cNvPr id="16" name="Text 14"/>
          <p:cNvSpPr/>
          <p:nvPr/>
        </p:nvSpPr>
        <p:spPr>
          <a:xfrm>
            <a:off x="640080" y="6419088"/>
            <a:ext cx="5486400" cy="256032"/>
          </a:xfrm>
          <a:prstGeom prst="rect">
            <a:avLst/>
          </a:prstGeom>
          <a:noFill/>
          <a:ln/>
        </p:spPr>
        <p:txBody>
          <a:bodyPr wrap="square" lIns="0" tIns="0" rIns="0" bIns="0" rtlCol="0" anchor="ctr"/>
          <a:lstStyle/>
          <a:p>
            <a:pPr marL="0" indent="0">
              <a:buNone/>
            </a:pPr>
            <a:r>
              <a:rPr lang="en-US" sz="950" dirty="0">
                <a:solidFill>
                  <a:srgbClr val="8A919E"/>
                </a:solidFill>
                <a:latin typeface="Calibri" pitchFamily="34" charset="0"/>
                <a:ea typeface="Calibri" pitchFamily="34" charset="-122"/>
                <a:cs typeface="Calibri" pitchFamily="34" charset="-120"/>
              </a:rPr>
              <a:t>Ekegusii NMT · USIU-Africa · 2026</a:t>
            </a:r>
            <a:endParaRPr lang="en-US" sz="950" dirty="0"/>
          </a:p>
        </p:txBody>
      </p:sp>
      <p:sp>
        <p:nvSpPr>
          <p:cNvPr id="17" name="Text 15"/>
          <p:cNvSpPr/>
          <p:nvPr/>
        </p:nvSpPr>
        <p:spPr>
          <a:xfrm>
            <a:off x="10972800" y="6419088"/>
            <a:ext cx="548640" cy="256032"/>
          </a:xfrm>
          <a:prstGeom prst="rect">
            <a:avLst/>
          </a:prstGeom>
          <a:noFill/>
          <a:ln/>
        </p:spPr>
        <p:txBody>
          <a:bodyPr wrap="square" lIns="0" tIns="0" rIns="0" bIns="0" rtlCol="0" anchor="ctr"/>
          <a:lstStyle/>
          <a:p>
            <a:pPr marL="0" indent="0" algn="r">
              <a:buNone/>
            </a:pPr>
            <a:r>
              <a:rPr lang="en-US" sz="950" dirty="0">
                <a:solidFill>
                  <a:srgbClr val="8A919E"/>
                </a:solidFill>
                <a:latin typeface="Calibri" pitchFamily="34" charset="0"/>
                <a:ea typeface="Calibri" pitchFamily="34" charset="-122"/>
                <a:cs typeface="Calibri" pitchFamily="34" charset="-120"/>
              </a:rPr>
              <a:t>12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marL="0" indent="0">
              <a:buNone/>
            </a:pPr>
            <a:r>
              <a:rPr lang="en-US" sz="1200" b="1" kern="0" spc="240" dirty="0">
                <a:solidFill>
                  <a:srgbClr val="293D94"/>
                </a:solidFill>
                <a:latin typeface="Calibri" pitchFamily="34" charset="0"/>
                <a:ea typeface="Calibri" pitchFamily="34" charset="-122"/>
                <a:cs typeface="Calibri" pitchFamily="34" charset="-120"/>
              </a:rPr>
              <a:t>RESULTS IN CONTEXT</a:t>
            </a:r>
            <a:endParaRPr lang="en-US" sz="1200" dirty="0"/>
          </a:p>
        </p:txBody>
      </p:sp>
      <p:sp>
        <p:nvSpPr>
          <p:cNvPr id="3" name="Text 1"/>
          <p:cNvSpPr/>
          <p:nvPr/>
        </p:nvSpPr>
        <p:spPr>
          <a:xfrm>
            <a:off x="640080" y="658368"/>
            <a:ext cx="10881360" cy="658368"/>
          </a:xfrm>
          <a:prstGeom prst="rect">
            <a:avLst/>
          </a:prstGeom>
          <a:noFill/>
          <a:ln/>
        </p:spPr>
        <p:txBody>
          <a:bodyPr wrap="square" lIns="0" tIns="0" rIns="0" bIns="0" rtlCol="0" anchor="t"/>
          <a:lstStyle/>
          <a:p>
            <a:pPr marL="0" indent="0">
              <a:buNone/>
            </a:pPr>
            <a:r>
              <a:rPr lang="en-US" sz="3000" b="1" dirty="0">
                <a:solidFill>
                  <a:srgbClr val="16181D"/>
                </a:solidFill>
                <a:latin typeface="Cambria" pitchFamily="34" charset="0"/>
                <a:ea typeface="Cambria" pitchFamily="34" charset="-122"/>
                <a:cs typeface="Cambria" pitchFamily="34" charset="-120"/>
              </a:rPr>
              <a:t>What the released model actually achieves</a:t>
            </a:r>
            <a:endParaRPr lang="en-US" sz="3000" dirty="0"/>
          </a:p>
        </p:txBody>
      </p:sp>
      <p:sp>
        <p:nvSpPr>
          <p:cNvPr id="4" name="Text 2"/>
          <p:cNvSpPr/>
          <p:nvPr/>
        </p:nvSpPr>
        <p:spPr>
          <a:xfrm>
            <a:off x="640080" y="1691640"/>
            <a:ext cx="2651760" cy="658368"/>
          </a:xfrm>
          <a:prstGeom prst="rect">
            <a:avLst/>
          </a:prstGeom>
          <a:noFill/>
          <a:ln/>
        </p:spPr>
        <p:txBody>
          <a:bodyPr wrap="square" lIns="0" tIns="0" rIns="0" bIns="0" rtlCol="0" anchor="ctr"/>
          <a:lstStyle/>
          <a:p>
            <a:pPr marL="0" indent="0">
              <a:buNone/>
            </a:pPr>
            <a:r>
              <a:rPr lang="en-US" sz="4600" b="1" dirty="0">
                <a:solidFill>
                  <a:srgbClr val="293D94"/>
                </a:solidFill>
                <a:latin typeface="Calibri" pitchFamily="34" charset="0"/>
                <a:ea typeface="Calibri" pitchFamily="34" charset="-122"/>
                <a:cs typeface="Calibri" pitchFamily="34" charset="-120"/>
              </a:rPr>
              <a:t>40.97</a:t>
            </a:r>
            <a:endParaRPr lang="en-US" sz="4600" dirty="0"/>
          </a:p>
        </p:txBody>
      </p:sp>
      <p:sp>
        <p:nvSpPr>
          <p:cNvPr id="5" name="Text 3"/>
          <p:cNvSpPr/>
          <p:nvPr/>
        </p:nvSpPr>
        <p:spPr>
          <a:xfrm>
            <a:off x="640080" y="2313432"/>
            <a:ext cx="2651760" cy="457200"/>
          </a:xfrm>
          <a:prstGeom prst="rect">
            <a:avLst/>
          </a:prstGeom>
          <a:noFill/>
          <a:ln/>
        </p:spPr>
        <p:txBody>
          <a:bodyPr wrap="square" lIns="0" tIns="0" rIns="0" bIns="0" rtlCol="0" anchor="t"/>
          <a:lstStyle/>
          <a:p>
            <a:pPr marL="0" indent="0">
              <a:lnSpc>
                <a:spcPct val="105000"/>
              </a:lnSpc>
              <a:buNone/>
            </a:pPr>
            <a:r>
              <a:rPr lang="en-US" sz="1150" dirty="0">
                <a:solidFill>
                  <a:srgbClr val="4B5563"/>
                </a:solidFill>
                <a:latin typeface="Calibri" pitchFamily="34" charset="0"/>
                <a:ea typeface="Calibri" pitchFamily="34" charset="-122"/>
                <a:cs typeface="Calibri" pitchFamily="34" charset="-120"/>
              </a:rPr>
              <a:t>chrF2++ on real Kenyan PSAs, English → Ekegusii</a:t>
            </a:r>
            <a:endParaRPr lang="en-US" sz="1150" dirty="0"/>
          </a:p>
        </p:txBody>
      </p:sp>
      <p:sp>
        <p:nvSpPr>
          <p:cNvPr id="6" name="Text 4"/>
          <p:cNvSpPr/>
          <p:nvPr/>
        </p:nvSpPr>
        <p:spPr>
          <a:xfrm>
            <a:off x="3520440" y="1691640"/>
            <a:ext cx="2651760" cy="658368"/>
          </a:xfrm>
          <a:prstGeom prst="rect">
            <a:avLst/>
          </a:prstGeom>
          <a:noFill/>
          <a:ln/>
        </p:spPr>
        <p:txBody>
          <a:bodyPr wrap="square" lIns="0" tIns="0" rIns="0" bIns="0" rtlCol="0" anchor="ctr"/>
          <a:lstStyle/>
          <a:p>
            <a:pPr marL="0" indent="0">
              <a:buNone/>
            </a:pPr>
            <a:r>
              <a:rPr lang="en-US" sz="4600" b="1" dirty="0">
                <a:solidFill>
                  <a:srgbClr val="293D94"/>
                </a:solidFill>
                <a:latin typeface="Calibri" pitchFamily="34" charset="0"/>
                <a:ea typeface="Calibri" pitchFamily="34" charset="-122"/>
                <a:cs typeface="Calibri" pitchFamily="34" charset="-120"/>
              </a:rPr>
              <a:t>+181%</a:t>
            </a:r>
            <a:endParaRPr lang="en-US" sz="4600" dirty="0"/>
          </a:p>
        </p:txBody>
      </p:sp>
      <p:sp>
        <p:nvSpPr>
          <p:cNvPr id="7" name="Text 5"/>
          <p:cNvSpPr/>
          <p:nvPr/>
        </p:nvSpPr>
        <p:spPr>
          <a:xfrm>
            <a:off x="3520440" y="2313432"/>
            <a:ext cx="2651760" cy="457200"/>
          </a:xfrm>
          <a:prstGeom prst="rect">
            <a:avLst/>
          </a:prstGeom>
          <a:noFill/>
          <a:ln/>
        </p:spPr>
        <p:txBody>
          <a:bodyPr wrap="square" lIns="0" tIns="0" rIns="0" bIns="0" rtlCol="0" anchor="t"/>
          <a:lstStyle/>
          <a:p>
            <a:pPr marL="0" indent="0">
              <a:lnSpc>
                <a:spcPct val="105000"/>
              </a:lnSpc>
              <a:buNone/>
            </a:pPr>
            <a:r>
              <a:rPr lang="en-US" sz="1150" dirty="0">
                <a:solidFill>
                  <a:srgbClr val="4B5563"/>
                </a:solidFill>
                <a:latin typeface="Calibri" pitchFamily="34" charset="0"/>
                <a:ea typeface="Calibri" pitchFamily="34" charset="-122"/>
                <a:cs typeface="Calibri" pitchFamily="34" charset="-120"/>
              </a:rPr>
              <a:t>relative gain over the no-Ekegusii floor</a:t>
            </a:r>
            <a:endParaRPr lang="en-US" sz="1150" dirty="0"/>
          </a:p>
        </p:txBody>
      </p:sp>
      <p:sp>
        <p:nvSpPr>
          <p:cNvPr id="8" name="Text 6"/>
          <p:cNvSpPr/>
          <p:nvPr/>
        </p:nvSpPr>
        <p:spPr>
          <a:xfrm>
            <a:off x="6400800" y="1691640"/>
            <a:ext cx="2651760" cy="658368"/>
          </a:xfrm>
          <a:prstGeom prst="rect">
            <a:avLst/>
          </a:prstGeom>
          <a:noFill/>
          <a:ln/>
        </p:spPr>
        <p:txBody>
          <a:bodyPr wrap="square" lIns="0" tIns="0" rIns="0" bIns="0" rtlCol="0" anchor="ctr"/>
          <a:lstStyle/>
          <a:p>
            <a:pPr marL="0" indent="0">
              <a:buNone/>
            </a:pPr>
            <a:r>
              <a:rPr lang="en-US" sz="4600" b="1" dirty="0">
                <a:solidFill>
                  <a:srgbClr val="293D94"/>
                </a:solidFill>
                <a:latin typeface="Calibri" pitchFamily="34" charset="0"/>
                <a:ea typeface="Calibri" pitchFamily="34" charset="-122"/>
                <a:cs typeface="Calibri" pitchFamily="34" charset="-120"/>
              </a:rPr>
              <a:t>+17.0</a:t>
            </a:r>
            <a:endParaRPr lang="en-US" sz="4600" dirty="0"/>
          </a:p>
        </p:txBody>
      </p:sp>
      <p:sp>
        <p:nvSpPr>
          <p:cNvPr id="9" name="Text 7"/>
          <p:cNvSpPr/>
          <p:nvPr/>
        </p:nvSpPr>
        <p:spPr>
          <a:xfrm>
            <a:off x="6400800" y="2313432"/>
            <a:ext cx="2651760" cy="457200"/>
          </a:xfrm>
          <a:prstGeom prst="rect">
            <a:avLst/>
          </a:prstGeom>
          <a:noFill/>
          <a:ln/>
        </p:spPr>
        <p:txBody>
          <a:bodyPr wrap="square" lIns="0" tIns="0" rIns="0" bIns="0" rtlCol="0" anchor="t"/>
          <a:lstStyle/>
          <a:p>
            <a:pPr marL="0" indent="0">
              <a:lnSpc>
                <a:spcPct val="105000"/>
              </a:lnSpc>
              <a:buNone/>
            </a:pPr>
            <a:r>
              <a:rPr lang="en-US" sz="1150" dirty="0">
                <a:solidFill>
                  <a:srgbClr val="4B5563"/>
                </a:solidFill>
                <a:latin typeface="Calibri" pitchFamily="34" charset="0"/>
                <a:ea typeface="Calibri" pitchFamily="34" charset="-122"/>
                <a:cs typeface="Calibri" pitchFamily="34" charset="-120"/>
              </a:rPr>
              <a:t>over stage 1 — the value of PSA adaptation</a:t>
            </a:r>
            <a:endParaRPr lang="en-US" sz="1150" dirty="0"/>
          </a:p>
        </p:txBody>
      </p:sp>
      <p:sp>
        <p:nvSpPr>
          <p:cNvPr id="10" name="Text 8"/>
          <p:cNvSpPr/>
          <p:nvPr/>
        </p:nvSpPr>
        <p:spPr>
          <a:xfrm>
            <a:off x="9281160" y="1691640"/>
            <a:ext cx="2194560" cy="658368"/>
          </a:xfrm>
          <a:prstGeom prst="rect">
            <a:avLst/>
          </a:prstGeom>
          <a:noFill/>
          <a:ln/>
        </p:spPr>
        <p:txBody>
          <a:bodyPr wrap="square" lIns="0" tIns="0" rIns="0" bIns="0" rtlCol="0" anchor="ctr"/>
          <a:lstStyle/>
          <a:p>
            <a:pPr marL="0" indent="0">
              <a:buNone/>
            </a:pPr>
            <a:r>
              <a:rPr lang="en-US" sz="4600" b="1" dirty="0">
                <a:solidFill>
                  <a:srgbClr val="1A7F52"/>
                </a:solidFill>
                <a:latin typeface="Calibri" pitchFamily="34" charset="0"/>
                <a:ea typeface="Calibri" pitchFamily="34" charset="-122"/>
                <a:cs typeface="Calibri" pitchFamily="34" charset="-120"/>
              </a:rPr>
              <a:t>0</a:t>
            </a:r>
            <a:endParaRPr lang="en-US" sz="4600" dirty="0"/>
          </a:p>
        </p:txBody>
      </p:sp>
      <p:sp>
        <p:nvSpPr>
          <p:cNvPr id="11" name="Text 9"/>
          <p:cNvSpPr/>
          <p:nvPr/>
        </p:nvSpPr>
        <p:spPr>
          <a:xfrm>
            <a:off x="9281160" y="2313432"/>
            <a:ext cx="2194560" cy="457200"/>
          </a:xfrm>
          <a:prstGeom prst="rect">
            <a:avLst/>
          </a:prstGeom>
          <a:noFill/>
          <a:ln/>
        </p:spPr>
        <p:txBody>
          <a:bodyPr wrap="square" lIns="0" tIns="0" rIns="0" bIns="0" rtlCol="0" anchor="t"/>
          <a:lstStyle/>
          <a:p>
            <a:pPr marL="0" indent="0">
              <a:lnSpc>
                <a:spcPct val="105000"/>
              </a:lnSpc>
              <a:buNone/>
            </a:pPr>
            <a:r>
              <a:rPr lang="en-US" sz="1150" dirty="0">
                <a:solidFill>
                  <a:srgbClr val="4B5563"/>
                </a:solidFill>
                <a:latin typeface="Calibri" pitchFamily="34" charset="0"/>
                <a:ea typeface="Calibri" pitchFamily="34" charset="-122"/>
                <a:cs typeface="Calibri" pitchFamily="34" charset="-120"/>
              </a:rPr>
              <a:t>measurable forgetting of general Ekegusii</a:t>
            </a:r>
            <a:endParaRPr lang="en-US" sz="1150" dirty="0"/>
          </a:p>
        </p:txBody>
      </p:sp>
      <p:sp>
        <p:nvSpPr>
          <p:cNvPr id="12" name="Shape 10"/>
          <p:cNvSpPr/>
          <p:nvPr/>
        </p:nvSpPr>
        <p:spPr>
          <a:xfrm>
            <a:off x="640080" y="3337560"/>
            <a:ext cx="5303520" cy="1371600"/>
          </a:xfrm>
          <a:prstGeom prst="roundRect">
            <a:avLst>
              <a:gd name="adj" fmla="val 6000"/>
            </a:avLst>
          </a:prstGeom>
          <a:solidFill>
            <a:srgbClr val="F1F3F9"/>
          </a:solidFill>
          <a:ln w="12700">
            <a:solidFill>
              <a:srgbClr val="F1F3F9"/>
            </a:solidFill>
            <a:prstDash val="solid"/>
          </a:ln>
        </p:spPr>
      </p:sp>
      <p:sp>
        <p:nvSpPr>
          <p:cNvPr id="13" name="Text 11"/>
          <p:cNvSpPr/>
          <p:nvPr/>
        </p:nvSpPr>
        <p:spPr>
          <a:xfrm>
            <a:off x="914400" y="3557016"/>
            <a:ext cx="4754880" cy="292608"/>
          </a:xfrm>
          <a:prstGeom prst="rect">
            <a:avLst/>
          </a:prstGeom>
          <a:noFill/>
          <a:ln/>
        </p:spPr>
        <p:txBody>
          <a:bodyPr wrap="square" lIns="0" tIns="0" rIns="0" bIns="0" rtlCol="0" anchor="ctr"/>
          <a:lstStyle/>
          <a:p>
            <a:pPr marL="0" indent="0">
              <a:buNone/>
            </a:pPr>
            <a:r>
              <a:rPr lang="en-US" sz="1500" b="1" dirty="0">
                <a:solidFill>
                  <a:srgbClr val="16181D"/>
                </a:solidFill>
                <a:latin typeface="Calibri" pitchFamily="34" charset="0"/>
                <a:ea typeface="Calibri" pitchFamily="34" charset="-122"/>
                <a:cs typeface="Calibri" pitchFamily="34" charset="-120"/>
              </a:rPr>
              <a:t>It does not forget</a:t>
            </a:r>
            <a:endParaRPr lang="en-US" sz="1500" dirty="0"/>
          </a:p>
        </p:txBody>
      </p:sp>
      <p:sp>
        <p:nvSpPr>
          <p:cNvPr id="14" name="Text 12"/>
          <p:cNvSpPr/>
          <p:nvPr/>
        </p:nvSpPr>
        <p:spPr>
          <a:xfrm>
            <a:off x="914400" y="3886200"/>
            <a:ext cx="4754880" cy="621792"/>
          </a:xfrm>
          <a:prstGeom prst="rect">
            <a:avLst/>
          </a:prstGeom>
          <a:noFill/>
          <a:ln/>
        </p:spPr>
        <p:txBody>
          <a:bodyPr wrap="square" lIns="0" tIns="0" rIns="0" bIns="0" rtlCol="0" anchor="t"/>
          <a:lstStyle/>
          <a:p>
            <a:pPr marL="0" indent="0">
              <a:lnSpc>
                <a:spcPct val="112000"/>
              </a:lnSpc>
              <a:buNone/>
            </a:pPr>
            <a:r>
              <a:rPr lang="en-US" sz="1250" dirty="0">
                <a:solidFill>
                  <a:srgbClr val="4B5563"/>
                </a:solidFill>
                <a:latin typeface="Calibri" pitchFamily="34" charset="0"/>
                <a:ea typeface="Calibri" pitchFamily="34" charset="-122"/>
                <a:cs typeface="Calibri" pitchFamily="34" charset="-120"/>
              </a:rPr>
              <a:t>The released model scores 49.81 on held-out scripture — higher than the model trained on scripture alone. Joint training simply does not create the forgetting problem that replay was designed to solve.</a:t>
            </a:r>
            <a:endParaRPr lang="en-US" sz="1250" dirty="0"/>
          </a:p>
        </p:txBody>
      </p:sp>
      <p:sp>
        <p:nvSpPr>
          <p:cNvPr id="15" name="Shape 13"/>
          <p:cNvSpPr/>
          <p:nvPr/>
        </p:nvSpPr>
        <p:spPr>
          <a:xfrm>
            <a:off x="6217920" y="3337560"/>
            <a:ext cx="5303520" cy="1371600"/>
          </a:xfrm>
          <a:prstGeom prst="roundRect">
            <a:avLst>
              <a:gd name="adj" fmla="val 6000"/>
            </a:avLst>
          </a:prstGeom>
          <a:solidFill>
            <a:srgbClr val="FFF7DE"/>
          </a:solidFill>
          <a:ln w="12700">
            <a:solidFill>
              <a:srgbClr val="FFF7DE"/>
            </a:solidFill>
            <a:prstDash val="solid"/>
          </a:ln>
        </p:spPr>
      </p:sp>
      <p:sp>
        <p:nvSpPr>
          <p:cNvPr id="16" name="Text 14"/>
          <p:cNvSpPr/>
          <p:nvPr/>
        </p:nvSpPr>
        <p:spPr>
          <a:xfrm>
            <a:off x="6492240" y="3557016"/>
            <a:ext cx="4754880" cy="292608"/>
          </a:xfrm>
          <a:prstGeom prst="rect">
            <a:avLst/>
          </a:prstGeom>
          <a:noFill/>
          <a:ln/>
        </p:spPr>
        <p:txBody>
          <a:bodyPr wrap="square" lIns="0" tIns="0" rIns="0" bIns="0" rtlCol="0" anchor="ctr"/>
          <a:lstStyle/>
          <a:p>
            <a:pPr marL="0" indent="0">
              <a:buNone/>
            </a:pPr>
            <a:r>
              <a:rPr lang="en-US" sz="1500" b="1" dirty="0">
                <a:solidFill>
                  <a:srgbClr val="16181D"/>
                </a:solidFill>
                <a:latin typeface="Calibri" pitchFamily="34" charset="0"/>
                <a:ea typeface="Calibri" pitchFamily="34" charset="-122"/>
                <a:cs typeface="Calibri" pitchFamily="34" charset="-120"/>
              </a:rPr>
              <a:t>It generalises beyond both domains</a:t>
            </a:r>
            <a:endParaRPr lang="en-US" sz="1500" dirty="0"/>
          </a:p>
        </p:txBody>
      </p:sp>
      <p:sp>
        <p:nvSpPr>
          <p:cNvPr id="17" name="Text 15"/>
          <p:cNvSpPr/>
          <p:nvPr/>
        </p:nvSpPr>
        <p:spPr>
          <a:xfrm>
            <a:off x="6492240" y="3886200"/>
            <a:ext cx="4754880" cy="621792"/>
          </a:xfrm>
          <a:prstGeom prst="rect">
            <a:avLst/>
          </a:prstGeom>
          <a:noFill/>
          <a:ln/>
        </p:spPr>
        <p:txBody>
          <a:bodyPr wrap="square" lIns="0" tIns="0" rIns="0" bIns="0" rtlCol="0" anchor="t"/>
          <a:lstStyle/>
          <a:p>
            <a:pPr marL="0" indent="0">
              <a:lnSpc>
                <a:spcPct val="112000"/>
              </a:lnSpc>
              <a:buNone/>
            </a:pPr>
            <a:r>
              <a:rPr lang="en-US" sz="1250" dirty="0">
                <a:solidFill>
                  <a:srgbClr val="4B5563"/>
                </a:solidFill>
                <a:latin typeface="Calibri" pitchFamily="34" charset="0"/>
                <a:ea typeface="Calibri" pitchFamily="34" charset="-122"/>
                <a:cs typeface="Calibri" pitchFamily="34" charset="-120"/>
              </a:rPr>
              <a:t>32.98 on contemporary everyday prose, against 28.97 for the scripture-only model — so the gain is not simply memorising PSA phrasing.</a:t>
            </a:r>
            <a:endParaRPr lang="en-US" sz="1250" dirty="0"/>
          </a:p>
        </p:txBody>
      </p:sp>
      <p:sp>
        <p:nvSpPr>
          <p:cNvPr id="18" name="Shape 16"/>
          <p:cNvSpPr/>
          <p:nvPr/>
        </p:nvSpPr>
        <p:spPr>
          <a:xfrm>
            <a:off x="640080" y="4846320"/>
            <a:ext cx="10881360" cy="1051560"/>
          </a:xfrm>
          <a:prstGeom prst="roundRect">
            <a:avLst>
              <a:gd name="adj" fmla="val 7826"/>
            </a:avLst>
          </a:prstGeom>
          <a:solidFill>
            <a:srgbClr val="F1F3F9"/>
          </a:solidFill>
          <a:ln w="12700">
            <a:solidFill>
              <a:srgbClr val="F1F3F9"/>
            </a:solidFill>
            <a:prstDash val="solid"/>
          </a:ln>
        </p:spPr>
      </p:sp>
      <p:sp>
        <p:nvSpPr>
          <p:cNvPr id="19" name="Shape 17"/>
          <p:cNvSpPr/>
          <p:nvPr/>
        </p:nvSpPr>
        <p:spPr>
          <a:xfrm>
            <a:off x="877824" y="5084064"/>
            <a:ext cx="402336" cy="402336"/>
          </a:xfrm>
          <a:prstGeom prst="ellipse">
            <a:avLst/>
          </a:prstGeom>
          <a:solidFill>
            <a:srgbClr val="293D94"/>
          </a:solidFill>
          <a:ln w="12700">
            <a:solidFill>
              <a:srgbClr val="293D94"/>
            </a:solidFill>
            <a:prstDash val="solid"/>
          </a:ln>
        </p:spPr>
      </p:sp>
      <p:sp>
        <p:nvSpPr>
          <p:cNvPr id="20" name="Text 18"/>
          <p:cNvSpPr/>
          <p:nvPr/>
        </p:nvSpPr>
        <p:spPr>
          <a:xfrm>
            <a:off x="877824" y="5084064"/>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1" name="Text 19"/>
          <p:cNvSpPr/>
          <p:nvPr/>
        </p:nvSpPr>
        <p:spPr>
          <a:xfrm>
            <a:off x="1426464" y="5065776"/>
            <a:ext cx="9820656" cy="292608"/>
          </a:xfrm>
          <a:prstGeom prst="rect">
            <a:avLst/>
          </a:prstGeom>
          <a:noFill/>
          <a:ln/>
        </p:spPr>
        <p:txBody>
          <a:bodyPr wrap="square" lIns="0" tIns="0" rIns="0" bIns="0" rtlCol="0" anchor="ctr"/>
          <a:lstStyle/>
          <a:p>
            <a:pPr marL="0" indent="0">
              <a:buNone/>
            </a:pPr>
            <a:r>
              <a:rPr lang="en-US" sz="1500" b="1" dirty="0">
                <a:solidFill>
                  <a:srgbClr val="16181D"/>
                </a:solidFill>
                <a:latin typeface="Calibri" pitchFamily="34" charset="0"/>
                <a:ea typeface="Calibri" pitchFamily="34" charset="-122"/>
                <a:cs typeface="Calibri" pitchFamily="34" charset="-120"/>
              </a:rPr>
              <a:t>Three checkpoints published, each verified by weight fingerprint</a:t>
            </a:r>
            <a:endParaRPr lang="en-US" sz="1500" dirty="0"/>
          </a:p>
        </p:txBody>
      </p:sp>
      <p:sp>
        <p:nvSpPr>
          <p:cNvPr id="22" name="Text 20"/>
          <p:cNvSpPr/>
          <p:nvPr/>
        </p:nvSpPr>
        <p:spPr>
          <a:xfrm>
            <a:off x="1426464" y="5394960"/>
            <a:ext cx="9820656" cy="301752"/>
          </a:xfrm>
          <a:prstGeom prst="rect">
            <a:avLst/>
          </a:prstGeom>
          <a:noFill/>
          <a:ln/>
        </p:spPr>
        <p:txBody>
          <a:bodyPr wrap="square" lIns="0" tIns="0" rIns="0" bIns="0" rtlCol="0" anchor="t"/>
          <a:lstStyle/>
          <a:p>
            <a:pPr marL="0" indent="0">
              <a:lnSpc>
                <a:spcPct val="112000"/>
              </a:lnSpc>
              <a:buNone/>
            </a:pPr>
            <a:r>
              <a:rPr lang="en-US" sz="1250" dirty="0">
                <a:solidFill>
                  <a:srgbClr val="4B5563"/>
                </a:solidFill>
                <a:latin typeface="Calibri" pitchFamily="34" charset="0"/>
                <a:ea typeface="Calibri" pitchFamily="34" charset="-122"/>
                <a:cs typeface="Calibri" pitchFamily="34" charset="-120"/>
              </a:rPr>
              <a:t>Baseline, curriculum and released model are all on Hugging Face, so the comparison can be reproduced rather than taken on trust.</a:t>
            </a:r>
            <a:endParaRPr lang="en-US" sz="1250" dirty="0"/>
          </a:p>
        </p:txBody>
      </p:sp>
      <p:sp>
        <p:nvSpPr>
          <p:cNvPr id="23" name="Text 21"/>
          <p:cNvSpPr/>
          <p:nvPr/>
        </p:nvSpPr>
        <p:spPr>
          <a:xfrm>
            <a:off x="640080" y="6419088"/>
            <a:ext cx="5486400" cy="256032"/>
          </a:xfrm>
          <a:prstGeom prst="rect">
            <a:avLst/>
          </a:prstGeom>
          <a:noFill/>
          <a:ln/>
        </p:spPr>
        <p:txBody>
          <a:bodyPr wrap="square" lIns="0" tIns="0" rIns="0" bIns="0" rtlCol="0" anchor="ctr"/>
          <a:lstStyle/>
          <a:p>
            <a:pPr marL="0" indent="0">
              <a:buNone/>
            </a:pPr>
            <a:r>
              <a:rPr lang="en-US" sz="950" dirty="0">
                <a:solidFill>
                  <a:srgbClr val="8A919E"/>
                </a:solidFill>
                <a:latin typeface="Calibri" pitchFamily="34" charset="0"/>
                <a:ea typeface="Calibri" pitchFamily="34" charset="-122"/>
                <a:cs typeface="Calibri" pitchFamily="34" charset="-120"/>
              </a:rPr>
              <a:t>Ekegusii NMT · USIU-Africa · 2026</a:t>
            </a:r>
            <a:endParaRPr lang="en-US" sz="950" dirty="0"/>
          </a:p>
        </p:txBody>
      </p:sp>
      <p:sp>
        <p:nvSpPr>
          <p:cNvPr id="24" name="Text 22"/>
          <p:cNvSpPr/>
          <p:nvPr/>
        </p:nvSpPr>
        <p:spPr>
          <a:xfrm>
            <a:off x="10972800" y="6419088"/>
            <a:ext cx="548640" cy="256032"/>
          </a:xfrm>
          <a:prstGeom prst="rect">
            <a:avLst/>
          </a:prstGeom>
          <a:noFill/>
          <a:ln/>
        </p:spPr>
        <p:txBody>
          <a:bodyPr wrap="square" lIns="0" tIns="0" rIns="0" bIns="0" rtlCol="0" anchor="ctr"/>
          <a:lstStyle/>
          <a:p>
            <a:pPr marL="0" indent="0" algn="r">
              <a:buNone/>
            </a:pPr>
            <a:r>
              <a:rPr lang="en-US" sz="950" dirty="0">
                <a:solidFill>
                  <a:srgbClr val="8A919E"/>
                </a:solidFill>
                <a:latin typeface="Calibri" pitchFamily="34" charset="0"/>
                <a:ea typeface="Calibri" pitchFamily="34" charset="-122"/>
                <a:cs typeface="Calibri" pitchFamily="34" charset="-120"/>
              </a:rPr>
              <a:t>13</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marL="0" indent="0">
              <a:buNone/>
            </a:pPr>
            <a:r>
              <a:rPr lang="en-US" sz="1200" b="1" kern="0" spc="240" dirty="0">
                <a:solidFill>
                  <a:srgbClr val="293D94"/>
                </a:solidFill>
                <a:latin typeface="Calibri" pitchFamily="34" charset="0"/>
                <a:ea typeface="Calibri" pitchFamily="34" charset="-122"/>
                <a:cs typeface="Calibri" pitchFamily="34" charset="-120"/>
              </a:rPr>
              <a:t>LIMITATIONS</a:t>
            </a:r>
            <a:endParaRPr lang="en-US" sz="1200" dirty="0"/>
          </a:p>
        </p:txBody>
      </p:sp>
      <p:sp>
        <p:nvSpPr>
          <p:cNvPr id="3" name="Text 1"/>
          <p:cNvSpPr/>
          <p:nvPr/>
        </p:nvSpPr>
        <p:spPr>
          <a:xfrm>
            <a:off x="640080" y="658368"/>
            <a:ext cx="10881360" cy="658368"/>
          </a:xfrm>
          <a:prstGeom prst="rect">
            <a:avLst/>
          </a:prstGeom>
          <a:noFill/>
          <a:ln/>
        </p:spPr>
        <p:txBody>
          <a:bodyPr wrap="square" lIns="0" tIns="0" rIns="0" bIns="0" rtlCol="0" anchor="t"/>
          <a:lstStyle/>
          <a:p>
            <a:pPr marL="0" indent="0">
              <a:buNone/>
            </a:pPr>
            <a:r>
              <a:rPr lang="en-US" sz="3000" b="1" dirty="0">
                <a:solidFill>
                  <a:srgbClr val="16181D"/>
                </a:solidFill>
                <a:latin typeface="Cambria" pitchFamily="34" charset="0"/>
                <a:ea typeface="Cambria" pitchFamily="34" charset="-122"/>
                <a:cs typeface="Cambria" pitchFamily="34" charset="-120"/>
              </a:rPr>
              <a:t>What this project cannot claim</a:t>
            </a:r>
            <a:endParaRPr lang="en-US" sz="3000" dirty="0"/>
          </a:p>
        </p:txBody>
      </p:sp>
      <p:sp>
        <p:nvSpPr>
          <p:cNvPr id="4" name="Shape 2"/>
          <p:cNvSpPr/>
          <p:nvPr/>
        </p:nvSpPr>
        <p:spPr>
          <a:xfrm>
            <a:off x="640080" y="1691640"/>
            <a:ext cx="5303520" cy="1417320"/>
          </a:xfrm>
          <a:prstGeom prst="roundRect">
            <a:avLst>
              <a:gd name="adj" fmla="val 5806"/>
            </a:avLst>
          </a:prstGeom>
          <a:solidFill>
            <a:srgbClr val="F1F3F9"/>
          </a:solidFill>
          <a:ln w="12700">
            <a:solidFill>
              <a:srgbClr val="F1F3F9"/>
            </a:solidFill>
            <a:prstDash val="solid"/>
          </a:ln>
        </p:spPr>
      </p:sp>
      <p:sp>
        <p:nvSpPr>
          <p:cNvPr id="5" name="Shape 3"/>
          <p:cNvSpPr/>
          <p:nvPr/>
        </p:nvSpPr>
        <p:spPr>
          <a:xfrm>
            <a:off x="877824" y="1929384"/>
            <a:ext cx="402336" cy="402336"/>
          </a:xfrm>
          <a:prstGeom prst="ellipse">
            <a:avLst/>
          </a:prstGeom>
          <a:solidFill>
            <a:srgbClr val="293D94"/>
          </a:solidFill>
          <a:ln w="12700">
            <a:solidFill>
              <a:srgbClr val="293D94"/>
            </a:solidFill>
            <a:prstDash val="solid"/>
          </a:ln>
        </p:spPr>
      </p:sp>
      <p:sp>
        <p:nvSpPr>
          <p:cNvPr id="6" name="Text 4"/>
          <p:cNvSpPr/>
          <p:nvPr/>
        </p:nvSpPr>
        <p:spPr>
          <a:xfrm>
            <a:off x="877824" y="1929384"/>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7" name="Text 5"/>
          <p:cNvSpPr/>
          <p:nvPr/>
        </p:nvSpPr>
        <p:spPr>
          <a:xfrm>
            <a:off x="1426464" y="1911096"/>
            <a:ext cx="4242816" cy="292608"/>
          </a:xfrm>
          <a:prstGeom prst="rect">
            <a:avLst/>
          </a:prstGeom>
          <a:noFill/>
          <a:ln/>
        </p:spPr>
        <p:txBody>
          <a:bodyPr wrap="square" lIns="0" tIns="0" rIns="0" bIns="0" rtlCol="0" anchor="ctr"/>
          <a:lstStyle/>
          <a:p>
            <a:pPr marL="0" indent="0">
              <a:buNone/>
            </a:pPr>
            <a:r>
              <a:rPr lang="en-US" sz="1500" b="1" dirty="0">
                <a:solidFill>
                  <a:srgbClr val="16181D"/>
                </a:solidFill>
                <a:latin typeface="Calibri" pitchFamily="34" charset="0"/>
                <a:ea typeface="Calibri" pitchFamily="34" charset="-122"/>
                <a:cs typeface="Calibri" pitchFamily="34" charset="-120"/>
              </a:rPr>
              <a:t>No human evaluation</a:t>
            </a:r>
            <a:endParaRPr lang="en-US" sz="1500" dirty="0"/>
          </a:p>
        </p:txBody>
      </p:sp>
      <p:sp>
        <p:nvSpPr>
          <p:cNvPr id="8" name="Text 6"/>
          <p:cNvSpPr/>
          <p:nvPr/>
        </p:nvSpPr>
        <p:spPr>
          <a:xfrm>
            <a:off x="1426464" y="2240280"/>
            <a:ext cx="4242816" cy="667512"/>
          </a:xfrm>
          <a:prstGeom prst="rect">
            <a:avLst/>
          </a:prstGeom>
          <a:noFill/>
          <a:ln/>
        </p:spPr>
        <p:txBody>
          <a:bodyPr wrap="square" lIns="0" tIns="0" rIns="0" bIns="0" rtlCol="0" anchor="t"/>
          <a:lstStyle/>
          <a:p>
            <a:pPr marL="0" indent="0">
              <a:lnSpc>
                <a:spcPct val="112000"/>
              </a:lnSpc>
              <a:buNone/>
            </a:pPr>
            <a:r>
              <a:rPr lang="en-US" sz="1250" dirty="0">
                <a:solidFill>
                  <a:srgbClr val="4B5563"/>
                </a:solidFill>
                <a:latin typeface="Calibri" pitchFamily="34" charset="0"/>
                <a:ea typeface="Calibri" pitchFamily="34" charset="-122"/>
                <a:cs typeface="Calibri" pitchFamily="34" charset="-120"/>
              </a:rPr>
              <a:t>Every number here is an automatic metric against a single reference. No fluency, adequacy or cultural-accuracy ratings have been collected from Ekegusii speakers. This is the largest outstanding gap.</a:t>
            </a:r>
            <a:endParaRPr lang="en-US" sz="1250" dirty="0"/>
          </a:p>
        </p:txBody>
      </p:sp>
      <p:sp>
        <p:nvSpPr>
          <p:cNvPr id="9" name="Shape 7"/>
          <p:cNvSpPr/>
          <p:nvPr/>
        </p:nvSpPr>
        <p:spPr>
          <a:xfrm>
            <a:off x="6217920" y="1691640"/>
            <a:ext cx="5303520" cy="1417320"/>
          </a:xfrm>
          <a:prstGeom prst="roundRect">
            <a:avLst>
              <a:gd name="adj" fmla="val 5806"/>
            </a:avLst>
          </a:prstGeom>
          <a:solidFill>
            <a:srgbClr val="F1F3F9"/>
          </a:solidFill>
          <a:ln w="12700">
            <a:solidFill>
              <a:srgbClr val="F1F3F9"/>
            </a:solidFill>
            <a:prstDash val="solid"/>
          </a:ln>
        </p:spPr>
      </p:sp>
      <p:sp>
        <p:nvSpPr>
          <p:cNvPr id="10" name="Shape 8"/>
          <p:cNvSpPr/>
          <p:nvPr/>
        </p:nvSpPr>
        <p:spPr>
          <a:xfrm>
            <a:off x="6455664" y="1929384"/>
            <a:ext cx="402336" cy="402336"/>
          </a:xfrm>
          <a:prstGeom prst="ellipse">
            <a:avLst/>
          </a:prstGeom>
          <a:solidFill>
            <a:srgbClr val="293D94"/>
          </a:solidFill>
          <a:ln w="12700">
            <a:solidFill>
              <a:srgbClr val="293D94"/>
            </a:solidFill>
            <a:prstDash val="solid"/>
          </a:ln>
        </p:spPr>
      </p:sp>
      <p:sp>
        <p:nvSpPr>
          <p:cNvPr id="11" name="Text 9"/>
          <p:cNvSpPr/>
          <p:nvPr/>
        </p:nvSpPr>
        <p:spPr>
          <a:xfrm>
            <a:off x="6455664" y="1929384"/>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2" name="Text 10"/>
          <p:cNvSpPr/>
          <p:nvPr/>
        </p:nvSpPr>
        <p:spPr>
          <a:xfrm>
            <a:off x="7004304" y="1911096"/>
            <a:ext cx="4242816" cy="292608"/>
          </a:xfrm>
          <a:prstGeom prst="rect">
            <a:avLst/>
          </a:prstGeom>
          <a:noFill/>
          <a:ln/>
        </p:spPr>
        <p:txBody>
          <a:bodyPr wrap="square" lIns="0" tIns="0" rIns="0" bIns="0" rtlCol="0" anchor="ctr"/>
          <a:lstStyle/>
          <a:p>
            <a:pPr marL="0" indent="0">
              <a:buNone/>
            </a:pPr>
            <a:r>
              <a:rPr lang="en-US" sz="1500" b="1" dirty="0">
                <a:solidFill>
                  <a:srgbClr val="16181D"/>
                </a:solidFill>
                <a:latin typeface="Calibri" pitchFamily="34" charset="0"/>
                <a:ea typeface="Calibri" pitchFamily="34" charset="-122"/>
                <a:cs typeface="Calibri" pitchFamily="34" charset="-120"/>
              </a:rPr>
              <a:t>Unverified references</a:t>
            </a:r>
            <a:endParaRPr lang="en-US" sz="1500" dirty="0"/>
          </a:p>
        </p:txBody>
      </p:sp>
      <p:sp>
        <p:nvSpPr>
          <p:cNvPr id="13" name="Text 11"/>
          <p:cNvSpPr/>
          <p:nvPr/>
        </p:nvSpPr>
        <p:spPr>
          <a:xfrm>
            <a:off x="7004304" y="2240280"/>
            <a:ext cx="4242816" cy="667512"/>
          </a:xfrm>
          <a:prstGeom prst="rect">
            <a:avLst/>
          </a:prstGeom>
          <a:noFill/>
          <a:ln/>
        </p:spPr>
        <p:txBody>
          <a:bodyPr wrap="square" lIns="0" tIns="0" rIns="0" bIns="0" rtlCol="0" anchor="t"/>
          <a:lstStyle/>
          <a:p>
            <a:pPr marL="0" indent="0">
              <a:lnSpc>
                <a:spcPct val="112000"/>
              </a:lnSpc>
              <a:buNone/>
            </a:pPr>
            <a:r>
              <a:rPr lang="en-US" sz="1250" dirty="0">
                <a:solidFill>
                  <a:srgbClr val="4B5563"/>
                </a:solidFill>
                <a:latin typeface="Calibri" pitchFamily="34" charset="0"/>
                <a:ea typeface="Calibri" pitchFamily="34" charset="-122"/>
                <a:cs typeface="Calibri" pitchFamily="34" charset="-120"/>
              </a:rPr>
              <a:t>The PSA Ekegusii was supplied by the supervisor. The translator and quality-assurance process are unknown and no inter-annotator agreement exists.</a:t>
            </a:r>
            <a:endParaRPr lang="en-US" sz="1250" dirty="0"/>
          </a:p>
        </p:txBody>
      </p:sp>
      <p:sp>
        <p:nvSpPr>
          <p:cNvPr id="14" name="Shape 12"/>
          <p:cNvSpPr/>
          <p:nvPr/>
        </p:nvSpPr>
        <p:spPr>
          <a:xfrm>
            <a:off x="640080" y="3264408"/>
            <a:ext cx="5303520" cy="1417320"/>
          </a:xfrm>
          <a:prstGeom prst="roundRect">
            <a:avLst>
              <a:gd name="adj" fmla="val 5806"/>
            </a:avLst>
          </a:prstGeom>
          <a:solidFill>
            <a:srgbClr val="F1F3F9"/>
          </a:solidFill>
          <a:ln w="12700">
            <a:solidFill>
              <a:srgbClr val="F1F3F9"/>
            </a:solidFill>
            <a:prstDash val="solid"/>
          </a:ln>
        </p:spPr>
      </p:sp>
      <p:sp>
        <p:nvSpPr>
          <p:cNvPr id="15" name="Shape 13"/>
          <p:cNvSpPr/>
          <p:nvPr/>
        </p:nvSpPr>
        <p:spPr>
          <a:xfrm>
            <a:off x="877824" y="3502152"/>
            <a:ext cx="402336" cy="402336"/>
          </a:xfrm>
          <a:prstGeom prst="ellipse">
            <a:avLst/>
          </a:prstGeom>
          <a:solidFill>
            <a:srgbClr val="293D94"/>
          </a:solidFill>
          <a:ln w="12700">
            <a:solidFill>
              <a:srgbClr val="293D94"/>
            </a:solidFill>
            <a:prstDash val="solid"/>
          </a:ln>
        </p:spPr>
      </p:sp>
      <p:sp>
        <p:nvSpPr>
          <p:cNvPr id="16" name="Text 14"/>
          <p:cNvSpPr/>
          <p:nvPr/>
        </p:nvSpPr>
        <p:spPr>
          <a:xfrm>
            <a:off x="877824" y="3502152"/>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7" name="Text 15"/>
          <p:cNvSpPr/>
          <p:nvPr/>
        </p:nvSpPr>
        <p:spPr>
          <a:xfrm>
            <a:off x="1426464" y="3483864"/>
            <a:ext cx="4242816" cy="292608"/>
          </a:xfrm>
          <a:prstGeom prst="rect">
            <a:avLst/>
          </a:prstGeom>
          <a:noFill/>
          <a:ln/>
        </p:spPr>
        <p:txBody>
          <a:bodyPr wrap="square" lIns="0" tIns="0" rIns="0" bIns="0" rtlCol="0" anchor="ctr"/>
          <a:lstStyle/>
          <a:p>
            <a:pPr marL="0" indent="0">
              <a:buNone/>
            </a:pPr>
            <a:r>
              <a:rPr lang="en-US" sz="1500" b="1" dirty="0">
                <a:solidFill>
                  <a:srgbClr val="16181D"/>
                </a:solidFill>
                <a:latin typeface="Calibri" pitchFamily="34" charset="0"/>
                <a:ea typeface="Calibri" pitchFamily="34" charset="-122"/>
                <a:cs typeface="Calibri" pitchFamily="34" charset="-120"/>
              </a:rPr>
              <a:t>Scripture-heavy mixture</a:t>
            </a:r>
            <a:endParaRPr lang="en-US" sz="1500" dirty="0"/>
          </a:p>
        </p:txBody>
      </p:sp>
      <p:sp>
        <p:nvSpPr>
          <p:cNvPr id="18" name="Text 16"/>
          <p:cNvSpPr/>
          <p:nvPr/>
        </p:nvSpPr>
        <p:spPr>
          <a:xfrm>
            <a:off x="1426464" y="3813048"/>
            <a:ext cx="4242816" cy="667512"/>
          </a:xfrm>
          <a:prstGeom prst="rect">
            <a:avLst/>
          </a:prstGeom>
          <a:noFill/>
          <a:ln/>
        </p:spPr>
        <p:txBody>
          <a:bodyPr wrap="square" lIns="0" tIns="0" rIns="0" bIns="0" rtlCol="0" anchor="t"/>
          <a:lstStyle/>
          <a:p>
            <a:pPr marL="0" indent="0">
              <a:lnSpc>
                <a:spcPct val="112000"/>
              </a:lnSpc>
              <a:buNone/>
            </a:pPr>
            <a:r>
              <a:rPr lang="en-US" sz="1250" dirty="0">
                <a:solidFill>
                  <a:srgbClr val="4B5563"/>
                </a:solidFill>
                <a:latin typeface="Calibri" pitchFamily="34" charset="0"/>
                <a:ea typeface="Calibri" pitchFamily="34" charset="-122"/>
                <a:cs typeface="Calibri" pitchFamily="34" charset="-120"/>
              </a:rPr>
              <a:t>About 57,000 of the 62,669 unique parallel pairs are Bible verses, so the model may still lean formal on unfamiliar input.</a:t>
            </a:r>
            <a:endParaRPr lang="en-US" sz="1250" dirty="0"/>
          </a:p>
        </p:txBody>
      </p:sp>
      <p:sp>
        <p:nvSpPr>
          <p:cNvPr id="19" name="Shape 17"/>
          <p:cNvSpPr/>
          <p:nvPr/>
        </p:nvSpPr>
        <p:spPr>
          <a:xfrm>
            <a:off x="6217920" y="3264408"/>
            <a:ext cx="5303520" cy="1417320"/>
          </a:xfrm>
          <a:prstGeom prst="roundRect">
            <a:avLst>
              <a:gd name="adj" fmla="val 5806"/>
            </a:avLst>
          </a:prstGeom>
          <a:solidFill>
            <a:srgbClr val="F1F3F9"/>
          </a:solidFill>
          <a:ln w="12700">
            <a:solidFill>
              <a:srgbClr val="F1F3F9"/>
            </a:solidFill>
            <a:prstDash val="solid"/>
          </a:ln>
        </p:spPr>
      </p:sp>
      <p:sp>
        <p:nvSpPr>
          <p:cNvPr id="20" name="Shape 18"/>
          <p:cNvSpPr/>
          <p:nvPr/>
        </p:nvSpPr>
        <p:spPr>
          <a:xfrm>
            <a:off x="6455664" y="3502152"/>
            <a:ext cx="402336" cy="402336"/>
          </a:xfrm>
          <a:prstGeom prst="ellipse">
            <a:avLst/>
          </a:prstGeom>
          <a:solidFill>
            <a:srgbClr val="293D94"/>
          </a:solidFill>
          <a:ln w="12700">
            <a:solidFill>
              <a:srgbClr val="293D94"/>
            </a:solidFill>
            <a:prstDash val="solid"/>
          </a:ln>
        </p:spPr>
      </p:sp>
      <p:sp>
        <p:nvSpPr>
          <p:cNvPr id="21" name="Text 19"/>
          <p:cNvSpPr/>
          <p:nvPr/>
        </p:nvSpPr>
        <p:spPr>
          <a:xfrm>
            <a:off x="6455664" y="3502152"/>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2" name="Text 20"/>
          <p:cNvSpPr/>
          <p:nvPr/>
        </p:nvSpPr>
        <p:spPr>
          <a:xfrm>
            <a:off x="7004304" y="3483864"/>
            <a:ext cx="4242816" cy="292608"/>
          </a:xfrm>
          <a:prstGeom prst="rect">
            <a:avLst/>
          </a:prstGeom>
          <a:noFill/>
          <a:ln/>
        </p:spPr>
        <p:txBody>
          <a:bodyPr wrap="square" lIns="0" tIns="0" rIns="0" bIns="0" rtlCol="0" anchor="ctr"/>
          <a:lstStyle/>
          <a:p>
            <a:pPr marL="0" indent="0">
              <a:buNone/>
            </a:pPr>
            <a:r>
              <a:rPr lang="en-US" sz="1500" b="1" dirty="0">
                <a:solidFill>
                  <a:srgbClr val="16181D"/>
                </a:solidFill>
                <a:latin typeface="Calibri" pitchFamily="34" charset="0"/>
                <a:ea typeface="Calibri" pitchFamily="34" charset="-122"/>
                <a:cs typeface="Calibri" pitchFamily="34" charset="-120"/>
              </a:rPr>
              <a:t>Institutional vocabulary</a:t>
            </a:r>
            <a:endParaRPr lang="en-US" sz="1500" dirty="0"/>
          </a:p>
        </p:txBody>
      </p:sp>
      <p:sp>
        <p:nvSpPr>
          <p:cNvPr id="23" name="Text 21"/>
          <p:cNvSpPr/>
          <p:nvPr/>
        </p:nvSpPr>
        <p:spPr>
          <a:xfrm>
            <a:off x="7004304" y="3813048"/>
            <a:ext cx="4242816" cy="667512"/>
          </a:xfrm>
          <a:prstGeom prst="rect">
            <a:avLst/>
          </a:prstGeom>
          <a:noFill/>
          <a:ln/>
        </p:spPr>
        <p:txBody>
          <a:bodyPr wrap="square" lIns="0" tIns="0" rIns="0" bIns="0" rtlCol="0" anchor="t"/>
          <a:lstStyle/>
          <a:p>
            <a:pPr marL="0" indent="0">
              <a:lnSpc>
                <a:spcPct val="112000"/>
              </a:lnSpc>
              <a:buNone/>
            </a:pPr>
            <a:r>
              <a:rPr lang="en-US" sz="1250" dirty="0">
                <a:solidFill>
                  <a:srgbClr val="4B5563"/>
                </a:solidFill>
                <a:latin typeface="Calibri" pitchFamily="34" charset="0"/>
                <a:ea typeface="Calibri" pitchFamily="34" charset="-122"/>
                <a:cs typeface="Calibri" pitchFamily="34" charset="-120"/>
              </a:rPr>
              <a:t>The 53.6% content-word gap was measured, not solved. HELB, KUCCPS and iTax remain the weakest cases — and the confidence score does not catch them.</a:t>
            </a:r>
            <a:endParaRPr lang="en-US" sz="1250" dirty="0"/>
          </a:p>
        </p:txBody>
      </p:sp>
      <p:sp>
        <p:nvSpPr>
          <p:cNvPr id="24" name="Text 22"/>
          <p:cNvSpPr/>
          <p:nvPr/>
        </p:nvSpPr>
        <p:spPr>
          <a:xfrm>
            <a:off x="640080" y="5029200"/>
            <a:ext cx="10881360" cy="457200"/>
          </a:xfrm>
          <a:prstGeom prst="rect">
            <a:avLst/>
          </a:prstGeom>
          <a:noFill/>
          <a:ln/>
        </p:spPr>
        <p:txBody>
          <a:bodyPr wrap="square" lIns="0" tIns="0" rIns="0" bIns="0" rtlCol="0" anchor="ctr"/>
          <a:lstStyle/>
          <a:p>
            <a:pPr marL="0" indent="0">
              <a:buNone/>
            </a:pPr>
            <a:r>
              <a:rPr lang="en-US" sz="1350" b="1" dirty="0">
                <a:solidFill>
                  <a:srgbClr val="B23B3A"/>
                </a:solidFill>
                <a:latin typeface="Calibri" pitchFamily="34" charset="0"/>
                <a:ea typeface="Calibri" pitchFamily="34" charset="-122"/>
                <a:cs typeface="Calibri" pitchFamily="34" charset="-120"/>
              </a:rPr>
              <a:t>Not suitable for medical, legal or emergency communication without review by a fluent Ekegusii speaker.</a:t>
            </a:r>
            <a:endParaRPr lang="en-US" sz="1350" dirty="0"/>
          </a:p>
        </p:txBody>
      </p:sp>
      <p:sp>
        <p:nvSpPr>
          <p:cNvPr id="25" name="Text 23"/>
          <p:cNvSpPr/>
          <p:nvPr/>
        </p:nvSpPr>
        <p:spPr>
          <a:xfrm>
            <a:off x="640080" y="6419088"/>
            <a:ext cx="5486400" cy="256032"/>
          </a:xfrm>
          <a:prstGeom prst="rect">
            <a:avLst/>
          </a:prstGeom>
          <a:noFill/>
          <a:ln/>
        </p:spPr>
        <p:txBody>
          <a:bodyPr wrap="square" lIns="0" tIns="0" rIns="0" bIns="0" rtlCol="0" anchor="ctr"/>
          <a:lstStyle/>
          <a:p>
            <a:pPr marL="0" indent="0">
              <a:buNone/>
            </a:pPr>
            <a:r>
              <a:rPr lang="en-US" sz="950" dirty="0">
                <a:solidFill>
                  <a:srgbClr val="8A919E"/>
                </a:solidFill>
                <a:latin typeface="Calibri" pitchFamily="34" charset="0"/>
                <a:ea typeface="Calibri" pitchFamily="34" charset="-122"/>
                <a:cs typeface="Calibri" pitchFamily="34" charset="-120"/>
              </a:rPr>
              <a:t>Ekegusii NMT · USIU-Africa · 2026</a:t>
            </a:r>
            <a:endParaRPr lang="en-US" sz="950" dirty="0"/>
          </a:p>
        </p:txBody>
      </p:sp>
      <p:sp>
        <p:nvSpPr>
          <p:cNvPr id="26" name="Text 24"/>
          <p:cNvSpPr/>
          <p:nvPr/>
        </p:nvSpPr>
        <p:spPr>
          <a:xfrm>
            <a:off x="10972800" y="6419088"/>
            <a:ext cx="548640" cy="256032"/>
          </a:xfrm>
          <a:prstGeom prst="rect">
            <a:avLst/>
          </a:prstGeom>
          <a:noFill/>
          <a:ln/>
        </p:spPr>
        <p:txBody>
          <a:bodyPr wrap="square" lIns="0" tIns="0" rIns="0" bIns="0" rtlCol="0" anchor="ctr"/>
          <a:lstStyle/>
          <a:p>
            <a:pPr marL="0" indent="0" algn="r">
              <a:buNone/>
            </a:pPr>
            <a:r>
              <a:rPr lang="en-US" sz="950" dirty="0">
                <a:solidFill>
                  <a:srgbClr val="8A919E"/>
                </a:solidFill>
                <a:latin typeface="Calibri" pitchFamily="34" charset="0"/>
                <a:ea typeface="Calibri" pitchFamily="34" charset="-122"/>
                <a:cs typeface="Calibri" pitchFamily="34" charset="-120"/>
              </a:rPr>
              <a:t>14</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marL="0" indent="0">
              <a:buNone/>
            </a:pPr>
            <a:r>
              <a:rPr lang="en-US" sz="1200" b="1" kern="0" spc="240" dirty="0">
                <a:solidFill>
                  <a:srgbClr val="293D94"/>
                </a:solidFill>
                <a:latin typeface="Calibri" pitchFamily="34" charset="0"/>
                <a:ea typeface="Calibri" pitchFamily="34" charset="-122"/>
                <a:cs typeface="Calibri" pitchFamily="34" charset="-120"/>
              </a:rPr>
              <a:t>DEPLOYMENT</a:t>
            </a:r>
            <a:endParaRPr lang="en-US" sz="1200" dirty="0"/>
          </a:p>
        </p:txBody>
      </p:sp>
      <p:sp>
        <p:nvSpPr>
          <p:cNvPr id="3" name="Text 1"/>
          <p:cNvSpPr/>
          <p:nvPr/>
        </p:nvSpPr>
        <p:spPr>
          <a:xfrm>
            <a:off x="640080" y="658368"/>
            <a:ext cx="10881360" cy="658368"/>
          </a:xfrm>
          <a:prstGeom prst="rect">
            <a:avLst/>
          </a:prstGeom>
          <a:noFill/>
          <a:ln/>
        </p:spPr>
        <p:txBody>
          <a:bodyPr wrap="square" lIns="0" tIns="0" rIns="0" bIns="0" rtlCol="0" anchor="t"/>
          <a:lstStyle/>
          <a:p>
            <a:pPr marL="0" indent="0">
              <a:buNone/>
            </a:pPr>
            <a:r>
              <a:rPr lang="en-US" sz="3000" b="1" dirty="0">
                <a:solidFill>
                  <a:srgbClr val="16181D"/>
                </a:solidFill>
                <a:latin typeface="Cambria" pitchFamily="34" charset="0"/>
                <a:ea typeface="Cambria" pitchFamily="34" charset="-122"/>
                <a:cs typeface="Cambria" pitchFamily="34" charset="-120"/>
              </a:rPr>
              <a:t>A working translator, and a way to collect corrections</a:t>
            </a:r>
            <a:endParaRPr lang="en-US" sz="3000" dirty="0"/>
          </a:p>
        </p:txBody>
      </p:sp>
      <p:sp>
        <p:nvSpPr>
          <p:cNvPr id="4" name="Shape 2"/>
          <p:cNvSpPr/>
          <p:nvPr/>
        </p:nvSpPr>
        <p:spPr>
          <a:xfrm>
            <a:off x="640080" y="1645920"/>
            <a:ext cx="3444240" cy="2011680"/>
          </a:xfrm>
          <a:prstGeom prst="roundRect">
            <a:avLst>
              <a:gd name="adj" fmla="val 4091"/>
            </a:avLst>
          </a:prstGeom>
          <a:solidFill>
            <a:srgbClr val="F1F3F9"/>
          </a:solidFill>
          <a:ln w="12700">
            <a:solidFill>
              <a:srgbClr val="F1F3F9"/>
            </a:solidFill>
            <a:prstDash val="solid"/>
          </a:ln>
        </p:spPr>
      </p:sp>
      <p:sp>
        <p:nvSpPr>
          <p:cNvPr id="5" name="Shape 3"/>
          <p:cNvSpPr/>
          <p:nvPr/>
        </p:nvSpPr>
        <p:spPr>
          <a:xfrm>
            <a:off x="877824" y="1883664"/>
            <a:ext cx="402336" cy="402336"/>
          </a:xfrm>
          <a:prstGeom prst="ellipse">
            <a:avLst/>
          </a:prstGeom>
          <a:solidFill>
            <a:srgbClr val="293D94"/>
          </a:solidFill>
          <a:ln w="12700">
            <a:solidFill>
              <a:srgbClr val="293D94"/>
            </a:solidFill>
            <a:prstDash val="solid"/>
          </a:ln>
        </p:spPr>
      </p:sp>
      <p:sp>
        <p:nvSpPr>
          <p:cNvPr id="6" name="Text 4"/>
          <p:cNvSpPr/>
          <p:nvPr/>
        </p:nvSpPr>
        <p:spPr>
          <a:xfrm>
            <a:off x="877824" y="1883664"/>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7" name="Text 5"/>
          <p:cNvSpPr/>
          <p:nvPr/>
        </p:nvSpPr>
        <p:spPr>
          <a:xfrm>
            <a:off x="1426464" y="1865376"/>
            <a:ext cx="2383536" cy="292608"/>
          </a:xfrm>
          <a:prstGeom prst="rect">
            <a:avLst/>
          </a:prstGeom>
          <a:noFill/>
          <a:ln/>
        </p:spPr>
        <p:txBody>
          <a:bodyPr wrap="square" lIns="0" tIns="0" rIns="0" bIns="0" rtlCol="0" anchor="ctr"/>
          <a:lstStyle/>
          <a:p>
            <a:pPr marL="0" indent="0">
              <a:buNone/>
            </a:pPr>
            <a:r>
              <a:rPr lang="en-US" sz="1500" b="1" dirty="0">
                <a:solidFill>
                  <a:srgbClr val="16181D"/>
                </a:solidFill>
                <a:latin typeface="Calibri" pitchFamily="34" charset="0"/>
                <a:ea typeface="Calibri" pitchFamily="34" charset="-122"/>
                <a:cs typeface="Calibri" pitchFamily="34" charset="-120"/>
              </a:rPr>
              <a:t>Live demo</a:t>
            </a:r>
            <a:endParaRPr lang="en-US" sz="1500" dirty="0"/>
          </a:p>
        </p:txBody>
      </p:sp>
      <p:sp>
        <p:nvSpPr>
          <p:cNvPr id="8" name="Text 6"/>
          <p:cNvSpPr/>
          <p:nvPr/>
        </p:nvSpPr>
        <p:spPr>
          <a:xfrm>
            <a:off x="1426464" y="2194560"/>
            <a:ext cx="2383536" cy="1261872"/>
          </a:xfrm>
          <a:prstGeom prst="rect">
            <a:avLst/>
          </a:prstGeom>
          <a:noFill/>
          <a:ln/>
        </p:spPr>
        <p:txBody>
          <a:bodyPr wrap="square" lIns="0" tIns="0" rIns="0" bIns="0" rtlCol="0" anchor="t"/>
          <a:lstStyle/>
          <a:p>
            <a:pPr marL="0" indent="0">
              <a:lnSpc>
                <a:spcPct val="112000"/>
              </a:lnSpc>
              <a:buNone/>
            </a:pPr>
            <a:r>
              <a:rPr lang="en-US" sz="1250" dirty="0">
                <a:solidFill>
                  <a:srgbClr val="4B5563"/>
                </a:solidFill>
                <a:latin typeface="Calibri" pitchFamily="34" charset="0"/>
                <a:ea typeface="Calibri" pitchFamily="34" charset="-122"/>
                <a:cs typeface="Calibri" pitchFamily="34" charset="-120"/>
              </a:rPr>
              <a:t>Pick a direction — English or Kiswahili into Ekegusii — type an announcement, get a translation with a confidence label. Runs on GPU at about a second per sentence.</a:t>
            </a:r>
            <a:endParaRPr lang="en-US" sz="1250" dirty="0"/>
          </a:p>
        </p:txBody>
      </p:sp>
      <p:sp>
        <p:nvSpPr>
          <p:cNvPr id="9" name="Shape 7"/>
          <p:cNvSpPr/>
          <p:nvPr/>
        </p:nvSpPr>
        <p:spPr>
          <a:xfrm>
            <a:off x="4358640" y="1645920"/>
            <a:ext cx="3444240" cy="2011680"/>
          </a:xfrm>
          <a:prstGeom prst="roundRect">
            <a:avLst>
              <a:gd name="adj" fmla="val 4091"/>
            </a:avLst>
          </a:prstGeom>
          <a:solidFill>
            <a:srgbClr val="FFF7DE"/>
          </a:solidFill>
          <a:ln w="12700">
            <a:solidFill>
              <a:srgbClr val="FFF7DE"/>
            </a:solidFill>
            <a:prstDash val="solid"/>
          </a:ln>
        </p:spPr>
      </p:sp>
      <p:sp>
        <p:nvSpPr>
          <p:cNvPr id="10" name="Shape 8"/>
          <p:cNvSpPr/>
          <p:nvPr/>
        </p:nvSpPr>
        <p:spPr>
          <a:xfrm>
            <a:off x="4596384" y="1883664"/>
            <a:ext cx="402336" cy="402336"/>
          </a:xfrm>
          <a:prstGeom prst="ellipse">
            <a:avLst/>
          </a:prstGeom>
          <a:solidFill>
            <a:srgbClr val="FFCA08"/>
          </a:solidFill>
          <a:ln w="12700">
            <a:solidFill>
              <a:srgbClr val="FFCA08"/>
            </a:solidFill>
            <a:prstDash val="solid"/>
          </a:ln>
        </p:spPr>
      </p:sp>
      <p:sp>
        <p:nvSpPr>
          <p:cNvPr id="11" name="Text 9"/>
          <p:cNvSpPr/>
          <p:nvPr/>
        </p:nvSpPr>
        <p:spPr>
          <a:xfrm>
            <a:off x="4596384" y="1883664"/>
            <a:ext cx="402336" cy="402336"/>
          </a:xfrm>
          <a:prstGeom prst="rect">
            <a:avLst/>
          </a:prstGeom>
          <a:noFill/>
          <a:ln/>
        </p:spPr>
        <p:txBody>
          <a:bodyPr wrap="square" lIns="0" tIns="0" rIns="0" bIns="0" rtlCol="0" anchor="ctr"/>
          <a:lstStyle/>
          <a:p>
            <a:pPr marL="0" indent="0" algn="ctr">
              <a:buNone/>
            </a:pPr>
            <a:r>
              <a:rPr lang="en-US" sz="1300" b="1" dirty="0">
                <a:solidFill>
                  <a:srgbClr val="16181D"/>
                </a:solidFill>
                <a:latin typeface="Calibri" pitchFamily="34" charset="0"/>
                <a:ea typeface="Calibri" pitchFamily="34" charset="-122"/>
                <a:cs typeface="Calibri" pitchFamily="34" charset="-120"/>
              </a:rPr>
              <a:t>✎</a:t>
            </a:r>
            <a:endParaRPr lang="en-US" sz="1300" dirty="0"/>
          </a:p>
        </p:txBody>
      </p:sp>
      <p:sp>
        <p:nvSpPr>
          <p:cNvPr id="12" name="Text 10"/>
          <p:cNvSpPr/>
          <p:nvPr/>
        </p:nvSpPr>
        <p:spPr>
          <a:xfrm>
            <a:off x="5145024" y="1865376"/>
            <a:ext cx="2383536" cy="292608"/>
          </a:xfrm>
          <a:prstGeom prst="rect">
            <a:avLst/>
          </a:prstGeom>
          <a:noFill/>
          <a:ln/>
        </p:spPr>
        <p:txBody>
          <a:bodyPr wrap="square" lIns="0" tIns="0" rIns="0" bIns="0" rtlCol="0" anchor="ctr"/>
          <a:lstStyle/>
          <a:p>
            <a:pPr marL="0" indent="0">
              <a:buNone/>
            </a:pPr>
            <a:r>
              <a:rPr lang="en-US" sz="1500" b="1" dirty="0">
                <a:solidFill>
                  <a:srgbClr val="16181D"/>
                </a:solidFill>
                <a:latin typeface="Calibri" pitchFamily="34" charset="0"/>
                <a:ea typeface="Calibri" pitchFamily="34" charset="-122"/>
                <a:cs typeface="Calibri" pitchFamily="34" charset="-120"/>
              </a:rPr>
              <a:t>Correction form</a:t>
            </a:r>
            <a:endParaRPr lang="en-US" sz="1500" dirty="0"/>
          </a:p>
        </p:txBody>
      </p:sp>
      <p:sp>
        <p:nvSpPr>
          <p:cNvPr id="13" name="Text 11"/>
          <p:cNvSpPr/>
          <p:nvPr/>
        </p:nvSpPr>
        <p:spPr>
          <a:xfrm>
            <a:off x="5145024" y="2194560"/>
            <a:ext cx="2383536" cy="1261872"/>
          </a:xfrm>
          <a:prstGeom prst="rect">
            <a:avLst/>
          </a:prstGeom>
          <a:noFill/>
          <a:ln/>
        </p:spPr>
        <p:txBody>
          <a:bodyPr wrap="square" lIns="0" tIns="0" rIns="0" bIns="0" rtlCol="0" anchor="t"/>
          <a:lstStyle/>
          <a:p>
            <a:pPr marL="0" indent="0">
              <a:lnSpc>
                <a:spcPct val="112000"/>
              </a:lnSpc>
              <a:buNone/>
            </a:pPr>
            <a:r>
              <a:rPr lang="en-US" sz="1250" dirty="0">
                <a:solidFill>
                  <a:srgbClr val="4B5563"/>
                </a:solidFill>
                <a:latin typeface="Calibri" pitchFamily="34" charset="0"/>
                <a:ea typeface="Calibri" pitchFamily="34" charset="-122"/>
                <a:cs typeface="Calibri" pitchFamily="34" charset="-120"/>
              </a:rPr>
              <a:t>Any Ekegusii speaker can rate a translation and type what it should have said. Every correction is both the missing human evaluation and a training pair for the next round.</a:t>
            </a:r>
            <a:endParaRPr lang="en-US" sz="1250" dirty="0"/>
          </a:p>
        </p:txBody>
      </p:sp>
      <p:sp>
        <p:nvSpPr>
          <p:cNvPr id="14" name="Shape 12"/>
          <p:cNvSpPr/>
          <p:nvPr/>
        </p:nvSpPr>
        <p:spPr>
          <a:xfrm>
            <a:off x="8077200" y="1645920"/>
            <a:ext cx="3444240" cy="2011680"/>
          </a:xfrm>
          <a:prstGeom prst="roundRect">
            <a:avLst>
              <a:gd name="adj" fmla="val 4091"/>
            </a:avLst>
          </a:prstGeom>
          <a:solidFill>
            <a:srgbClr val="F1F3F9"/>
          </a:solidFill>
          <a:ln w="12700">
            <a:solidFill>
              <a:srgbClr val="F1F3F9"/>
            </a:solidFill>
            <a:prstDash val="solid"/>
          </a:ln>
        </p:spPr>
      </p:sp>
      <p:sp>
        <p:nvSpPr>
          <p:cNvPr id="15" name="Shape 13"/>
          <p:cNvSpPr/>
          <p:nvPr/>
        </p:nvSpPr>
        <p:spPr>
          <a:xfrm>
            <a:off x="8314944" y="1883664"/>
            <a:ext cx="402336" cy="402336"/>
          </a:xfrm>
          <a:prstGeom prst="ellipse">
            <a:avLst/>
          </a:prstGeom>
          <a:solidFill>
            <a:srgbClr val="293D94"/>
          </a:solidFill>
          <a:ln w="12700">
            <a:solidFill>
              <a:srgbClr val="293D94"/>
            </a:solidFill>
            <a:prstDash val="solid"/>
          </a:ln>
        </p:spPr>
      </p:sp>
      <p:sp>
        <p:nvSpPr>
          <p:cNvPr id="16" name="Text 14"/>
          <p:cNvSpPr/>
          <p:nvPr/>
        </p:nvSpPr>
        <p:spPr>
          <a:xfrm>
            <a:off x="8314944" y="1883664"/>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7" name="Text 15"/>
          <p:cNvSpPr/>
          <p:nvPr/>
        </p:nvSpPr>
        <p:spPr>
          <a:xfrm>
            <a:off x="8863584" y="1865376"/>
            <a:ext cx="2383536" cy="292608"/>
          </a:xfrm>
          <a:prstGeom prst="rect">
            <a:avLst/>
          </a:prstGeom>
          <a:noFill/>
          <a:ln/>
        </p:spPr>
        <p:txBody>
          <a:bodyPr wrap="square" lIns="0" tIns="0" rIns="0" bIns="0" rtlCol="0" anchor="ctr"/>
          <a:lstStyle/>
          <a:p>
            <a:pPr marL="0" indent="0">
              <a:buNone/>
            </a:pPr>
            <a:r>
              <a:rPr lang="en-US" sz="1500" b="1" dirty="0">
                <a:solidFill>
                  <a:srgbClr val="16181D"/>
                </a:solidFill>
                <a:latin typeface="Calibri" pitchFamily="34" charset="0"/>
                <a:ea typeface="Calibri" pitchFamily="34" charset="-122"/>
                <a:cs typeface="Calibri" pitchFamily="34" charset="-120"/>
              </a:rPr>
              <a:t>Honest confidence</a:t>
            </a:r>
            <a:endParaRPr lang="en-US" sz="1500" dirty="0"/>
          </a:p>
        </p:txBody>
      </p:sp>
      <p:sp>
        <p:nvSpPr>
          <p:cNvPr id="18" name="Text 16"/>
          <p:cNvSpPr/>
          <p:nvPr/>
        </p:nvSpPr>
        <p:spPr>
          <a:xfrm>
            <a:off x="8863584" y="2194560"/>
            <a:ext cx="2383536" cy="1261872"/>
          </a:xfrm>
          <a:prstGeom prst="rect">
            <a:avLst/>
          </a:prstGeom>
          <a:noFill/>
          <a:ln/>
        </p:spPr>
        <p:txBody>
          <a:bodyPr wrap="square" lIns="0" tIns="0" rIns="0" bIns="0" rtlCol="0" anchor="t"/>
          <a:lstStyle/>
          <a:p>
            <a:pPr marL="0" indent="0">
              <a:lnSpc>
                <a:spcPct val="112000"/>
              </a:lnSpc>
              <a:buNone/>
            </a:pPr>
            <a:r>
              <a:rPr lang="en-US" sz="1250" dirty="0">
                <a:solidFill>
                  <a:srgbClr val="4B5563"/>
                </a:solidFill>
                <a:latin typeface="Calibri" pitchFamily="34" charset="0"/>
                <a:ea typeface="Calibri" pitchFamily="34" charset="-122"/>
                <a:cs typeface="Calibri" pitchFamily="34" charset="-120"/>
              </a:rPr>
              <a:t>The label reports the model's own certainty, not a probability of being correct. It is uncalibrated, and the interface says so rather than implying reliability it cannot offer.</a:t>
            </a:r>
            <a:endParaRPr lang="en-US" sz="1250" dirty="0"/>
          </a:p>
        </p:txBody>
      </p:sp>
      <p:sp>
        <p:nvSpPr>
          <p:cNvPr id="19" name="Shape 17"/>
          <p:cNvSpPr/>
          <p:nvPr/>
        </p:nvSpPr>
        <p:spPr>
          <a:xfrm>
            <a:off x="640080" y="3886200"/>
            <a:ext cx="10881360" cy="1234440"/>
          </a:xfrm>
          <a:prstGeom prst="roundRect">
            <a:avLst>
              <a:gd name="adj" fmla="val 6667"/>
            </a:avLst>
          </a:prstGeom>
          <a:solidFill>
            <a:srgbClr val="F1F3F9"/>
          </a:solidFill>
          <a:ln w="12700">
            <a:solidFill>
              <a:srgbClr val="F1F3F9"/>
            </a:solidFill>
            <a:prstDash val="solid"/>
          </a:ln>
        </p:spPr>
      </p:sp>
      <p:sp>
        <p:nvSpPr>
          <p:cNvPr id="20" name="Shape 18"/>
          <p:cNvSpPr/>
          <p:nvPr/>
        </p:nvSpPr>
        <p:spPr>
          <a:xfrm>
            <a:off x="877824" y="4123944"/>
            <a:ext cx="402336" cy="402336"/>
          </a:xfrm>
          <a:prstGeom prst="ellipse">
            <a:avLst/>
          </a:prstGeom>
          <a:solidFill>
            <a:srgbClr val="293D94"/>
          </a:solidFill>
          <a:ln w="12700">
            <a:solidFill>
              <a:srgbClr val="293D94"/>
            </a:solidFill>
            <a:prstDash val="solid"/>
          </a:ln>
        </p:spPr>
      </p:sp>
      <p:sp>
        <p:nvSpPr>
          <p:cNvPr id="21" name="Text 19"/>
          <p:cNvSpPr/>
          <p:nvPr/>
        </p:nvSpPr>
        <p:spPr>
          <a:xfrm>
            <a:off x="877824" y="4123944"/>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2" name="Text 20"/>
          <p:cNvSpPr/>
          <p:nvPr/>
        </p:nvSpPr>
        <p:spPr>
          <a:xfrm>
            <a:off x="1426464" y="4105656"/>
            <a:ext cx="9820656" cy="292608"/>
          </a:xfrm>
          <a:prstGeom prst="rect">
            <a:avLst/>
          </a:prstGeom>
          <a:noFill/>
          <a:ln/>
        </p:spPr>
        <p:txBody>
          <a:bodyPr wrap="square" lIns="0" tIns="0" rIns="0" bIns="0" rtlCol="0" anchor="ctr"/>
          <a:lstStyle/>
          <a:p>
            <a:pPr marL="0" indent="0">
              <a:buNone/>
            </a:pPr>
            <a:r>
              <a:rPr lang="en-US" sz="1500" b="1" dirty="0">
                <a:solidFill>
                  <a:srgbClr val="16181D"/>
                </a:solidFill>
                <a:latin typeface="Calibri" pitchFamily="34" charset="0"/>
                <a:ea typeface="Calibri" pitchFamily="34" charset="-122"/>
                <a:cs typeface="Calibri" pitchFamily="34" charset="-120"/>
              </a:rPr>
              <a:t>Next: collect 100+ rated sentences from Ekegusii speakers</a:t>
            </a:r>
            <a:endParaRPr lang="en-US" sz="1500" dirty="0"/>
          </a:p>
        </p:txBody>
      </p:sp>
      <p:sp>
        <p:nvSpPr>
          <p:cNvPr id="23" name="Text 21"/>
          <p:cNvSpPr/>
          <p:nvPr/>
        </p:nvSpPr>
        <p:spPr>
          <a:xfrm>
            <a:off x="1426464" y="4434840"/>
            <a:ext cx="9820656" cy="484632"/>
          </a:xfrm>
          <a:prstGeom prst="rect">
            <a:avLst/>
          </a:prstGeom>
          <a:noFill/>
          <a:ln/>
        </p:spPr>
        <p:txBody>
          <a:bodyPr wrap="square" lIns="0" tIns="0" rIns="0" bIns="0" rtlCol="0" anchor="t"/>
          <a:lstStyle/>
          <a:p>
            <a:pPr marL="0" indent="0">
              <a:lnSpc>
                <a:spcPct val="112000"/>
              </a:lnSpc>
              <a:buNone/>
            </a:pPr>
            <a:r>
              <a:rPr lang="en-US" sz="1250" dirty="0">
                <a:solidFill>
                  <a:srgbClr val="4B5563"/>
                </a:solidFill>
                <a:latin typeface="Calibri" pitchFamily="34" charset="0"/>
                <a:ea typeface="Calibri" pitchFamily="34" charset="-122"/>
                <a:cs typeface="Calibri" pitchFamily="34" charset="-120"/>
              </a:rPr>
              <a:t>That converts the largest limitation into a result, and turns the deployment from a demonstration into a data-collection instrument.</a:t>
            </a:r>
            <a:endParaRPr lang="en-US" sz="1250" dirty="0"/>
          </a:p>
        </p:txBody>
      </p:sp>
      <p:sp>
        <p:nvSpPr>
          <p:cNvPr id="24" name="Text 22"/>
          <p:cNvSpPr/>
          <p:nvPr/>
        </p:nvSpPr>
        <p:spPr>
          <a:xfrm>
            <a:off x="640080" y="5394960"/>
            <a:ext cx="10881360" cy="365760"/>
          </a:xfrm>
          <a:prstGeom prst="rect">
            <a:avLst/>
          </a:prstGeom>
          <a:noFill/>
          <a:ln/>
        </p:spPr>
        <p:txBody>
          <a:bodyPr wrap="square" lIns="0" tIns="0" rIns="0" bIns="0" rtlCol="0" anchor="ctr"/>
          <a:lstStyle/>
          <a:p>
            <a:pPr marL="0" indent="0">
              <a:buNone/>
            </a:pPr>
            <a:r>
              <a:rPr lang="en-US" sz="1300" b="1" dirty="0">
                <a:solidFill>
                  <a:srgbClr val="293D94"/>
                </a:solidFill>
                <a:latin typeface="Calibri" pitchFamily="34" charset="0"/>
                <a:ea typeface="Calibri" pitchFamily="34" charset="-122"/>
                <a:cs typeface="Calibri" pitchFamily="34" charset="-120"/>
              </a:rPr>
              <a:t>github.com/SamAbr/public-service-anouncement-MT   ·   huggingface.co/samuelabrha</a:t>
            </a:r>
            <a:endParaRPr lang="en-US" sz="1300" dirty="0"/>
          </a:p>
        </p:txBody>
      </p:sp>
      <p:sp>
        <p:nvSpPr>
          <p:cNvPr id="25" name="Text 23"/>
          <p:cNvSpPr/>
          <p:nvPr/>
        </p:nvSpPr>
        <p:spPr>
          <a:xfrm>
            <a:off x="640080" y="6419088"/>
            <a:ext cx="5486400" cy="256032"/>
          </a:xfrm>
          <a:prstGeom prst="rect">
            <a:avLst/>
          </a:prstGeom>
          <a:noFill/>
          <a:ln/>
        </p:spPr>
        <p:txBody>
          <a:bodyPr wrap="square" lIns="0" tIns="0" rIns="0" bIns="0" rtlCol="0" anchor="ctr"/>
          <a:lstStyle/>
          <a:p>
            <a:pPr marL="0" indent="0">
              <a:buNone/>
            </a:pPr>
            <a:r>
              <a:rPr lang="en-US" sz="950" dirty="0">
                <a:solidFill>
                  <a:srgbClr val="8A919E"/>
                </a:solidFill>
                <a:latin typeface="Calibri" pitchFamily="34" charset="0"/>
                <a:ea typeface="Calibri" pitchFamily="34" charset="-122"/>
                <a:cs typeface="Calibri" pitchFamily="34" charset="-120"/>
              </a:rPr>
              <a:t>Ekegusii NMT · USIU-Africa · 2026</a:t>
            </a:r>
            <a:endParaRPr lang="en-US" sz="950" dirty="0"/>
          </a:p>
        </p:txBody>
      </p:sp>
      <p:sp>
        <p:nvSpPr>
          <p:cNvPr id="26" name="Text 24"/>
          <p:cNvSpPr/>
          <p:nvPr/>
        </p:nvSpPr>
        <p:spPr>
          <a:xfrm>
            <a:off x="10972800" y="6419088"/>
            <a:ext cx="548640" cy="256032"/>
          </a:xfrm>
          <a:prstGeom prst="rect">
            <a:avLst/>
          </a:prstGeom>
          <a:noFill/>
          <a:ln/>
        </p:spPr>
        <p:txBody>
          <a:bodyPr wrap="square" lIns="0" tIns="0" rIns="0" bIns="0" rtlCol="0" anchor="ctr"/>
          <a:lstStyle/>
          <a:p>
            <a:pPr marL="0" indent="0" algn="r">
              <a:buNone/>
            </a:pPr>
            <a:r>
              <a:rPr lang="en-US" sz="950" dirty="0">
                <a:solidFill>
                  <a:srgbClr val="8A919E"/>
                </a:solidFill>
                <a:latin typeface="Calibri" pitchFamily="34" charset="0"/>
                <a:ea typeface="Calibri" pitchFamily="34" charset="-122"/>
                <a:cs typeface="Calibri" pitchFamily="34" charset="-120"/>
              </a:rPr>
              <a:t>15</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93D94"/>
        </a:solidFill>
        <a:effectLst/>
      </p:bgPr>
    </p:bg>
    <p:spTree>
      <p:nvGrpSpPr>
        <p:cNvPr id="1" name=""/>
        <p:cNvGrpSpPr/>
        <p:nvPr/>
      </p:nvGrpSpPr>
      <p:grpSpPr>
        <a:xfrm>
          <a:off x="0" y="0"/>
          <a:ext cx="0" cy="0"/>
          <a:chOff x="0" y="0"/>
          <a:chExt cx="0" cy="0"/>
        </a:xfrm>
      </p:grpSpPr>
      <p:sp>
        <p:nvSpPr>
          <p:cNvPr id="2" name="Text 0"/>
          <p:cNvSpPr/>
          <p:nvPr/>
        </p:nvSpPr>
        <p:spPr>
          <a:xfrm>
            <a:off x="640080" y="1371600"/>
            <a:ext cx="960120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What this project shows</a:t>
            </a:r>
            <a:endParaRPr lang="en-US" sz="3000" dirty="0"/>
          </a:p>
        </p:txBody>
      </p:sp>
      <p:sp>
        <p:nvSpPr>
          <p:cNvPr id="3" name="Shape 1"/>
          <p:cNvSpPr/>
          <p:nvPr/>
        </p:nvSpPr>
        <p:spPr>
          <a:xfrm>
            <a:off x="640080" y="2340864"/>
            <a:ext cx="310896" cy="310896"/>
          </a:xfrm>
          <a:prstGeom prst="ellipse">
            <a:avLst/>
          </a:prstGeom>
          <a:solidFill>
            <a:srgbClr val="FFCA08"/>
          </a:solidFill>
          <a:ln w="12700">
            <a:solidFill>
              <a:srgbClr val="FFCA08"/>
            </a:solidFill>
            <a:prstDash val="solid"/>
          </a:ln>
        </p:spPr>
      </p:sp>
      <p:sp>
        <p:nvSpPr>
          <p:cNvPr id="4" name="Text 2"/>
          <p:cNvSpPr/>
          <p:nvPr/>
        </p:nvSpPr>
        <p:spPr>
          <a:xfrm>
            <a:off x="640080" y="2340864"/>
            <a:ext cx="310896" cy="310896"/>
          </a:xfrm>
          <a:prstGeom prst="rect">
            <a:avLst/>
          </a:prstGeom>
          <a:noFill/>
          <a:ln/>
        </p:spPr>
        <p:txBody>
          <a:bodyPr wrap="square" lIns="0" tIns="0" rIns="0" bIns="0" rtlCol="0" anchor="ctr"/>
          <a:lstStyle/>
          <a:p>
            <a:pPr marL="0" indent="0" algn="ctr">
              <a:buNone/>
            </a:pPr>
            <a:r>
              <a:rPr lang="en-US" sz="1200" b="1" dirty="0">
                <a:solidFill>
                  <a:srgbClr val="16181D"/>
                </a:solidFill>
                <a:latin typeface="Calibri" pitchFamily="34" charset="0"/>
                <a:ea typeface="Calibri" pitchFamily="34" charset="-122"/>
                <a:cs typeface="Calibri" pitchFamily="34" charset="-120"/>
              </a:rPr>
              <a:t>1</a:t>
            </a:r>
            <a:endParaRPr lang="en-US" sz="1200" dirty="0"/>
          </a:p>
        </p:txBody>
      </p:sp>
      <p:sp>
        <p:nvSpPr>
          <p:cNvPr id="5" name="Text 3"/>
          <p:cNvSpPr/>
          <p:nvPr/>
        </p:nvSpPr>
        <p:spPr>
          <a:xfrm>
            <a:off x="1207008" y="2267712"/>
            <a:ext cx="10332720" cy="868680"/>
          </a:xfrm>
          <a:prstGeom prst="rect">
            <a:avLst/>
          </a:prstGeom>
          <a:noFill/>
          <a:ln/>
        </p:spPr>
        <p:txBody>
          <a:bodyPr wrap="square" lIns="0" tIns="0" rIns="0" bIns="0" rtlCol="0" anchor="t"/>
          <a:lstStyle/>
          <a:p>
            <a:pPr marL="0" indent="0">
              <a:lnSpc>
                <a:spcPct val="118000"/>
              </a:lnSpc>
              <a:buNone/>
            </a:pPr>
            <a:r>
              <a:rPr lang="en-US" sz="1500" dirty="0">
                <a:solidFill>
                  <a:srgbClr val="D5DCF4"/>
                </a:solidFill>
                <a:latin typeface="Calibri" pitchFamily="34" charset="0"/>
                <a:ea typeface="Calibri" pitchFamily="34" charset="-122"/>
                <a:cs typeface="Calibri" pitchFamily="34" charset="-120"/>
              </a:rPr>
              <a:t>Transfer learning can add a language a large multilingual model has never seen. A few tens of thousands of parallel sentences and a well-chosen embedding seed are enough.</a:t>
            </a:r>
            <a:endParaRPr lang="en-US" sz="1500" dirty="0"/>
          </a:p>
        </p:txBody>
      </p:sp>
      <p:sp>
        <p:nvSpPr>
          <p:cNvPr id="6" name="Shape 4"/>
          <p:cNvSpPr/>
          <p:nvPr/>
        </p:nvSpPr>
        <p:spPr>
          <a:xfrm>
            <a:off x="640080" y="3392424"/>
            <a:ext cx="310896" cy="310896"/>
          </a:xfrm>
          <a:prstGeom prst="ellipse">
            <a:avLst/>
          </a:prstGeom>
          <a:solidFill>
            <a:srgbClr val="FFCA08"/>
          </a:solidFill>
          <a:ln w="12700">
            <a:solidFill>
              <a:srgbClr val="FFCA08"/>
            </a:solidFill>
            <a:prstDash val="solid"/>
          </a:ln>
        </p:spPr>
      </p:sp>
      <p:sp>
        <p:nvSpPr>
          <p:cNvPr id="7" name="Text 5"/>
          <p:cNvSpPr/>
          <p:nvPr/>
        </p:nvSpPr>
        <p:spPr>
          <a:xfrm>
            <a:off x="640080" y="3392424"/>
            <a:ext cx="310896" cy="310896"/>
          </a:xfrm>
          <a:prstGeom prst="rect">
            <a:avLst/>
          </a:prstGeom>
          <a:noFill/>
          <a:ln/>
        </p:spPr>
        <p:txBody>
          <a:bodyPr wrap="square" lIns="0" tIns="0" rIns="0" bIns="0" rtlCol="0" anchor="ctr"/>
          <a:lstStyle/>
          <a:p>
            <a:pPr marL="0" indent="0" algn="ctr">
              <a:buNone/>
            </a:pPr>
            <a:r>
              <a:rPr lang="en-US" sz="1200" b="1" dirty="0">
                <a:solidFill>
                  <a:srgbClr val="16181D"/>
                </a:solidFill>
                <a:latin typeface="Calibri" pitchFamily="34" charset="0"/>
                <a:ea typeface="Calibri" pitchFamily="34" charset="-122"/>
                <a:cs typeface="Calibri" pitchFamily="34" charset="-120"/>
              </a:rPr>
              <a:t>2</a:t>
            </a:r>
            <a:endParaRPr lang="en-US" sz="1200" dirty="0"/>
          </a:p>
        </p:txBody>
      </p:sp>
      <p:sp>
        <p:nvSpPr>
          <p:cNvPr id="8" name="Text 6"/>
          <p:cNvSpPr/>
          <p:nvPr/>
        </p:nvSpPr>
        <p:spPr>
          <a:xfrm>
            <a:off x="1207008" y="3319272"/>
            <a:ext cx="10332720" cy="868680"/>
          </a:xfrm>
          <a:prstGeom prst="rect">
            <a:avLst/>
          </a:prstGeom>
          <a:noFill/>
          <a:ln/>
        </p:spPr>
        <p:txBody>
          <a:bodyPr wrap="square" lIns="0" tIns="0" rIns="0" bIns="0" rtlCol="0" anchor="t"/>
          <a:lstStyle/>
          <a:p>
            <a:pPr marL="0" indent="0">
              <a:lnSpc>
                <a:spcPct val="118000"/>
              </a:lnSpc>
              <a:buNone/>
            </a:pPr>
            <a:r>
              <a:rPr lang="en-US" sz="1500" dirty="0">
                <a:solidFill>
                  <a:srgbClr val="D5DCF4"/>
                </a:solidFill>
                <a:latin typeface="Calibri" pitchFamily="34" charset="0"/>
                <a:ea typeface="Calibri" pitchFamily="34" charset="-122"/>
                <a:cs typeface="Calibri" pitchFamily="34" charset="-120"/>
              </a:rPr>
              <a:t>Domain adaptation matters as much as language coverage: scripture teaches Ekegusii, but not the voice of a public notice.</a:t>
            </a:r>
            <a:endParaRPr lang="en-US" sz="1500" dirty="0"/>
          </a:p>
        </p:txBody>
      </p:sp>
      <p:sp>
        <p:nvSpPr>
          <p:cNvPr id="9" name="Shape 7"/>
          <p:cNvSpPr/>
          <p:nvPr/>
        </p:nvSpPr>
        <p:spPr>
          <a:xfrm>
            <a:off x="640080" y="4443984"/>
            <a:ext cx="310896" cy="310896"/>
          </a:xfrm>
          <a:prstGeom prst="ellipse">
            <a:avLst/>
          </a:prstGeom>
          <a:solidFill>
            <a:srgbClr val="FFCA08"/>
          </a:solidFill>
          <a:ln w="12700">
            <a:solidFill>
              <a:srgbClr val="FFCA08"/>
            </a:solidFill>
            <a:prstDash val="solid"/>
          </a:ln>
        </p:spPr>
      </p:sp>
      <p:sp>
        <p:nvSpPr>
          <p:cNvPr id="10" name="Text 8"/>
          <p:cNvSpPr/>
          <p:nvPr/>
        </p:nvSpPr>
        <p:spPr>
          <a:xfrm>
            <a:off x="640080" y="4443984"/>
            <a:ext cx="310896" cy="310896"/>
          </a:xfrm>
          <a:prstGeom prst="rect">
            <a:avLst/>
          </a:prstGeom>
          <a:noFill/>
          <a:ln/>
        </p:spPr>
        <p:txBody>
          <a:bodyPr wrap="square" lIns="0" tIns="0" rIns="0" bIns="0" rtlCol="0" anchor="ctr"/>
          <a:lstStyle/>
          <a:p>
            <a:pPr marL="0" indent="0" algn="ctr">
              <a:buNone/>
            </a:pPr>
            <a:r>
              <a:rPr lang="en-US" sz="1200" b="1" dirty="0">
                <a:solidFill>
                  <a:srgbClr val="16181D"/>
                </a:solidFill>
                <a:latin typeface="Calibri" pitchFamily="34" charset="0"/>
                <a:ea typeface="Calibri" pitchFamily="34" charset="-122"/>
                <a:cs typeface="Calibri" pitchFamily="34" charset="-120"/>
              </a:rPr>
              <a:t>3</a:t>
            </a:r>
            <a:endParaRPr lang="en-US" sz="1200" dirty="0"/>
          </a:p>
        </p:txBody>
      </p:sp>
      <p:sp>
        <p:nvSpPr>
          <p:cNvPr id="11" name="Text 9"/>
          <p:cNvSpPr/>
          <p:nvPr/>
        </p:nvSpPr>
        <p:spPr>
          <a:xfrm>
            <a:off x="1207008" y="4370832"/>
            <a:ext cx="10332720" cy="868680"/>
          </a:xfrm>
          <a:prstGeom prst="rect">
            <a:avLst/>
          </a:prstGeom>
          <a:noFill/>
          <a:ln/>
        </p:spPr>
        <p:txBody>
          <a:bodyPr wrap="square" lIns="0" tIns="0" rIns="0" bIns="0" rtlCol="0" anchor="t"/>
          <a:lstStyle/>
          <a:p>
            <a:pPr marL="0" indent="0">
              <a:lnSpc>
                <a:spcPct val="118000"/>
              </a:lnSpc>
              <a:buNone/>
            </a:pPr>
            <a:r>
              <a:rPr lang="en-US" sz="1500" dirty="0">
                <a:solidFill>
                  <a:srgbClr val="D5DCF4"/>
                </a:solidFill>
                <a:latin typeface="Calibri" pitchFamily="34" charset="0"/>
                <a:ea typeface="Calibri" pitchFamily="34" charset="-122"/>
                <a:cs typeface="Calibri" pitchFamily="34" charset="-120"/>
              </a:rPr>
              <a:t>The control mattered more than the hypothesis. Testing the curriculum properly is what makes the released number worth believing.</a:t>
            </a:r>
            <a:endParaRPr lang="en-US" sz="1500" dirty="0"/>
          </a:p>
        </p:txBody>
      </p:sp>
      <p:sp>
        <p:nvSpPr>
          <p:cNvPr id="12" name="Text 10"/>
          <p:cNvSpPr/>
          <p:nvPr/>
        </p:nvSpPr>
        <p:spPr>
          <a:xfrm>
            <a:off x="640080" y="5742432"/>
            <a:ext cx="10881360" cy="292608"/>
          </a:xfrm>
          <a:prstGeom prst="rect">
            <a:avLst/>
          </a:prstGeom>
          <a:noFill/>
          <a:ln/>
        </p:spPr>
        <p:txBody>
          <a:bodyPr wrap="square" lIns="0" tIns="0" rIns="0" bIns="0" rtlCol="0" anchor="ctr"/>
          <a:lstStyle/>
          <a:p>
            <a:pPr marL="0" indent="0">
              <a:buNone/>
            </a:pPr>
            <a:r>
              <a:rPr lang="en-US" sz="1250" dirty="0">
                <a:solidFill>
                  <a:srgbClr val="C9D2F0"/>
                </a:solidFill>
                <a:latin typeface="Calibri" pitchFamily="34" charset="0"/>
                <a:ea typeface="Calibri" pitchFamily="34" charset="-122"/>
                <a:cs typeface="Calibri" pitchFamily="34" charset="-120"/>
              </a:rPr>
              <a:t>Weldesenbet Zeray  ·  Samuel Abrha  ·  Hetal Kumbharana  ·  Halima Mohammed  ·  Peter Kidiga  ·  Mitchelle Moraa</a:t>
            </a:r>
            <a:endParaRPr lang="en-US" sz="1250" dirty="0"/>
          </a:p>
        </p:txBody>
      </p:sp>
      <p:sp>
        <p:nvSpPr>
          <p:cNvPr id="13" name="Text 11"/>
          <p:cNvSpPr/>
          <p:nvPr/>
        </p:nvSpPr>
        <p:spPr>
          <a:xfrm>
            <a:off x="640080" y="6035040"/>
            <a:ext cx="10881360" cy="292608"/>
          </a:xfrm>
          <a:prstGeom prst="rect">
            <a:avLst/>
          </a:prstGeom>
          <a:noFill/>
          <a:ln/>
        </p:spPr>
        <p:txBody>
          <a:bodyPr wrap="square" lIns="0" tIns="0" rIns="0" bIns="0" rtlCol="0" anchor="ctr"/>
          <a:lstStyle/>
          <a:p>
            <a:pPr marL="0" indent="0">
              <a:buNone/>
            </a:pPr>
            <a:r>
              <a:rPr lang="en-US" sz="1250" dirty="0">
                <a:solidFill>
                  <a:srgbClr val="9AA8D8"/>
                </a:solidFill>
                <a:latin typeface="Calibri" pitchFamily="34" charset="0"/>
                <a:ea typeface="Calibri" pitchFamily="34" charset="-122"/>
                <a:cs typeface="Calibri" pitchFamily="34" charset="-120"/>
              </a:rPr>
              <a:t>Supervisor: Prof. Edward Ombui  ·  USIU-Africa, 2026</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349</TotalTime>
  <Words>2844</Words>
  <Application>Microsoft Office PowerPoint</Application>
  <PresentationFormat>Widescreen</PresentationFormat>
  <Paragraphs>375</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Fine-Tuning NMT for Kenyan Public Service Announcements</dc:title>
  <dc:subject>PptxGenJS Presentation</dc:subject>
  <dc:creator>Weldesenbet Zeray, Samuel Abrha, Hetal Kumbharana, Halima Mohammed, Peter Kidiga, Mitchelle Moraa</dc:creator>
  <cp:lastModifiedBy>Samuel Abrha</cp:lastModifiedBy>
  <cp:revision>2</cp:revision>
  <dcterms:created xsi:type="dcterms:W3CDTF">2026-08-13T15:31:47Z</dcterms:created>
  <dcterms:modified xsi:type="dcterms:W3CDTF">2026-08-14T10:58:26Z</dcterms:modified>
</cp:coreProperties>
</file>